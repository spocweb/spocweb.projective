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7" r:id="rId3"/>
    <p:sldId id="289" r:id="rId4"/>
    <p:sldId id="288" r:id="rId5"/>
    <p:sldId id="294" r:id="rId6"/>
    <p:sldId id="290" r:id="rId7"/>
    <p:sldId id="291" r:id="rId8"/>
    <p:sldId id="292" r:id="rId9"/>
    <p:sldId id="293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286" r:id="rId21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6" autoAdjust="0"/>
    <p:restoredTop sz="96198" autoAdjust="0"/>
  </p:normalViewPr>
  <p:slideViewPr>
    <p:cSldViewPr snapToObjects="1">
      <p:cViewPr>
        <p:scale>
          <a:sx n="130" d="100"/>
          <a:sy n="130" d="100"/>
        </p:scale>
        <p:origin x="-882" y="-456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8" d="100"/>
          <a:sy n="68" d="100"/>
        </p:scale>
        <p:origin x="-2957" y="-7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263D-BE7B-41CB-A452-A64594516A32}" type="datetimeFigureOut">
              <a:rPr lang="en-GB" smtClean="0"/>
              <a:t>01/11/2016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19049-0C35-4A94-BC87-3EE767BE1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16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01/11/2016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L6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01/11/2016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01/11/2016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01/11/2016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01/11/2016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01/11/2016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01/11/2016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01/11/2016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L6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.xml"/><Relationship Id="rId7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0.xml"/><Relationship Id="rId7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12.xml"/><Relationship Id="rId10" Type="http://schemas.openxmlformats.org/officeDocument/2006/relationships/image" Target="../media/image12.png"/><Relationship Id="rId4" Type="http://schemas.openxmlformats.org/officeDocument/2006/relationships/tags" Target="../tags/tag11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5.xml"/><Relationship Id="rId7" Type="http://schemas.openxmlformats.org/officeDocument/2006/relationships/image" Target="../media/image1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17.xml"/><Relationship Id="rId10" Type="http://schemas.openxmlformats.org/officeDocument/2006/relationships/image" Target="../media/image18.png"/><Relationship Id="rId4" Type="http://schemas.openxmlformats.org/officeDocument/2006/relationships/tags" Target="../tags/tag16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3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22.png"/><Relationship Id="rId5" Type="http://schemas.openxmlformats.org/officeDocument/2006/relationships/tags" Target="../tags/tag22.xml"/><Relationship Id="rId10" Type="http://schemas.openxmlformats.org/officeDocument/2006/relationships/image" Target="../media/image21.png"/><Relationship Id="rId4" Type="http://schemas.openxmlformats.org/officeDocument/2006/relationships/tags" Target="../tags/tag21.xml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9.png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28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27.png"/><Relationship Id="rId5" Type="http://schemas.openxmlformats.org/officeDocument/2006/relationships/tags" Target="../tags/tag28.xml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tags" Target="../tags/tag27.xml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3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36.png"/><Relationship Id="rId5" Type="http://schemas.openxmlformats.org/officeDocument/2006/relationships/tags" Target="../tags/tag36.xml"/><Relationship Id="rId10" Type="http://schemas.openxmlformats.org/officeDocument/2006/relationships/image" Target="../media/image35.png"/><Relationship Id="rId4" Type="http://schemas.openxmlformats.org/officeDocument/2006/relationships/tags" Target="../tags/tag35.xml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4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45.xml"/><Relationship Id="rId7" Type="http://schemas.openxmlformats.org/officeDocument/2006/relationships/image" Target="../media/image46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4.pn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53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52.png"/><Relationship Id="rId5" Type="http://schemas.openxmlformats.org/officeDocument/2006/relationships/tags" Target="../tags/tag52.xml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tags" Target="../tags/tag51.xml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57.xml"/><Relationship Id="rId7" Type="http://schemas.openxmlformats.org/officeDocument/2006/relationships/image" Target="../media/image50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0.png"/><Relationship Id="rId5" Type="http://schemas.openxmlformats.org/officeDocument/2006/relationships/tags" Target="../tags/tag59.xml"/><Relationship Id="rId10" Type="http://schemas.openxmlformats.org/officeDocument/2006/relationships/image" Target="../media/image59.png"/><Relationship Id="rId4" Type="http://schemas.openxmlformats.org/officeDocument/2006/relationships/tags" Target="../tags/tag58.xml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50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6</a:t>
            </a:r>
            <a:r>
              <a:rPr lang="en-GB" sz="2000" dirty="0" smtClean="0"/>
              <a:t>. Geometric Calculus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393740" y="2481740"/>
            <a:ext cx="3653535" cy="9768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vector derivative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176595"/>
            <a:ext cx="346538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Define a vector operator that returns the derivative in any given direction by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124" y="1444214"/>
            <a:ext cx="4546286" cy="6774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6535" y="2346725"/>
            <a:ext cx="328536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Define a set of Euclidean coordinates 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86" y="3069411"/>
            <a:ext cx="1317333" cy="3070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124" y="2539999"/>
            <a:ext cx="2991238" cy="8399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151620" y="4101920"/>
            <a:ext cx="715579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This operator has the algebraic properties of a vector in a geometric algebra, combined with the properties of a differential operator.</a:t>
            </a:r>
          </a:p>
        </p:txBody>
      </p:sp>
    </p:spTree>
    <p:extLst>
      <p:ext uri="{BB962C8B-B14F-4D97-AF65-F5344CB8AC3E}">
        <p14:creationId xmlns:p14="http://schemas.microsoft.com/office/powerpoint/2010/main" val="231060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Basic Results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388" y="951570"/>
            <a:ext cx="2499962" cy="772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515" y="1086585"/>
            <a:ext cx="30153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Extend the definition of the dot and wedge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6955" y="1956197"/>
            <a:ext cx="4977045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exterior derivative defined by the wedge product is the </a:t>
            </a:r>
            <a:r>
              <a:rPr lang="en-GB" sz="2000" i="1" dirty="0" smtClean="0"/>
              <a:t>d</a:t>
            </a:r>
            <a:r>
              <a:rPr lang="en-GB" sz="2000" dirty="0" smtClean="0"/>
              <a:t> operator of differential forms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3941930" y="1691502"/>
            <a:ext cx="225025" cy="5724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341530" y="2676277"/>
            <a:ext cx="405045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The exterior derivative applied twice gives zero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7" y="3310780"/>
            <a:ext cx="4021333" cy="1331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60541" y="2676277"/>
            <a:ext cx="39604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Leibniz rule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664" y="3125183"/>
            <a:ext cx="2983315" cy="3466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1530" y="4731990"/>
            <a:ext cx="38656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Same for inner derivative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541" y="3659128"/>
            <a:ext cx="14401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Where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400" y="3998966"/>
            <a:ext cx="2163200" cy="3545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60541" y="4514223"/>
            <a:ext cx="434697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err="1" smtClean="0"/>
              <a:t>Overdot</a:t>
            </a:r>
            <a:r>
              <a:rPr lang="en-GB" sz="2000" dirty="0" smtClean="0"/>
              <a:t> notation very useful in practice</a:t>
            </a:r>
          </a:p>
        </p:txBody>
      </p:sp>
    </p:spTree>
    <p:extLst>
      <p:ext uri="{BB962C8B-B14F-4D97-AF65-F5344CB8AC3E}">
        <p14:creationId xmlns:p14="http://schemas.microsoft.com/office/powerpoint/2010/main" val="194657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427095" y="4101920"/>
            <a:ext cx="2205245" cy="833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Two dimensions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50" y="1298779"/>
            <a:ext cx="1824457" cy="2357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24248"/>
            <a:ext cx="2412800" cy="742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1530" y="1986685"/>
            <a:ext cx="776020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Now suppose we define a ‘complex’ function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986685"/>
            <a:ext cx="1412419" cy="2812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2571750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968" y="2751770"/>
            <a:ext cx="4999924" cy="798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1580" y="4011910"/>
            <a:ext cx="414046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These are precisely the terms that vanish for an analytic function – the Cauchy-Riemann equations</a:t>
            </a:r>
          </a:p>
        </p:txBody>
      </p:sp>
      <p:cxnSp>
        <p:nvCxnSpPr>
          <p:cNvPr id="15" name="Straight Arrow Connector 14"/>
          <p:cNvCxnSpPr>
            <a:stCxn id="13" idx="0"/>
          </p:cNvCxnSpPr>
          <p:nvPr/>
        </p:nvCxnSpPr>
        <p:spPr>
          <a:xfrm flipV="1">
            <a:off x="2861810" y="3696875"/>
            <a:ext cx="450050" cy="3150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0"/>
          </p:cNvCxnSpPr>
          <p:nvPr/>
        </p:nvCxnSpPr>
        <p:spPr>
          <a:xfrm flipV="1">
            <a:off x="2861810" y="3651870"/>
            <a:ext cx="2880320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61" y="4350780"/>
            <a:ext cx="996419" cy="2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3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16605" y="2076695"/>
            <a:ext cx="684076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The Cauchy-Riemann equations arise naturally from the vector derivative in two dimensions.</a:t>
            </a:r>
          </a:p>
        </p:txBody>
      </p:sp>
      <p:pic>
        <p:nvPicPr>
          <p:cNvPr id="9218" name="Picture 2" descr="http://www.thefamouspeople.com/profiles/images/bernhard-riemann-biograph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275" y="-31183"/>
            <a:ext cx="2096724" cy="174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52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Analytic functions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951570"/>
            <a:ext cx="38254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Any function that can be that can be written as a function of </a:t>
            </a:r>
            <a:r>
              <a:rPr lang="en-GB" sz="2000" i="1" dirty="0" smtClean="0"/>
              <a:t>z</a:t>
            </a:r>
            <a:r>
              <a:rPr lang="en-GB" sz="2000" dirty="0" smtClean="0"/>
              <a:t> is analytic: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020" y="1278487"/>
            <a:ext cx="584381" cy="29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471" y="1300345"/>
            <a:ext cx="2216686" cy="2812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140" y="2166705"/>
            <a:ext cx="5297067" cy="2832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140" y="2698348"/>
            <a:ext cx="5396115" cy="3684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575" y="3635899"/>
            <a:ext cx="7110790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The CR equations are the same as saying a function is independent of </a:t>
            </a:r>
            <a:r>
              <a:rPr lang="en-GB" sz="2000" i="1" dirty="0" smtClean="0"/>
              <a:t>z*</a:t>
            </a:r>
            <a:r>
              <a:rPr lang="en-GB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In 2D this guarantees we are left with a function of </a:t>
            </a:r>
            <a:r>
              <a:rPr lang="en-GB" sz="2000" i="1" dirty="0" smtClean="0"/>
              <a:t>z</a:t>
            </a:r>
            <a:r>
              <a:rPr lang="en-GB" sz="2000" dirty="0" smtClean="0"/>
              <a:t>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Generates of solution of the more general equation  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604" y="4596975"/>
            <a:ext cx="996419" cy="2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05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Three dimensions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77181" y="1138848"/>
            <a:ext cx="333037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Maxwell equations in vacuum around sources and currents, in natural units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361" y="1056815"/>
            <a:ext cx="2018591" cy="1154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407" y="1056815"/>
            <a:ext cx="2387048" cy="1154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7181" y="2436735"/>
            <a:ext cx="366474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Remove the curl term via 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15" y="2481740"/>
            <a:ext cx="2349410" cy="2258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7181" y="2984053"/>
            <a:ext cx="220524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Find 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573" y="2976795"/>
            <a:ext cx="4405639" cy="29516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573" y="3471850"/>
            <a:ext cx="5025677" cy="28723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31" y="4281940"/>
            <a:ext cx="4696839" cy="2951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7185" y="4146925"/>
            <a:ext cx="238526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All 4 of Maxwell’s equations in 1!</a:t>
            </a:r>
          </a:p>
        </p:txBody>
      </p:sp>
    </p:spTree>
    <p:extLst>
      <p:ext uri="{BB962C8B-B14F-4D97-AF65-F5344CB8AC3E}">
        <p14:creationId xmlns:p14="http://schemas.microsoft.com/office/powerpoint/2010/main" val="391169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Spacetime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044" y="906565"/>
            <a:ext cx="3817296" cy="6873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40" y="978403"/>
            <a:ext cx="319535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key differential operator in spacetime physics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251520" y="1858928"/>
            <a:ext cx="39604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Form the relative split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65" y="2301720"/>
            <a:ext cx="3660800" cy="3605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1520" y="2759028"/>
            <a:ext cx="55940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Or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65" y="3246825"/>
            <a:ext cx="1774934" cy="2951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65" y="4236935"/>
            <a:ext cx="3427049" cy="7210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1520" y="3786885"/>
            <a:ext cx="6300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7045" y="1858928"/>
            <a:ext cx="41404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Recall Faraday bivector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499" y="2349883"/>
            <a:ext cx="1582781" cy="2218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957423"/>
            <a:ext cx="2866439" cy="7844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77045" y="3876895"/>
            <a:ext cx="27003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5"/>
                </a:solidFill>
              </a:rPr>
              <a:t>So finally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2140" y="4236935"/>
            <a:ext cx="1845205" cy="5850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090" y="4412189"/>
            <a:ext cx="1018210" cy="2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320"/>
            <a:ext cx="9144000" cy="1711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351612"/>
            <a:ext cx="1573694" cy="355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3479" y="3673645"/>
            <a:ext cx="368346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The most compact formulation of the Maxwell equations. Unifies all four equations in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994" y="3673645"/>
            <a:ext cx="368346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More than some symbolic trickery. The vector derivative is an invertible operator. </a:t>
            </a:r>
          </a:p>
        </p:txBody>
      </p:sp>
      <p:pic>
        <p:nvPicPr>
          <p:cNvPr id="9" name="Picture 4" descr="http://soulconnection.net/images/art1/James_Clerk_Maxwell/James_Clerk_Maxwell_lrg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1" t="3977" r="5192" b="4453"/>
          <a:stretch/>
        </p:blipFill>
        <p:spPr bwMode="auto">
          <a:xfrm>
            <a:off x="6440191" y="-1"/>
            <a:ext cx="2708920" cy="342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68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Directed integration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830" y="1075775"/>
            <a:ext cx="5155650" cy="798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05394"/>
            <a:ext cx="1851900" cy="3089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45" y="2205394"/>
            <a:ext cx="3041650" cy="3663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505" y="1100535"/>
            <a:ext cx="261029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Start with a simple line integral along a curve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82" y="2037612"/>
            <a:ext cx="582930" cy="270510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 rot="2817428">
            <a:off x="1252981" y="1538307"/>
            <a:ext cx="570653" cy="1880006"/>
          </a:xfrm>
          <a:custGeom>
            <a:avLst/>
            <a:gdLst>
              <a:gd name="connsiteX0" fmla="*/ 7379 w 570653"/>
              <a:gd name="connsiteY0" fmla="*/ 1880006 h 1880006"/>
              <a:gd name="connsiteX1" fmla="*/ 570650 w 570653"/>
              <a:gd name="connsiteY1" fmla="*/ 1185062 h 1880006"/>
              <a:gd name="connsiteX2" fmla="*/ 64 w 570653"/>
              <a:gd name="connsiteY2" fmla="*/ 497434 h 1880006"/>
              <a:gd name="connsiteX3" fmla="*/ 541389 w 570653"/>
              <a:gd name="connsiteY3" fmla="*/ 0 h 188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653" h="1880006">
                <a:moveTo>
                  <a:pt x="7379" y="1880006"/>
                </a:moveTo>
                <a:cubicBezTo>
                  <a:pt x="289624" y="1647748"/>
                  <a:pt x="571869" y="1415491"/>
                  <a:pt x="570650" y="1185062"/>
                </a:cubicBezTo>
                <a:cubicBezTo>
                  <a:pt x="569431" y="954633"/>
                  <a:pt x="4941" y="694944"/>
                  <a:pt x="64" y="497434"/>
                </a:cubicBezTo>
                <a:cubicBezTo>
                  <a:pt x="-4813" y="299924"/>
                  <a:pt x="268288" y="149962"/>
                  <a:pt x="541389" y="0"/>
                </a:cubicBez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341530" y="3516855"/>
            <a:ext cx="373541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Key concept here is the vector-valued measure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4303975"/>
            <a:ext cx="1802895" cy="6080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887035" y="3516855"/>
            <a:ext cx="40317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More general form of line integral is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449" y="4132408"/>
            <a:ext cx="4242931" cy="5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8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076945" y="2121700"/>
            <a:ext cx="1980400" cy="6034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Surface integrals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1026" name="Picture 2" descr="C:\Users\chrdor01\Desktop\Captur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713271"/>
            <a:ext cx="3060160" cy="185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1530" y="1221600"/>
            <a:ext cx="409545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Now consider a 2D surface embedded in a larger space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5" y="2076695"/>
            <a:ext cx="5598871" cy="693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81890" y="2931790"/>
            <a:ext cx="310534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Directed surface element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134562" y="2725110"/>
            <a:ext cx="0" cy="20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1530" y="3427413"/>
            <a:ext cx="636428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This extends naturally to higher dimensional surfaces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65" y="4160798"/>
            <a:ext cx="3897020" cy="3526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7145" y="3995939"/>
            <a:ext cx="3915345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The surface element is a blade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It enters integrals via the geometric product</a:t>
            </a:r>
          </a:p>
          <a:p>
            <a:endParaRPr lang="en-GB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83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534" y="2571750"/>
            <a:ext cx="9144000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Fundamental theorem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361" y="1491630"/>
            <a:ext cx="2969819" cy="7488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211" y="171218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Left-sided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7125" y="726545"/>
            <a:ext cx="2880319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err="1" smtClean="0"/>
              <a:t>Overdots</a:t>
            </a:r>
            <a:r>
              <a:rPr lang="en-GB" sz="2000" dirty="0" smtClean="0"/>
              <a:t> show where the vector derivative acts</a:t>
            </a:r>
          </a:p>
        </p:txBody>
      </p:sp>
      <p:cxnSp>
        <p:nvCxnSpPr>
          <p:cNvPr id="11" name="Straight Arrow Connector 10"/>
          <p:cNvCxnSpPr>
            <a:stCxn id="8" idx="1"/>
          </p:cNvCxnSpPr>
          <p:nvPr/>
        </p:nvCxnSpPr>
        <p:spPr>
          <a:xfrm flipH="1">
            <a:off x="5517105" y="1034322"/>
            <a:ext cx="180020" cy="5473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3832225"/>
            <a:ext cx="9154534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7211" y="2894043"/>
            <a:ext cx="207023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Right-sided version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361" y="2751770"/>
            <a:ext cx="3060954" cy="7488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211" y="4236935"/>
            <a:ext cx="294466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General result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60" y="4042508"/>
            <a:ext cx="3326435" cy="7488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65023" y="4101920"/>
            <a:ext cx="2089511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i="1" dirty="0" smtClean="0">
                <a:solidFill>
                  <a:schemeClr val="bg1"/>
                </a:solidFill>
              </a:rPr>
              <a:t>L</a:t>
            </a:r>
            <a:r>
              <a:rPr lang="en-GB" sz="2000" dirty="0" smtClean="0">
                <a:solidFill>
                  <a:schemeClr val="bg1"/>
                </a:solidFill>
              </a:rPr>
              <a:t> is a multilinear function</a:t>
            </a:r>
          </a:p>
        </p:txBody>
      </p:sp>
    </p:spTree>
    <p:extLst>
      <p:ext uri="{BB962C8B-B14F-4D97-AF65-F5344CB8AC3E}">
        <p14:creationId xmlns:p14="http://schemas.microsoft.com/office/powerpoint/2010/main" val="331449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6462210" y="3035868"/>
            <a:ext cx="2340260" cy="7060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Divergence theorem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50" y="1086585"/>
            <a:ext cx="2147621" cy="360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6525" y="1131590"/>
            <a:ext cx="99011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615" y="1716088"/>
            <a:ext cx="85509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2513" y="1716088"/>
            <a:ext cx="116936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Grade </a:t>
            </a:r>
            <a:r>
              <a:rPr lang="en-GB" sz="2000" i="1" dirty="0" smtClean="0"/>
              <a:t>n-1</a:t>
            </a:r>
            <a:endParaRPr lang="en-GB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3896925" y="171608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Constant Grade </a:t>
            </a:r>
            <a:r>
              <a:rPr lang="en-GB" sz="2000" i="1" dirty="0" smtClean="0"/>
              <a:t>n</a:t>
            </a:r>
            <a:endParaRPr lang="en-GB" sz="2000" dirty="0" smtClean="0"/>
          </a:p>
        </p:txBody>
      </p:sp>
      <p:cxnSp>
        <p:nvCxnSpPr>
          <p:cNvPr id="11" name="Straight Arrow Connector 10"/>
          <p:cNvCxnSpPr>
            <a:stCxn id="7" idx="0"/>
          </p:cNvCxnSpPr>
          <p:nvPr/>
        </p:nvCxnSpPr>
        <p:spPr>
          <a:xfrm flipV="1">
            <a:off x="1534163" y="1447163"/>
            <a:ext cx="1102622" cy="2689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H="1" flipV="1">
            <a:off x="2907196" y="1446625"/>
            <a:ext cx="1" cy="26946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</p:cNvCxnSpPr>
          <p:nvPr/>
        </p:nvCxnSpPr>
        <p:spPr>
          <a:xfrm flipH="1" flipV="1">
            <a:off x="3266857" y="1447164"/>
            <a:ext cx="1597676" cy="2689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07115" y="951570"/>
            <a:ext cx="30603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i="1" dirty="0" smtClean="0"/>
              <a:t>L</a:t>
            </a:r>
            <a:r>
              <a:rPr lang="en-GB" sz="2000" dirty="0" smtClean="0"/>
              <a:t> is a scalar-valued linear function of </a:t>
            </a:r>
            <a:r>
              <a:rPr lang="en-GB" sz="2000" i="1" dirty="0"/>
              <a:t>A</a:t>
            </a:r>
            <a:endParaRPr lang="en-GB" sz="2000" i="1" dirty="0" smtClean="0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46725"/>
            <a:ext cx="6155589" cy="748894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1916705" y="2886785"/>
            <a:ext cx="765085" cy="0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44754" y="3184952"/>
            <a:ext cx="173209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Scalar measure</a:t>
            </a:r>
          </a:p>
        </p:txBody>
      </p:sp>
      <p:cxnSp>
        <p:nvCxnSpPr>
          <p:cNvPr id="28" name="Straight Arrow Connector 27"/>
          <p:cNvCxnSpPr>
            <a:stCxn id="26" idx="0"/>
          </p:cNvCxnSpPr>
          <p:nvPr/>
        </p:nvCxnSpPr>
        <p:spPr>
          <a:xfrm flipV="1">
            <a:off x="2310800" y="2886785"/>
            <a:ext cx="11713" cy="2981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230" y="3184952"/>
            <a:ext cx="1915820" cy="3546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249" y="4011910"/>
            <a:ext cx="3774186" cy="7488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96525" y="4101920"/>
            <a:ext cx="198022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divergence theorem</a:t>
            </a:r>
          </a:p>
        </p:txBody>
      </p:sp>
    </p:spTree>
    <p:extLst>
      <p:ext uri="{BB962C8B-B14F-4D97-AF65-F5344CB8AC3E}">
        <p14:creationId xmlns:p14="http://schemas.microsoft.com/office/powerpoint/2010/main" val="2231674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311275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Cauchy integral formula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80" y="1509803"/>
            <a:ext cx="3209544" cy="7469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41530" y="2751770"/>
            <a:ext cx="3735415" cy="215443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One of the most famous results in 19</a:t>
            </a:r>
            <a:r>
              <a:rPr lang="en-GB" sz="2000" baseline="30000" dirty="0" smtClean="0"/>
              <a:t>th</a:t>
            </a:r>
            <a:r>
              <a:rPr lang="en-GB" sz="2000" dirty="0" smtClean="0"/>
              <a:t> century mathematics</a:t>
            </a:r>
          </a:p>
          <a:p>
            <a:endParaRPr lang="en-GB" sz="2000" dirty="0"/>
          </a:p>
          <a:p>
            <a:r>
              <a:rPr lang="en-GB" sz="2000" dirty="0" smtClean="0"/>
              <a:t>Knowledge of an analytic function around a curve is enough to learn the value of the function at each interior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055" y="2886785"/>
            <a:ext cx="3735415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We want to understand this in terms of Geometric Algebra</a:t>
            </a:r>
          </a:p>
          <a:p>
            <a:endParaRPr lang="en-GB" sz="2000" dirty="0"/>
          </a:p>
          <a:p>
            <a:r>
              <a:rPr lang="en-GB" sz="2000" dirty="0" smtClean="0"/>
              <a:t>And extend it to arbitrary dimensions!</a:t>
            </a:r>
          </a:p>
        </p:txBody>
      </p:sp>
    </p:spTree>
    <p:extLst>
      <p:ext uri="{BB962C8B-B14F-4D97-AF65-F5344CB8AC3E}">
        <p14:creationId xmlns:p14="http://schemas.microsoft.com/office/powerpoint/2010/main" val="428404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311275"/>
            <a:ext cx="610235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Cauchy integral formula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135" y="384678"/>
            <a:ext cx="3209544" cy="746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92611"/>
            <a:ext cx="984656" cy="2040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395162"/>
            <a:ext cx="3104152" cy="681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370524"/>
            <a:ext cx="1616659" cy="2912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14" y="2370524"/>
            <a:ext cx="984656" cy="2912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02350" y="1311275"/>
            <a:ext cx="304165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5" y="3053957"/>
            <a:ext cx="4951019" cy="746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2190" y="1896675"/>
            <a:ext cx="2520280" cy="215443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Translate the various terms into their GA equivalents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Find the dependence on the real axis drops out of the integrand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889" y="4051111"/>
            <a:ext cx="2989258" cy="7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26595" y="2211710"/>
            <a:ext cx="4950550" cy="10351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Cauchy integral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135" y="384678"/>
            <a:ext cx="3209544" cy="7469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3" y="1401618"/>
            <a:ext cx="5194705" cy="1668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195" y="2235704"/>
            <a:ext cx="2669484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Applying the fundamental theorem of geometric calculus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679672"/>
            <a:ext cx="1602791" cy="3051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86735" y="3704133"/>
            <a:ext cx="22502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Scalar measure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4506965"/>
            <a:ext cx="984656" cy="2912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86735" y="4461960"/>
            <a:ext cx="21602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Function is analytic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051" y="3647973"/>
            <a:ext cx="3298698" cy="673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57065" y="4461960"/>
            <a:ext cx="38254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Green’s function for the vector derivative in the plane</a:t>
            </a:r>
          </a:p>
        </p:txBody>
      </p:sp>
    </p:spTree>
    <p:extLst>
      <p:ext uri="{BB962C8B-B14F-4D97-AF65-F5344CB8AC3E}">
        <p14:creationId xmlns:p14="http://schemas.microsoft.com/office/powerpoint/2010/main" val="7637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Cauchy integral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1221600"/>
            <a:ext cx="7510729" cy="7469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751770"/>
            <a:ext cx="3209544" cy="7469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5067055" y="2841780"/>
            <a:ext cx="3735415" cy="215443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 i="1" dirty="0" err="1" smtClean="0">
                <a:solidFill>
                  <a:schemeClr val="accent5"/>
                </a:solidFill>
              </a:rPr>
              <a:t>dz</a:t>
            </a:r>
            <a:r>
              <a:rPr lang="en-GB" sz="2000" dirty="0" smtClean="0">
                <a:solidFill>
                  <a:schemeClr val="accent5"/>
                </a:solidFill>
              </a:rPr>
              <a:t> encodes the tangent vector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smtClean="0">
                <a:solidFill>
                  <a:schemeClr val="accent5"/>
                </a:solidFill>
              </a:rPr>
              <a:t>Complex numbers give a geometric product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smtClean="0">
                <a:solidFill>
                  <a:schemeClr val="accent5"/>
                </a:solidFill>
              </a:rPr>
              <a:t>The integrand includes the Green’s function in 2D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smtClean="0">
                <a:solidFill>
                  <a:schemeClr val="accent5"/>
                </a:solidFill>
              </a:rPr>
              <a:t>The I comes from the directed volume element</a:t>
            </a:r>
          </a:p>
        </p:txBody>
      </p:sp>
    </p:spTree>
    <p:extLst>
      <p:ext uri="{BB962C8B-B14F-4D97-AF65-F5344CB8AC3E}">
        <p14:creationId xmlns:p14="http://schemas.microsoft.com/office/powerpoint/2010/main" val="236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Generalisation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726" y="2481740"/>
            <a:ext cx="4509211" cy="7488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65" y="1941680"/>
            <a:ext cx="976732" cy="2912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1610" y="3699574"/>
            <a:ext cx="72458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This extends Cauchy’s integral formula to arbitrary dimensions</a:t>
            </a:r>
          </a:p>
        </p:txBody>
      </p:sp>
    </p:spTree>
    <p:extLst>
      <p:ext uri="{BB962C8B-B14F-4D97-AF65-F5344CB8AC3E}">
        <p14:creationId xmlns:p14="http://schemas.microsoft.com/office/powerpoint/2010/main" val="362857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</a:t>
            </a:r>
            <a:r>
              <a:rPr lang="en-GB" dirty="0" smtClean="0"/>
              <a:t>nification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L6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56565" y="1986685"/>
            <a:ext cx="8030236" cy="110799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accent5"/>
                </a:solidFill>
              </a:rPr>
              <a:t>The Cauchy integral formula, the divergence theorem, </a:t>
            </a:r>
            <a:r>
              <a:rPr lang="en-GB" sz="2400" dirty="0" err="1" smtClean="0">
                <a:solidFill>
                  <a:schemeClr val="accent5"/>
                </a:solidFill>
              </a:rPr>
              <a:t>Stoke’s</a:t>
            </a:r>
            <a:r>
              <a:rPr lang="en-GB" sz="2400" dirty="0" smtClean="0">
                <a:solidFill>
                  <a:schemeClr val="accent5"/>
                </a:solidFill>
              </a:rPr>
              <a:t> theorem, Green’s theorem etc. are all special cases of the fundamental theorem of geometric calculus </a:t>
            </a:r>
          </a:p>
        </p:txBody>
      </p:sp>
    </p:spTree>
    <p:extLst>
      <p:ext uri="{BB962C8B-B14F-4D97-AF65-F5344CB8AC3E}">
        <p14:creationId xmlns:p14="http://schemas.microsoft.com/office/powerpoint/2010/main" val="334589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L6 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468"/>
  <p:tag name="ORIGINALWIDTH" val="1721.03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\newcommand{\grad}{\nabla}&#10;&#10;\color{myGrey}&#10;%\color{white}&#10;&#10;&#10;\begin{document}&#10;\begin{align*}&#10;a \dt \grad F(x) = \lim_{\epsilon \mapsto 0} \frac{F(x + \epsilon a) -&#10;F(x)}{\epsilon}&#10;\end{align*}&#10;\end{document}"/>
  <p:tag name="IGUANATEXSIZE" val="26"/>
  <p:tag name="IGUANATEXCURSOR" val="1731"/>
  <p:tag name="TRANSPARENCY" val="True"/>
  <p:tag name="FILENAME" val=""/>
  <p:tag name="INPUTTYPE" val="0"/>
  <p:tag name="LATEXENGINEID" val="0"/>
  <p:tag name="TEMPFOLDER" val="C:\Users\chrdor01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355"/>
  <p:tag name="ORIGINALWIDTH" val="498.687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x^k = e^k \dt x&#10;\end{align*}&#10;\end{document}"/>
  <p:tag name="IGUANATEXSIZE" val="26"/>
  <p:tag name="IGUANATEXCURSOR" val="1784"/>
  <p:tag name="TRANSPARENCY" val="True"/>
  <p:tag name="FILENAME" val=""/>
  <p:tag name="INPUTTYPE" val="0"/>
  <p:tag name="LATEXENGINEID" val="0"/>
  <p:tag name="TEMPFOLDER" val="C:\Users\chrdor01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7.9603"/>
  <p:tag name="ORIGINALWIDTH" val="1132.35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deriv}[2]{\frac{\partial #1}{\partial #2}}&#10;&#10;\definecolor{myGrey}{RGB}{62,62,64}&#10;\color{myGrey}&#10;%\color{white}&#10;&#10;&#10;\begin{document}&#10;\begin{align*}&#10;\grad = \sum_k e^k \deriv{}{x^k} = e^k \partial_k&#10;\end{align*}&#10;\end{document}"/>
  <p:tag name="IGUANATEXSIZE" val="26"/>
  <p:tag name="IGUANATEXCURSOR" val="1751"/>
  <p:tag name="TRANSPARENCY" val="True"/>
  <p:tag name="FILENAME" val=""/>
  <p:tag name="INPUTTYPE" val="0"/>
  <p:tag name="LATEXENGINEID" val="0"/>
  <p:tag name="TEMPFOLDER" val="C:\Users\chrdor01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2.4635"/>
  <p:tag name="ORIGINALWIDTH" val="946.381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&#10;\definecolor{myGrey}{RGB}{62,62,64}&#10;\color{myGrey}&#10;%\color{white}&#10;&#10;&#10;\begin{document}&#10;\begin{align*}&#10;\grad \dt A_r &amp;= \la \grad A_r \ra_{r-1}, \\&#10; \grad \wdg A_r &amp;= \la \grad A_r \ra_{r+1}&#10;\end{align*}&#10;\end{document}"/>
  <p:tag name="IGUANATEXSIZE" val="26"/>
  <p:tag name="IGUANATEXCURSOR" val="1883"/>
  <p:tag name="TRANSPARENCY" val="True"/>
  <p:tag name="FILENAME" val=""/>
  <p:tag name="INPUTTYPE" val="0"/>
  <p:tag name="LATEXENGINEID" val="0"/>
  <p:tag name="TEMPFOLDER" val="C:\Users\chrdor01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03.937"/>
  <p:tag name="ORIGINALWIDTH" val="1522.3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frm}[1]{#1~}&#10;&#10;\definecolor{myGrey}{RGB}{62,62,64}&#10;\color{myGrey}&#10;\color{white}&#10;&#10;&#10;\begin{document}&#10;\begin{align*}&#10;\grad \wdg (\grad \wdg A) &#10;&amp;= \frm{e}^i \wdg \partial_i ( \frm{e}^j \wdg \partial_j A) \\&#10;&amp;= \frm{e}^i \wdg \frm{e}^j \wdg( \partial_i \partial_j A) \\&#10;&amp;= 0&#10;\end{align*}&#10;\end{document}"/>
  <p:tag name="IGUANATEXSIZE" val="26"/>
  <p:tag name="IGUANATEXCURSOR" val="1972"/>
  <p:tag name="TRANSPARENCY" val="True"/>
  <p:tag name="FILENAME" val=""/>
  <p:tag name="INPUTTYPE" val="0"/>
  <p:tag name="LATEXENGINEID" val="0"/>
  <p:tag name="TEMPFOLDER" val="C:\Users\chrdor01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1129.35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&#10;\definecolor{myGrey}{RGB}{62,62,64}&#10;\color{myGrey}&#10;%\color{white}&#10;&#10;&#10;\begin{document}&#10;\begin{align*}&#10;\grad (AB) = \grad A B + \dot{\grad} A \dot{B}&#10;\end{align*}&#10;\end{document}"/>
  <p:tag name="IGUANATEXSIZE" val="26"/>
  <p:tag name="IGUANATEXCURSOR" val="1827"/>
  <p:tag name="TRANSPARENCY" val="True"/>
  <p:tag name="FILENAME" val=""/>
  <p:tag name="INPUTTYPE" val="0"/>
  <p:tag name="LATEXENGINEID" val="0"/>
  <p:tag name="TEMPFOLDER" val="C:\Users\chrdor01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332"/>
  <p:tag name="ORIGINALWIDTH" val="818.897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&#10;\definecolor{myGrey}{RGB}{62,62,64}&#10;\color{myGrey}&#10;%\color{white}&#10;&#10;&#10;\begin{document}&#10;\begin{align*}&#10;\dot{\grad} A \dot{B} = e^k A \, \partial_k B&#10;\end{align*}&#10;\end{document}"/>
  <p:tag name="IGUANATEXSIZE" val="26"/>
  <p:tag name="IGUANATEXCURSOR" val="1821"/>
  <p:tag name="TRANSPARENCY" val="True"/>
  <p:tag name="FILENAME" val=""/>
  <p:tag name="INPUTTYPE" val="0"/>
  <p:tag name="LATEXENGINEID" val="0"/>
  <p:tag name="TEMPFOLDER" val="C:\Users\chrdor01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3882"/>
  <p:tag name="ORIGINALWIDTH" val="690.663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frm}[1]{#1}&#10;&#10;\definecolor{myGrey}{RGB}{62,62,64}&#10;\color{myGrey}&#10;%\color{white}&#10;&#10;&#10;\begin{document}&#10;\begin{align*}&#10;\mb{r} = x \frm{e}_1 + y \frm{e}_2&#10;\end{align*}&#10;\end{document}"/>
  <p:tag name="IGUANATEXSIZE" val="26"/>
  <p:tag name="IGUANATEXCURSOR" val="1855"/>
  <p:tag name="TRANSPARENCY" val="True"/>
  <p:tag name="FILENAME" val=""/>
  <p:tag name="INPUTTYPE" val="0"/>
  <p:tag name="LATEXENGINEID" val="0"/>
  <p:tag name="TEMPFOLDER" val="C:\Users\chrdor01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1.2149"/>
  <p:tag name="ORIGINALWIDTH" val="913.385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mb{\grad} = \frm{e}_1 \deriv{ }{x} + \frm{e}_2 \deriv{ }{y}&#10;\end{align*}&#10;\end{document}"/>
  <p:tag name="IGUANATEXSIZE" val="26"/>
  <p:tag name="IGUANATEXCURSOR" val="1911"/>
  <p:tag name="TRANSPARENCY" val="True"/>
  <p:tag name="FILENAME" val=""/>
  <p:tag name="INPUTTYPE" val="0"/>
  <p:tag name="LATEXENGINEID" val="0"/>
  <p:tag name="TEMPFOLDER" val="C:\Users\chrdor01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534.683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psi = u + Iv&#10;\end{align*}&#10;\end{document}"/>
  <p:tag name="IGUANATEXSIZE" val="26"/>
  <p:tag name="IGUANATEXCURSOR" val="1923"/>
  <p:tag name="TRANSPARENCY" val="True"/>
  <p:tag name="FILENAME" val=""/>
  <p:tag name="INPUTTYPE" val="0"/>
  <p:tag name="LATEXENGINEID" val="0"/>
  <p:tag name="TEMPFOLDER" val="C:\Users\chrdor01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2.2123"/>
  <p:tag name="ORIGINALWIDTH" val="1892.76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\bgrad \psi = \left( \deriv{u}{x}-\deriv{v}{y}\right)\frm{e}_1&#10;+ \left(\deriv{v}{x}+ \deriv{u}{y} \right)\frm{e}_2&#10;\end{align*}&#10;\end{document}"/>
  <p:tag name="IGUANATEXSIZE" val="26"/>
  <p:tag name="IGUANATEXCURSOR" val="1861"/>
  <p:tag name="TRANSPARENCY" val="True"/>
  <p:tag name="FILENAME" val=""/>
  <p:tag name="INPUTTYPE" val="0"/>
  <p:tag name="LATEXENGINEID" val="0"/>
  <p:tag name="TEMPFOLDER" val="C:\Users\chrdor01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362"/>
  <p:tag name="ORIGINALWIDTH" val="377.202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psi = 0&#10;\end{align*}&#10;\end{document}"/>
  <p:tag name="IGUANATEXSIZE" val="26"/>
  <p:tag name="IGUANATEXCURSOR" val="1925"/>
  <p:tag name="TRANSPARENCY" val="True"/>
  <p:tag name="FILENAME" val=""/>
  <p:tag name="INPUTTYPE" val="0"/>
  <p:tag name="LATEXENGINEID" val="0"/>
  <p:tag name="TEMPFOLDER" val="C:\Users\chrdor01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362"/>
  <p:tag name="ORIGINALWIDTH" val="221.222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f(z)&#10;\end{align*}&#10;\end{document}"/>
  <p:tag name="IGUANATEXSIZE" val="26"/>
  <p:tag name="IGUANATEXCURSOR" val="1914"/>
  <p:tag name="TRANSPARENCY" val="True"/>
  <p:tag name="FILENAME" val=""/>
  <p:tag name="INPUTTYPE" val="0"/>
  <p:tag name="LATEXENGINEID" val="0"/>
  <p:tag name="TEMPFOLDER" val="C:\Users\chrdor01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839.145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z = x + I y = \frm{e}_1 \mb{r}&#10;\end{align*}&#10;\end{document}"/>
  <p:tag name="IGUANATEXSIZE" val="26"/>
  <p:tag name="IGUANATEXCURSOR" val="1938"/>
  <p:tag name="TRANSPARENCY" val="True"/>
  <p:tag name="FILENAME" val=""/>
  <p:tag name="INPUTTYPE" val="0"/>
  <p:tag name="LATEXENGINEID" val="0"/>
  <p:tag name="TEMPFOLDER" val="C:\Users\chrdor01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366"/>
  <p:tag name="ORIGINALWIDTH" val="2005.24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z = \bgrad (x + I) = e_1 + e_2 I = e_1 - e_1 = 0&#10;\end{align*}&#10;\end{document}"/>
  <p:tag name="IGUANATEXSIZE" val="26"/>
  <p:tag name="IGUANATEXCURSOR" val="1965"/>
  <p:tag name="TRANSPARENCY" val="True"/>
  <p:tag name="FILENAME" val=""/>
  <p:tag name="INPUTTYPE" val="0"/>
  <p:tag name="LATEXENGINEID" val="0"/>
  <p:tag name="TEMPFOLDER" val="C:\Users\chrdor01\te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9.4826"/>
  <p:tag name="ORIGINALWIDTH" val="2042.74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(z - z_0)^n = n \bgrad (x+Iy)&#10;(z - z_0)^{n-1} = 0&#10;\end{align*}&#10;\end{document}"/>
  <p:tag name="IGUANATEXSIZE" val="26"/>
  <p:tag name="IGUANATEXCURSOR" val="1945"/>
  <p:tag name="TRANSPARENCY" val="True"/>
  <p:tag name="FILENAME" val=""/>
  <p:tag name="INPUTTYPE" val="0"/>
  <p:tag name="LATEXENGINEID" val="0"/>
  <p:tag name="TEMPFOLDER" val="C:\Users\chrdor01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362"/>
  <p:tag name="ORIGINALWIDTH" val="377.202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psi = 0&#10;\end{align*}&#10;\end{document}"/>
  <p:tag name="IGUANATEXSIZE" val="26"/>
  <p:tag name="IGUANATEXCURSOR" val="1925"/>
  <p:tag name="TRANSPARENCY" val="True"/>
  <p:tag name="FILENAME" val=""/>
  <p:tag name="INPUTTYPE" val="0"/>
  <p:tag name="LATEXENGINEID" val="0"/>
  <p:tag name="TEMPFOLDER" val="C:\Users\chrdor01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7.1953"/>
  <p:tag name="ORIGINALWIDTH" val="764.154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dt \mb{E} &amp;= \rho \\&#10;- \bgrad \times \mb{E} &amp;= \deriv{ }{t} \mb{B} &#10;\end{align*}&#10;\end{document}"/>
  <p:tag name="IGUANATEXSIZE" val="26"/>
  <p:tag name="IGUANATEXCURSOR" val="1986"/>
  <p:tag name="TRANSPARENCY" val="True"/>
  <p:tag name="FILENAME" val=""/>
  <p:tag name="INPUTTYPE" val="0"/>
  <p:tag name="LATEXENGINEID" val="0"/>
  <p:tag name="TEMPFOLDER" val="C:\Users\chrdor01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7.1953"/>
  <p:tag name="ORIGINALWIDTH" val="903.637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dt \mb{B} &amp;= 0  \\&#10;\bgrad \times \mb{B} &amp;= \deriv{ }{t} \mb{E} + \mb{J}&#10;\end{align*}&#10;\end{document}"/>
  <p:tag name="IGUANATEXSIZE" val="26"/>
  <p:tag name="IGUANATEXCURSOR" val="1937"/>
  <p:tag name="TRANSPARENCY" val="True"/>
  <p:tag name="FILENAME" val=""/>
  <p:tag name="INPUTTYPE" val="0"/>
  <p:tag name="LATEXENGINEID" val="0"/>
  <p:tag name="TEMPFOLDER" val="C:\Users\chrdor01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889.388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times \mb{E} = -I \, \bgrad \wdg \mb{E}&#10;\end{align*}&#10;\end{document}"/>
  <p:tag name="IGUANATEXSIZE" val="26"/>
  <p:tag name="IGUANATEXCURSOR" val="1938"/>
  <p:tag name="TRANSPARENCY" val="True"/>
  <p:tag name="FILENAME" val=""/>
  <p:tag name="INPUTTYPE" val="0"/>
  <p:tag name="LATEXENGINEID" val="0"/>
  <p:tag name="TEMPFOLDER" val="C:\Users\chrdor01\te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361"/>
  <p:tag name="ORIGINALWIDTH" val="1667.79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\mb{E} = \bgrad \dt \mb{E} + \bgrad \wdg \mb{E} &#10;= \rho - \partial_t (I \mb{B}) &#10;\end{align*}&#10;\end{document}"/>
  <p:tag name="IGUANATEXSIZE" val="26"/>
  <p:tag name="IGUANATEXCURSOR" val="1996"/>
  <p:tag name="TRANSPARENCY" val="True"/>
  <p:tag name="FILENAME" val=""/>
  <p:tag name="INPUTTYPE" val="0"/>
  <p:tag name="LATEXENGINEID" val="0"/>
  <p:tag name="TEMPFOLDER" val="C:\Users\chrdor01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7364"/>
  <p:tag name="ORIGINALWIDTH" val="1902.5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bgrad (I \mb{B}) = I (\bgrad \dt \mb{B} + \bgrad \wdg \mb{B})&#10;= - \partial_t \mb{E} - \mb{J} &#10;\end{align*}&#10;\end{document}"/>
  <p:tag name="IGUANATEXSIZE" val="26"/>
  <p:tag name="IGUANATEXCURSOR" val="1956"/>
  <p:tag name="TRANSPARENCY" val="True"/>
  <p:tag name="FILENAME" val=""/>
  <p:tag name="INPUTTYPE" val="0"/>
  <p:tag name="LATEXENGINEID" val="0"/>
  <p:tag name="TEMPFOLDER" val="C:\Users\chrdor01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361"/>
  <p:tag name="ORIGINALWIDTH" val="1778.02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\bgrad (\mb{E} + I \mb{B} ) &#10;= - \partial_t(\mb{E} + I \mb{B} ) + \rho - \mb{J}&#10;\end{align*}&#10;\end{document}"/>
  <p:tag name="IGUANATEXSIZE" val="26"/>
  <p:tag name="IGUANATEXCURSOR" val="1988"/>
  <p:tag name="TRANSPARENCY" val="True"/>
  <p:tag name="FILENAME" val=""/>
  <p:tag name="INPUTTYPE" val="0"/>
  <p:tag name="LATEXENGINEID" val="0"/>
  <p:tag name="TEMPFOLDER" val="C:\Users\chrdor01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0.2175"/>
  <p:tag name="ORIGINALWIDTH" val="1445.06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grad = \gamum \deriv{ }{x^\mu} = \go \deriv{ }{t} + \gam^i&#10;\deriv{ }{x^i}&#10;\end{align*}&#10;\end{document}"/>
  <p:tag name="IGUANATEXSIZE" val="26"/>
  <p:tag name="IGUANATEXCURSOR" val="1984"/>
  <p:tag name="TRANSPARENCY" val="True"/>
  <p:tag name="FILENAME" val=""/>
  <p:tag name="INPUTTYPE" val="0"/>
  <p:tag name="LATEXENGINEID" val="0"/>
  <p:tag name="TEMPFOLDER" val="C:\Users\chrdor01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4829"/>
  <p:tag name="ORIGINALWIDTH" val="1385.8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grad \go = \partial_t + \gam^i \go \partial_i = \partial_t - \bgrad&#10;\end{align*}&#10;\end{document}"/>
  <p:tag name="IGUANATEXSIZE" val="26"/>
  <p:tag name="IGUANATEXCURSOR" val="1978"/>
  <p:tag name="TRANSPARENCY" val="True"/>
  <p:tag name="FILENAME" val=""/>
  <p:tag name="INPUTTYPE" val="0"/>
  <p:tag name="LATEXENGINEID" val="0"/>
  <p:tag name="TEMPFOLDER" val="C:\Users\chrdor01\te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361"/>
  <p:tag name="ORIGINALWIDTH" val="671.916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go \grad  = \partial_t + \bgrad&#10;\end{align*}&#10;\end{document}"/>
  <p:tag name="IGUANATEXSIZE" val="26"/>
  <p:tag name="IGUANATEXCURSOR" val="1935"/>
  <p:tag name="TRANSPARENCY" val="True"/>
  <p:tag name="FILENAME" val=""/>
  <p:tag name="INPUTTYPE" val="0"/>
  <p:tag name="LATEXENGINEID" val="0"/>
  <p:tag name="TEMPFOLDER" val="C:\Users\chrdor01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2.9659"/>
  <p:tag name="ORIGINALWIDTH" val="1297.33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go \grad x \go &#10;&amp;= (\partial_t + \bgrad)(t + \bx) \\&#10;&amp;= 4&#10;\end{align*}&#10;\end{document}"/>
  <p:tag name="IGUANATEXSIZE" val="26"/>
  <p:tag name="IGUANATEXCURSOR" val="1963"/>
  <p:tag name="TRANSPARENCY" val="True"/>
  <p:tag name="FILENAME" val=""/>
  <p:tag name="INPUTTYPE" val="0"/>
  <p:tag name="LATEXENGINEID" val="0"/>
  <p:tag name="TEMPFOLDER" val="C:\Users\chrdor01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98952"/>
  <p:tag name="ORIGINALWIDTH" val="599.175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F = \mb{E} + I \mb{B}&#10;\end{align*}&#10;\end{document}"/>
  <p:tag name="IGUANATEXSIZE" val="26"/>
  <p:tag name="IGUANATEXCURSOR" val="1930"/>
  <p:tag name="TRANSPARENCY" val="True"/>
  <p:tag name="FILENAME" val=""/>
  <p:tag name="INPUTTYPE" val="0"/>
  <p:tag name="LATEXENGINEID" val="0"/>
  <p:tag name="TEMPFOLDER" val="C:\Users\chrdor01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6.9629"/>
  <p:tag name="ORIGINALWIDTH" val="1085.11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\go \grad F &#10;&amp;= \rho - \mb{J} \\&#10;&amp;= \go \dt J - J \wdg \go&#10;\end{align*}&#10;\end{document}"/>
  <p:tag name="IGUANATEXSIZE" val="26"/>
  <p:tag name="IGUANATEXCURSOR" val="1967"/>
  <p:tag name="TRANSPARENCY" val="True"/>
  <p:tag name="FILENAME" val=""/>
  <p:tag name="INPUTTYPE" val="0"/>
  <p:tag name="LATEXENGINEID" val="0"/>
  <p:tag name="TEMPFOLDER" val="C:\Users\chrdor01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98914"/>
  <p:tag name="ORIGINALWIDTH" val="385.451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\grad F = J&#10;\end{align*}&#10;\end{document}"/>
  <p:tag name="IGUANATEXSIZE" val="26"/>
  <p:tag name="IGUANATEXCURSOR" val="1861"/>
  <p:tag name="TRANSPARENCY" val="True"/>
  <p:tag name="FILENAME" val=""/>
  <p:tag name="INPUTTYPE" val="0"/>
  <p:tag name="LATEXENGINEID" val="0"/>
  <p:tag name="TEMPFOLDER" val="C:\Users\chrdor01\te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98914"/>
  <p:tag name="ORIGINALWIDTH" val="385.451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\newcommand{\grad}{\nabla}&#10;&#10;\definecolor{myGrey}{RGB}{62,62,64}&#10;\color{white}&#10;&#10;\begin{document}&#10;\begin{align*}&#10;\grad F = J&#10;\end{align*}&#10;\end{document}"/>
  <p:tag name="IGUANATEXSIZE" val="30"/>
  <p:tag name="IGUANATEXCURSOR" val="742"/>
  <p:tag name="TRANSPARENCY" val="True"/>
  <p:tag name="FILENAME" val=""/>
  <p:tag name="INPUTTYPE" val="0"/>
  <p:tag name="LATEXENGINEID" val="0"/>
  <p:tag name="TEMPFOLDER" val="C:\Users\chrdor01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490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int F(x)  \frac{dx}{d\lambda} \, d \lambda = \int F \, dx = \lim_{n&#10;\mapsto \infty} \sum_{i=1}^n \bar{F}^i \Delta x^i&#10;\end{align*}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11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Delta x^i = x_i - x_{i-1}&#10;\end{align*}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721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bar{F}^i = \half \bigl(F(x_{i-1}) +&#10;F(x_i) \bigr)&#10;\end{align*}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22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x(\lambda)&#10;\end{align*}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2.823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dx = \deriv{x(\lambda)}{\lambda} d \lambda&#10;\end{align*}&#10;\end{document}"/>
  <p:tag name="IGUANATEXSIZE" val="2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3010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int  F(x) \frac{dx}{d\lambda} G(x) \, d \lambda = \int F(x)\, dx&#10;\,G(x)&#10;\end{align*}&#10;\end{document}"/>
  <p:tag name="IGUANATEXSIZE" val="2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2.5"/>
  <p:tag name="ORIGINALWIDTH" val="211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dX = \deriv{x}{x^1} \wdg \deriv{x}{x^2} \, dx^1 \, dx^2 = e_1 \wdg e_2&#10;\, dx^1 \, dx^2&#10;\end{align*}&#10;\end{document}"/>
  <p:tag name="IGUANATEXSIZE" val="26"/>
  <p:tag name="IGUANATEXCURSOR" val="1996"/>
  <p:tag name="TRANSPARENCY" val="True"/>
  <p:tag name="FILENAME" val=""/>
  <p:tag name="INPUTTYPE" val="0"/>
  <p:tag name="LATEXENGINEID" val="0"/>
  <p:tag name="TEMPFOLDER" val="C:\Users\chrdor01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5"/>
  <p:tag name="ORIGINALWIDTH" val="147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dX = e_1 \wdg \cdots \wdg e_n \, d\lam^1 \, \cdots d\lam^n&#10;\end{align*}&#10;\end{document}"/>
  <p:tag name="IGUANATEXSIZE" val="26"/>
  <p:tag name="IGUANATEXCURSOR" val="1861"/>
  <p:tag name="TRANSPARENCY" val="True"/>
  <p:tag name="FILENAME" val=""/>
  <p:tag name="INPUTTYPE" val="0"/>
  <p:tag name="LATEXENGINEID" val="0"/>
  <p:tag name="TEMPFOLDER" val="C:\Users\chrdor01\te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112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oint_{\partial V} \!\! F \, dS = \int_V \dot{F} \dot{\grad} \, dX&#10;\end{align*}&#10;\end{document}"/>
  <p:tag name="IGUANATEXSIZE" val="26"/>
  <p:tag name="IGUANATEXCURSOR" val="1965"/>
  <p:tag name="TRANSPARENCY" val="True"/>
  <p:tag name="FILENAME" val=""/>
  <p:tag name="INPUTTYPE" val="0"/>
  <p:tag name="LATEXENGINEID" val="0"/>
  <p:tag name="TEMPFOLDER" val="C:\Users\chrdor01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115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oint_{\partial V} \!\! dS \, G  = \int_V \dgrad \, dX \, \dot{G}&#10;\end{align*}&#10;\end{document}"/>
  <p:tag name="IGUANATEXSIZE" val="26"/>
  <p:tag name="IGUANATEXCURSOR" val="2008"/>
  <p:tag name="TRANSPARENCY" val="True"/>
  <p:tag name="FILENAME" val=""/>
  <p:tag name="INPUTTYPE" val="0"/>
  <p:tag name="LATEXENGINEID" val="0"/>
  <p:tag name="TEMPFOLDER" val="C:\Users\chrdor01\temp\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125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oint_{\partial V} \!\! L(dS) = \int_V \dot{L} (\dgrad dX)&#10;\end{align*}&#10;\end{document}"/>
  <p:tag name="IGUANATEXSIZE" val="26"/>
  <p:tag name="IGUANATEXCURSOR" val="1894"/>
  <p:tag name="TRANSPARENCY" val="True"/>
  <p:tag name="FILENAME" val=""/>
  <p:tag name="INPUTTYPE" val="0"/>
  <p:tag name="LATEXENGINEID" val="0"/>
  <p:tag name="TEMPFOLDER" val="C:\Users\chrdor01\temp\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5"/>
  <p:tag name="ORIGINALWIDTH" val="8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L(A) = \la J A I^{-1} \ra&#10;\end{align*}&#10;\end{document}"/>
  <p:tag name="IGUANATEXSIZE" val="26"/>
  <p:tag name="IGUANATEXCURSOR" val="1943"/>
  <p:tag name="TRANSPARENCY" val="True"/>
  <p:tag name="FILENAME" val=""/>
  <p:tag name="INPUTTYPE" val="0"/>
  <p:tag name="LATEXENGINEID" val="0"/>
  <p:tag name="TEMPFOLDER" val="C:\Users\chrdor01\temp\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233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int_{V} \la  \dot{J} \dgrad dX I^{-1} \ra &#10;= \int_{V} \grad \dt J \, |dX| &#10; = \oint_{\partial V} \! \la J dS I^{-1} \ra &#10;\end{align*}&#10;\end{document}"/>
  <p:tag name="IGUANATEXSIZE" val="26"/>
  <p:tag name="IGUANATEXCURSOR" val="2019"/>
  <p:tag name="TRANSPARENCY" val="True"/>
  <p:tag name="FILENAME" val=""/>
  <p:tag name="INPUTTYPE" val="0"/>
  <p:tag name="LATEXENGINEID" val="0"/>
  <p:tag name="TEMPFOLDER" val="C:\Users\chrdor01\temp\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72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n |dS| = dS \, I^{-1}&#10;\end{align*}&#10;\end{document}"/>
  <p:tag name="IGUANATEXSIZE" val="26"/>
  <p:tag name="IGUANATEXCURSOR" val="1964"/>
  <p:tag name="TRANSPARENCY" val="True"/>
  <p:tag name="FILENAME" val=""/>
  <p:tag name="INPUTTYPE" val="0"/>
  <p:tag name="LATEXENGINEID" val="0"/>
  <p:tag name="TEMPFOLDER" val="C:\Users\chrdor01\temp\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142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int_{V} \grad \dt J \, |dX|  = \oint_{\partial V} n \dt J \, |dS|&#10;\end{align*}&#10;\end{document}"/>
  <p:tag name="IGUANATEXSIZE" val="26"/>
  <p:tag name="IGUANATEXCURSOR" val="1894"/>
  <p:tag name="TRANSPARENCY" val="True"/>
  <p:tag name="FILENAME" val=""/>
  <p:tag name="INPUTTYPE" val="0"/>
  <p:tag name="LATEXENGINEID" val="0"/>
  <p:tag name="TEMPFOLDER" val="C:\Users\chrdor01\te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12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f(a) = \frac{1}{2\pi i} \oint_C \frac{f(z)}{z-a} dz&#10;\end{align*}&#10;\end{document}"/>
  <p:tag name="IGUANATEXSIZE" val="26"/>
  <p:tag name="IGUANATEXCURSOR" val="1894"/>
  <p:tag name="TRANSPARENCY" val="True"/>
  <p:tag name="FILENAME" val=""/>
  <p:tag name="INPUTTYPE" val="0"/>
  <p:tag name="LATEXENGINEID" val="0"/>
  <p:tag name="TEMPFOLDER" val="C:\Users\chrdor01\temp\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12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f(a) = \frac{1}{2\pi i} \oint_C \frac{f(z)}{z-a} dz&#10;\end{align*}&#10;\end{document}"/>
  <p:tag name="IGUANATEXSIZE" val="26"/>
  <p:tag name="IGUANATEXCURSOR" val="1994"/>
  <p:tag name="TRANSPARENCY" val="True"/>
  <p:tag name="FILENAME" val=""/>
  <p:tag name="INPUTTYPE" val="0"/>
  <p:tag name="LATEXENGINEID" val="0"/>
  <p:tag name="TEMPFOLDER" val="C:\Users\chrdor01\te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7.25"/>
  <p:tag name="ORIGINALWIDTH" val="37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z = \mb{e}_1 \mb{r}&#10;\end{align*}&#10;\end{document}"/>
  <p:tag name="IGUANATEXSIZE" val="26"/>
  <p:tag name="IGUANATEXCURSOR" val="1962"/>
  <p:tag name="TRANSPARENCY" val="True"/>
  <p:tag name="FILENAME" val=""/>
  <p:tag name="INPUTTYPE" val="0"/>
  <p:tag name="LATEXENGINEID" val="0"/>
  <p:tag name="TEMPFOLDER" val="C:\Users\chrdor01\temp\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7.9678"/>
  <p:tag name="ORIGINALWIDTH" val="1175.10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dz = \deriv{z}{\lam} d\lam = \mb{e}_1 \deriv{\mb{r}}{\lam} d\lam &#10;\end{align*}&#10;\end{document}"/>
  <p:tag name="IGUANATEXSIZE" val="26"/>
  <p:tag name="IGUANATEXCURSOR" val="2008"/>
  <p:tag name="TRANSPARENCY" val="True"/>
  <p:tag name="FILENAME" val=""/>
  <p:tag name="INPUTTYPE" val="0"/>
  <p:tag name="LATEXENGINEID" val="0"/>
  <p:tag name="TEMPFOLDER" val="C:\Users\chrdor01\te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6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f(z) = f(\mb{r})&#10;\end{align*}&#10;\end{document}"/>
  <p:tag name="IGUANATEXSIZE" val="26"/>
  <p:tag name="IGUANATEXCURSOR" val="1958"/>
  <p:tag name="TRANSPARENCY" val="True"/>
  <p:tag name="FILENAME" val=""/>
  <p:tag name="INPUTTYPE" val="0"/>
  <p:tag name="LATEXENGINEID" val="0"/>
  <p:tag name="TEMPFOLDER" val="C:\Users\chrdor01\temp\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37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bgrad f = 0&#10;\end{align*}&#10;\end{document}"/>
  <p:tag name="IGUANATEXSIZE" val="26"/>
  <p:tag name="IGUANATEXCURSOR" val="1955"/>
  <p:tag name="TRANSPARENCY" val="True"/>
  <p:tag name="FILENAME" val=""/>
  <p:tag name="INPUTTYPE" val="0"/>
  <p:tag name="LATEXENGINEID" val="0"/>
  <p:tag name="TEMPFOLDER" val="C:\Users\chrdor01\temp\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187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1}{z-a} = \frac{z^* - a^*}{(z-a)(z-a)^*} &#10;= \frac{(\mb{r} - \mb{a}) \mb{e}_1}{(\mb{r} - \mb{a})^2}&#10;\end{align*}&#10;\end{document}"/>
  <p:tag name="IGUANATEXSIZE" val="26"/>
  <p:tag name="IGUANATEXCURSOR" val="2025"/>
  <p:tag name="TRANSPARENCY" val="True"/>
  <p:tag name="FILENAME" val=""/>
  <p:tag name="INPUTTYPE" val="0"/>
  <p:tag name="LATEXENGINEID" val="0"/>
  <p:tag name="TEMPFOLDER" val="C:\Users\chrdor01\temp\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0.465"/>
  <p:tag name="ORIGINALWIDTH" val="1131.60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1}{z-a} dz = \frac{\mb{r}-\mb{a}}{(\mb{r}-\mb{a})^2} d\mb{r}&#10;\end{align*}&#10;\end{document}"/>
  <p:tag name="IGUANATEXSIZE" val="26"/>
  <p:tag name="IGUANATEXCURSOR" val="1950"/>
  <p:tag name="TRANSPARENCY" val="True"/>
  <p:tag name="FILENAME" val=""/>
  <p:tag name="INPUTTYPE" val="0"/>
  <p:tag name="LATEXENGINEID" val="0"/>
  <p:tag name="TEMPFOLDER" val="C:\Users\chrdor01\temp\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12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f(a) = \frac{1}{2\pi i} \oint_C \frac{f(z)}{z-a} dz&#10;\end{align*}&#10;\end{document}"/>
  <p:tag name="IGUANATEXSIZE" val="26"/>
  <p:tag name="IGUANATEXCURSOR" val="1994"/>
  <p:tag name="TRANSPARENCY" val="True"/>
  <p:tag name="FILENAME" val=""/>
  <p:tag name="INPUTTYPE" val="0"/>
  <p:tag name="LATEXENGINEID" val="0"/>
  <p:tag name="TEMPFOLDER" val="C:\Users\chrdor01\temp\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1.5"/>
  <p:tag name="ORIGINALWIDTH" val="1966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f(\ba) &#10;&amp;= \oint f(\br) \frac{\br-\ba}{2\pi(\br-\ba)^2} d\br \, I^{-1} \\&#10;&amp;= \int \left( f(\br) \frac{\br-\ba}{2\pi(\br-\ba)^2} \right) &#10;\overleftarrow{\bgrad} \, dX I^{-1}&#10;\end{align*}&#10;\end{document}"/>
  <p:tag name="IGUANATEXSIZE" val="26"/>
  <p:tag name="IGUANATEXCURSOR" val="2046"/>
  <p:tag name="TRANSPARENCY" val="True"/>
  <p:tag name="FILENAME" val=""/>
  <p:tag name="INPUTTYPE" val="0"/>
  <p:tag name="LATEXENGINEID" val="0"/>
  <p:tag name="TEMPFOLDER" val="C:\Users\chrdor01\temp\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60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dX I^{-1} = dA&#10;\end{align*}&#10;\end{document}"/>
  <p:tag name="IGUANATEXSIZE" val="26"/>
  <p:tag name="IGUANATEXCURSOR" val="1956"/>
  <p:tag name="TRANSPARENCY" val="True"/>
  <p:tag name="FILENAME" val=""/>
  <p:tag name="INPUTTYPE" val="0"/>
  <p:tag name="LATEXENGINEID" val="0"/>
  <p:tag name="TEMPFOLDER" val="C:\Users\chrdor01\te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37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bgrad f = 0&#10;\end{align*}&#10;\end{document}"/>
  <p:tag name="IGUANATEXSIZE" val="26"/>
  <p:tag name="IGUANATEXCURSOR" val="1954"/>
  <p:tag name="TRANSPARENCY" val="True"/>
  <p:tag name="FILENAME" val=""/>
  <p:tag name="INPUTTYPE" val="0"/>
  <p:tag name="LATEXENGINEID" val="0"/>
  <p:tag name="TEMPFOLDER" val="C:\Users\chrdor01\temp\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124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bgrad \frac{\br-\ba}{2\pi(\br-\ba)^2} = \delta(\br - \ba)&#10;\end{align*}&#10;\end{document}"/>
  <p:tag name="IGUANATEXSIZE" val="26"/>
  <p:tag name="IGUANATEXCURSOR" val="572"/>
  <p:tag name="TRANSPARENCY" val="True"/>
  <p:tag name="FILENAME" val=""/>
  <p:tag name="INPUTTYPE" val="0"/>
  <p:tag name="LATEXENGINEID" val="0"/>
  <p:tag name="TEMPFOLDER" val="C:\Users\chrdor01\te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284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oint f(\br) \frac{\br-\ba}{2\pi(\br-\ba)^2} d\br \, I^{-1}  &#10;= \int f(\ba) \delta (\br - \ba) dA = f(\ba)&#10;\end{align*}&#10;\end{document}"/>
  <p:tag name="IGUANATEXSIZE" val="26"/>
  <p:tag name="IGUANATEXCURSOR" val="2074"/>
  <p:tag name="TRANSPARENCY" val="True"/>
  <p:tag name="FILENAME" val=""/>
  <p:tag name="INPUTTYPE" val="0"/>
  <p:tag name="LATEXENGINEID" val="0"/>
  <p:tag name="TEMPFOLDER" val="C:\Users\chrdor01\temp\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2.75"/>
  <p:tag name="ORIGINALWIDTH" val="12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f(a) = \frac{1}{2\pi i} \oint_C \frac{f(z)}{z-a} dz&#10;\end{align*}&#10;\end{document}"/>
  <p:tag name="IGUANATEXSIZE" val="26"/>
  <p:tag name="IGUANATEXCURSOR" val="1994"/>
  <p:tag name="TRANSPARENCY" val="True"/>
  <p:tag name="FILENAME" val=""/>
  <p:tag name="INPUTTYPE" val="0"/>
  <p:tag name="LATEXENGINEID" val="0"/>
  <p:tag name="TEMPFOLDER" val="C:\Users\chrdor01\te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3.5"/>
  <p:tag name="ORIGINALWIDTH" val="170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psi(y) = \frac{1}{I S_n} \oint_{\partial V}  \frac{x-y}{|x-y|^n}&#10;dS \, \psi(x) &#10;\end{align*}&#10;\end{document}"/>
  <p:tag name="IGUANATEXSIZE" val="26"/>
  <p:tag name="IGUANATEXCURSOR" val="1919"/>
  <p:tag name="TRANSPARENCY" val="True"/>
  <p:tag name="FILENAME" val=""/>
  <p:tag name="INPUTTYPE" val="0"/>
  <p:tag name="LATEXENGINEID" val="0"/>
  <p:tag name="TEMPFOLDER" val="C:\Users\chrdor01\temp\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36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grad \psi = 0&#10;\end{align*}&#10;\end{document}"/>
  <p:tag name="IGUANATEXSIZE" val="26"/>
  <p:tag name="IGUANATEXCURSOR" val="1919"/>
  <p:tag name="TRANSPARENCY" val="True"/>
  <p:tag name="FILENAME" val=""/>
  <p:tag name="INPUTTYPE" val="0"/>
  <p:tag name="LATEXENGINEID" val="0"/>
  <p:tag name="TEMPFOLDER" val="C:\Users\chrdor01\temp\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6089</TotalTime>
  <Words>579</Words>
  <Application>Microsoft Office PowerPoint</Application>
  <PresentationFormat>On-screen Show (16:9)</PresentationFormat>
  <Paragraphs>114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Geometric Algebra</vt:lpstr>
      <vt:lpstr>The vector derivative</vt:lpstr>
      <vt:lpstr>Basic Results</vt:lpstr>
      <vt:lpstr>Two dimensions</vt:lpstr>
      <vt:lpstr>Unification </vt:lpstr>
      <vt:lpstr>Analytic functions</vt:lpstr>
      <vt:lpstr>Three dimensions</vt:lpstr>
      <vt:lpstr>Spacetime</vt:lpstr>
      <vt:lpstr>Unification</vt:lpstr>
      <vt:lpstr>Directed integration</vt:lpstr>
      <vt:lpstr>Surface integrals</vt:lpstr>
      <vt:lpstr>Fundamental theorem</vt:lpstr>
      <vt:lpstr>Divergence theorem</vt:lpstr>
      <vt:lpstr>Cauchy integral formula</vt:lpstr>
      <vt:lpstr>Cauchy integral formula</vt:lpstr>
      <vt:lpstr>Cauchy integral formula</vt:lpstr>
      <vt:lpstr>Cauchy integral formula</vt:lpstr>
      <vt:lpstr>Generalisation</vt:lpstr>
      <vt:lpstr>Unification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303</cp:revision>
  <dcterms:created xsi:type="dcterms:W3CDTF">2015-03-03T13:28:34Z</dcterms:created>
  <dcterms:modified xsi:type="dcterms:W3CDTF">2016-11-01T15:52:00Z</dcterms:modified>
</cp:coreProperties>
</file>