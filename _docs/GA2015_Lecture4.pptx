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300" r:id="rId15"/>
    <p:sldId id="299" r:id="rId16"/>
    <p:sldId id="301" r:id="rId17"/>
    <p:sldId id="302" r:id="rId18"/>
    <p:sldId id="303" r:id="rId19"/>
    <p:sldId id="304" r:id="rId20"/>
    <p:sldId id="286" r:id="rId21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40" d="100"/>
          <a:sy n="140" d="100"/>
        </p:scale>
        <p:origin x="-792" y="-150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14/10/2015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L4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14/10/2015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14/10/2015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14/10/2015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14/10/2015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14/10/2015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L4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tags" Target="../tags/tag3.xml"/><Relationship Id="rId21" Type="http://schemas.openxmlformats.org/officeDocument/2006/relationships/image" Target="../media/image11.png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tags" Target="../tags/tag10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3.xml"/><Relationship Id="rId7" Type="http://schemas.openxmlformats.org/officeDocument/2006/relationships/image" Target="../media/image1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0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9.png"/><Relationship Id="rId5" Type="http://schemas.openxmlformats.org/officeDocument/2006/relationships/tags" Target="../tags/tag19.xml"/><Relationship Id="rId10" Type="http://schemas.openxmlformats.org/officeDocument/2006/relationships/image" Target="../media/image18.png"/><Relationship Id="rId4" Type="http://schemas.openxmlformats.org/officeDocument/2006/relationships/tags" Target="../tags/tag18.xml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3.xml"/><Relationship Id="rId7" Type="http://schemas.openxmlformats.org/officeDocument/2006/relationships/image" Target="../media/image2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2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31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36.pn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35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34.png"/><Relationship Id="rId5" Type="http://schemas.openxmlformats.org/officeDocument/2006/relationships/tags" Target="../tags/tag35.xml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tags" Target="../tags/tag34.xml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42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tags" Target="../tags/tag39.xml"/><Relationship Id="rId16" Type="http://schemas.openxmlformats.org/officeDocument/2006/relationships/image" Target="../media/image45.png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40.png"/><Relationship Id="rId5" Type="http://schemas.openxmlformats.org/officeDocument/2006/relationships/tags" Target="../tags/tag42.xml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tags" Target="../tags/tag4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tags" Target="../tags/tag48.xml"/><Relationship Id="rId7" Type="http://schemas.openxmlformats.org/officeDocument/2006/relationships/image" Target="../media/image49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51.xml"/><Relationship Id="rId7" Type="http://schemas.openxmlformats.org/officeDocument/2006/relationships/image" Target="../media/image5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5" Type="http://schemas.openxmlformats.org/officeDocument/2006/relationships/tags" Target="../tags/tag53.xml"/><Relationship Id="rId10" Type="http://schemas.openxmlformats.org/officeDocument/2006/relationships/image" Target="../media/image54.png"/><Relationship Id="rId4" Type="http://schemas.openxmlformats.org/officeDocument/2006/relationships/tags" Target="../tags/tag52.xml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tags" Target="../tags/tag55.xml"/><Relationship Id="rId16" Type="http://schemas.openxmlformats.org/officeDocument/2006/relationships/image" Target="../media/image62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57.png"/><Relationship Id="rId5" Type="http://schemas.openxmlformats.org/officeDocument/2006/relationships/tags" Target="../tags/tag58.xml"/><Relationship Id="rId15" Type="http://schemas.openxmlformats.org/officeDocument/2006/relationships/image" Target="../media/image6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65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72.pn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tags" Target="../tags/tag66.xml"/><Relationship Id="rId16" Type="http://schemas.openxmlformats.org/officeDocument/2006/relationships/image" Target="../media/image75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70.png"/><Relationship Id="rId5" Type="http://schemas.openxmlformats.org/officeDocument/2006/relationships/tags" Target="../tags/tag69.xml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tags" Target="../tags/tag68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tags" Target="../tags/tag75.xml"/><Relationship Id="rId7" Type="http://schemas.openxmlformats.org/officeDocument/2006/relationships/image" Target="../media/image78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7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1.png"/><Relationship Id="rId4" Type="http://schemas.openxmlformats.org/officeDocument/2006/relationships/tags" Target="../tags/tag76.xml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83.png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82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71.png"/><Relationship Id="rId5" Type="http://schemas.openxmlformats.org/officeDocument/2006/relationships/tags" Target="../tags/tag81.xml"/><Relationship Id="rId15" Type="http://schemas.openxmlformats.org/officeDocument/2006/relationships/image" Target="../media/image85.png"/><Relationship Id="rId10" Type="http://schemas.openxmlformats.org/officeDocument/2006/relationships/image" Target="../media/image70.png"/><Relationship Id="rId4" Type="http://schemas.openxmlformats.org/officeDocument/2006/relationships/tags" Target="../tags/tag80.xml"/><Relationship Id="rId9" Type="http://schemas.openxmlformats.org/officeDocument/2006/relationships/image" Target="../media/image69.png"/><Relationship Id="rId1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tags" Target="../tags/tag86.xml"/><Relationship Id="rId7" Type="http://schemas.openxmlformats.org/officeDocument/2006/relationships/image" Target="../media/image86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0.png"/><Relationship Id="rId5" Type="http://schemas.openxmlformats.org/officeDocument/2006/relationships/tags" Target="../tags/tag88.xml"/><Relationship Id="rId10" Type="http://schemas.openxmlformats.org/officeDocument/2006/relationships/image" Target="../media/image89.png"/><Relationship Id="rId4" Type="http://schemas.openxmlformats.org/officeDocument/2006/relationships/tags" Target="../tags/tag87.xml"/><Relationship Id="rId9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4</a:t>
            </a:r>
            <a:r>
              <a:rPr lang="en-GB" sz="2000" dirty="0" smtClean="0"/>
              <a:t>. Algebraic Foundations and 4D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Axioms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16505" y="1356615"/>
            <a:ext cx="423047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Elements of a geometric algebra are called multivectors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2121700"/>
            <a:ext cx="1908810" cy="2114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2553942"/>
            <a:ext cx="3495675" cy="2705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3021800"/>
            <a:ext cx="2164080" cy="2705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3516855"/>
            <a:ext cx="2813685" cy="2705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4011910"/>
            <a:ext cx="2796540" cy="2705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505" y="4371950"/>
            <a:ext cx="405045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Space is linear over the scalars. All simple and natural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1275"/>
            <a:ext cx="4572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662010" y="1356615"/>
            <a:ext cx="4097459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Multivectors can be classified by grade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66" y="1860507"/>
            <a:ext cx="3670935" cy="26860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2324" y="2400053"/>
            <a:ext cx="3188492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Grade-0 terms are real scalars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10" y="2841780"/>
            <a:ext cx="1958340" cy="2896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2010" y="3297960"/>
            <a:ext cx="3593539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Grading is a projection operation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12" y="3797398"/>
            <a:ext cx="3000375" cy="26860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10" y="4237647"/>
            <a:ext cx="1880235" cy="2686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65" y="4679726"/>
            <a:ext cx="1897380" cy="2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7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Axioms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16505" y="1401620"/>
            <a:ext cx="427547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grade-1 elements of a geometric algebra are called vectors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275" y="2121700"/>
            <a:ext cx="872490" cy="2971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63" y="2540000"/>
            <a:ext cx="3695700" cy="3467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505" y="3119636"/>
            <a:ext cx="1411531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So we define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62" y="3561860"/>
            <a:ext cx="2367915" cy="91249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0" y="1311275"/>
            <a:ext cx="457200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4707015" y="1356615"/>
            <a:ext cx="416565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antisymmetric produce of </a:t>
            </a:r>
            <a:r>
              <a:rPr lang="en-GB" sz="2000" i="1" dirty="0" smtClean="0"/>
              <a:t>r</a:t>
            </a:r>
            <a:r>
              <a:rPr lang="en-GB" sz="2000" dirty="0" smtClean="0"/>
              <a:t> vectors results in a grade-</a:t>
            </a:r>
            <a:r>
              <a:rPr lang="en-GB" sz="2000" i="1" dirty="0" smtClean="0"/>
              <a:t>r</a:t>
            </a:r>
            <a:r>
              <a:rPr lang="en-GB" sz="2000" dirty="0" smtClean="0"/>
              <a:t> blade</a:t>
            </a:r>
          </a:p>
          <a:p>
            <a:r>
              <a:rPr lang="en-GB" sz="2000" dirty="0" smtClean="0"/>
              <a:t>Call this the outer product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40000"/>
            <a:ext cx="3509010" cy="10648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7015" y="3921899"/>
            <a:ext cx="423047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Sum over all permutations with epsilon  +1 for even and -1 for odd</a:t>
            </a:r>
          </a:p>
        </p:txBody>
      </p:sp>
    </p:spTree>
    <p:extLst>
      <p:ext uri="{BB962C8B-B14F-4D97-AF65-F5344CB8AC3E}">
        <p14:creationId xmlns:p14="http://schemas.microsoft.com/office/powerpoint/2010/main" val="217606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Simplifying result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131590"/>
            <a:ext cx="483487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Given a set of linearly-independent vectors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70" y="1131590"/>
            <a:ext cx="1350645" cy="2686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2" y="1626645"/>
            <a:ext cx="717513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We can find a set of anti-commuting vectors such that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85" y="2076930"/>
            <a:ext cx="3642360" cy="2247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7" y="2796775"/>
            <a:ext cx="1480185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22513" y="2804033"/>
            <a:ext cx="197945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/>
              <a:t>S</a:t>
            </a:r>
            <a:r>
              <a:rPr lang="en-GB" sz="2000" dirty="0" smtClean="0"/>
              <a:t>ymmetric matrix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7" y="3427413"/>
            <a:ext cx="3903345" cy="426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870" y="4101920"/>
            <a:ext cx="756545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Define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04" y="4506965"/>
            <a:ext cx="1314450" cy="304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075" y="3066805"/>
            <a:ext cx="3103245" cy="1257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57065" y="2616755"/>
            <a:ext cx="36004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These vectors all anti-commute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065" y="4416955"/>
            <a:ext cx="3529736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magnitude of the product is also correct</a:t>
            </a:r>
          </a:p>
        </p:txBody>
      </p:sp>
    </p:spTree>
    <p:extLst>
      <p:ext uri="{BB962C8B-B14F-4D97-AF65-F5344CB8AC3E}">
        <p14:creationId xmlns:p14="http://schemas.microsoft.com/office/powerpoint/2010/main" val="128957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Decomposing products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890" y="1182545"/>
            <a:ext cx="1975485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6595" y="1131590"/>
            <a:ext cx="247527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Make repeated use of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15" y="1612265"/>
            <a:ext cx="5221605" cy="185547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2816805" y="1986685"/>
            <a:ext cx="90010" cy="180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906815" y="1986685"/>
            <a:ext cx="2925325" cy="900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206515" y="4101920"/>
            <a:ext cx="54456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Define the inner product of a vector and a bivector 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4060545"/>
            <a:ext cx="2417445" cy="3905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645" y="4551970"/>
            <a:ext cx="3118485" cy="27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2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301970" y="1694697"/>
            <a:ext cx="2160240" cy="494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General result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5" y="1041580"/>
            <a:ext cx="8775975" cy="1306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21850" y="2256715"/>
            <a:ext cx="45455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Over-check means this term is missing</a:t>
            </a:r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5494603" y="2031690"/>
            <a:ext cx="0" cy="2250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72200" y="933060"/>
            <a:ext cx="1059705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Grade </a:t>
            </a:r>
            <a:r>
              <a:rPr lang="en-GB" sz="2000" i="1" dirty="0" smtClean="0">
                <a:solidFill>
                  <a:schemeClr val="tx2"/>
                </a:solidFill>
              </a:rPr>
              <a:t>r</a:t>
            </a:r>
            <a:r>
              <a:rPr lang="en-GB" sz="2000" dirty="0" smtClean="0">
                <a:solidFill>
                  <a:schemeClr val="tx2"/>
                </a:solidFill>
              </a:rPr>
              <a:t>-1</a:t>
            </a:r>
          </a:p>
        </p:txBody>
      </p:sp>
      <p:cxnSp>
        <p:nvCxnSpPr>
          <p:cNvPr id="12" name="Straight Arrow Connector 11"/>
          <p:cNvCxnSpPr>
            <a:stCxn id="10" idx="2"/>
          </p:cNvCxnSpPr>
          <p:nvPr/>
        </p:nvCxnSpPr>
        <p:spPr>
          <a:xfrm flipH="1">
            <a:off x="5832140" y="1240837"/>
            <a:ext cx="1069913" cy="4538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296525" y="2706765"/>
            <a:ext cx="414046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Define the inner product of a vector and a grade-</a:t>
            </a:r>
            <a:r>
              <a:rPr lang="en-GB" sz="2000" i="1" dirty="0" smtClean="0">
                <a:solidFill>
                  <a:schemeClr val="bg1"/>
                </a:solidFill>
              </a:rPr>
              <a:t>r</a:t>
            </a:r>
            <a:r>
              <a:rPr lang="en-GB" sz="2000" dirty="0" smtClean="0">
                <a:solidFill>
                  <a:schemeClr val="bg1"/>
                </a:solidFill>
              </a:rPr>
              <a:t> term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45" y="3516855"/>
            <a:ext cx="3667125" cy="10896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4968420" y="2751770"/>
            <a:ext cx="3868935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Remaining term is the outer product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425" y="3156815"/>
            <a:ext cx="3789045" cy="10896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68420" y="4386467"/>
            <a:ext cx="387905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Can prove this is the same as earlier definition of the outer product</a:t>
            </a:r>
          </a:p>
        </p:txBody>
      </p:sp>
    </p:spTree>
    <p:extLst>
      <p:ext uri="{BB962C8B-B14F-4D97-AF65-F5344CB8AC3E}">
        <p14:creationId xmlns:p14="http://schemas.microsoft.com/office/powerpoint/2010/main" val="338674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221850" y="3978340"/>
            <a:ext cx="2025225" cy="5286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57201" y="1536635"/>
            <a:ext cx="3439724" cy="9451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General product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31590"/>
            <a:ext cx="7046595" cy="300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76945" y="1690343"/>
            <a:ext cx="48605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Extend dot and wedge symbols for homogenous multivectors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560" y="2616755"/>
            <a:ext cx="81459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definition of the outer product is consistent with the earlier definition (requires some proof). This version allows a quick proof of associativity: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85" y="1626644"/>
            <a:ext cx="2779395" cy="742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3606865"/>
            <a:ext cx="65151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Reverse, scalar product and commutator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435" y="1131590"/>
            <a:ext cx="2651760" cy="272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1560" y="1236117"/>
            <a:ext cx="29253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reverse, sometimes written with a dagger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435" y="1597355"/>
            <a:ext cx="2607945" cy="3467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435" y="2094790"/>
            <a:ext cx="2569845" cy="161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7225" y="2021863"/>
            <a:ext cx="186455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Useful sequence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327195" y="2175751"/>
            <a:ext cx="270030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54444" y="2744512"/>
            <a:ext cx="288231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Write the scalar product as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47" y="3183255"/>
            <a:ext cx="2364105" cy="6743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4444" y="3839148"/>
            <a:ext cx="337537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Scalar product is symmetric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4222973"/>
            <a:ext cx="2112645" cy="742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62010" y="2661760"/>
            <a:ext cx="4490259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Occasionally use the commutator product 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5" y="3052289"/>
            <a:ext cx="2762250" cy="3905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2010" y="3607420"/>
            <a:ext cx="436548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Useful property is that the commutator with a bivector </a:t>
            </a:r>
            <a:r>
              <a:rPr lang="en-GB" sz="2000" i="1" dirty="0" smtClean="0"/>
              <a:t>B</a:t>
            </a:r>
            <a:r>
              <a:rPr lang="en-GB" sz="2000" dirty="0" smtClean="0"/>
              <a:t> preserves grade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5" y="4460145"/>
            <a:ext cx="2335530" cy="2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2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65" y="1041580"/>
            <a:ext cx="1882140" cy="274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41530" y="1858928"/>
            <a:ext cx="31953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Combination of rotations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55" y="2301720"/>
            <a:ext cx="2438400" cy="8020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1530" y="3246825"/>
            <a:ext cx="29253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So the product rotor is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55" y="3696875"/>
            <a:ext cx="1207770" cy="2533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095" y="1040765"/>
            <a:ext cx="918210" cy="2705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1530" y="4146925"/>
            <a:ext cx="31503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Rotors form a group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83" y="4551970"/>
            <a:ext cx="2636520" cy="31813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4932040" y="1896675"/>
            <a:ext cx="351039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Suppose we now rotate a blade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2301720"/>
            <a:ext cx="2068830" cy="257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357" y="2737124"/>
            <a:ext cx="347853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32040" y="3876895"/>
            <a:ext cx="31953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So the blade rotates as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59" y="4301278"/>
            <a:ext cx="1609725" cy="31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1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241630" y="3542570"/>
            <a:ext cx="3471140" cy="6300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Fermions?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6525" y="2571750"/>
                <a:ext cx="810307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000" dirty="0" smtClean="0">
                    <a:solidFill>
                      <a:schemeClr val="tx1"/>
                    </a:solidFill>
                  </a:rPr>
                  <a:t>Now take the rotor on an excursion through 360 degrees. The angle goes through 2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 smtClean="0">
                    <a:solidFill>
                      <a:schemeClr val="tx1"/>
                    </a:solidFill>
                  </a:rPr>
                  <a:t>, but we find the rotor comes back to minus itself.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25" y="2571750"/>
                <a:ext cx="8103072" cy="615553"/>
              </a:xfrm>
              <a:prstGeom prst="rect">
                <a:avLst/>
              </a:prstGeom>
              <a:blipFill rotWithShape="1">
                <a:blip r:embed="rId5"/>
                <a:stretch>
                  <a:fillRect l="-1956" t="-12871" b="-23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1844411"/>
            <a:ext cx="1234440" cy="255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60" y="3703300"/>
            <a:ext cx="2967990" cy="3086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6525" y="1228858"/>
            <a:ext cx="5032266" cy="615553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/>
              <a:t>Take a rotated vector through a further rotation</a:t>
            </a:r>
          </a:p>
          <a:p>
            <a:endParaRPr lang="en-GB" sz="20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296525" y="1761660"/>
            <a:ext cx="3096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The rotor transformation law is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99" y="1254695"/>
            <a:ext cx="2219325" cy="281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82090" y="3531372"/>
            <a:ext cx="3017507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This is the defining property of a fermion!</a:t>
            </a:r>
          </a:p>
        </p:txBody>
      </p:sp>
    </p:spTree>
    <p:extLst>
      <p:ext uri="{BB962C8B-B14F-4D97-AF65-F5344CB8AC3E}">
        <p14:creationId xmlns:p14="http://schemas.microsoft.com/office/powerpoint/2010/main" val="355469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331640" y="2121700"/>
            <a:ext cx="6570730" cy="73866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One of the defining properties of spin-half particles drops out naturally from the properties of </a:t>
            </a:r>
            <a:r>
              <a:rPr lang="en-GB" sz="2400" dirty="0" smtClean="0">
                <a:solidFill>
                  <a:schemeClr val="bg1"/>
                </a:solidFill>
              </a:rPr>
              <a:t>rotors.</a:t>
            </a:r>
            <a:endParaRPr lang="en-GB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3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Linear algebra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1131590"/>
            <a:ext cx="490554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Linear function </a:t>
            </a:r>
            <a:r>
              <a:rPr lang="en-GB" sz="2000" i="1" dirty="0" smtClean="0"/>
              <a:t>f</a:t>
            </a:r>
            <a:endParaRPr lang="en-GB" sz="2000" dirty="0" smtClean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820" y="1166590"/>
            <a:ext cx="3811905" cy="2800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51520" y="1896675"/>
            <a:ext cx="31503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Extend </a:t>
            </a:r>
            <a:r>
              <a:rPr lang="en-GB" sz="2000" i="1" dirty="0" smtClean="0">
                <a:solidFill>
                  <a:schemeClr val="bg1"/>
                </a:solidFill>
              </a:rPr>
              <a:t>f</a:t>
            </a:r>
            <a:r>
              <a:rPr lang="en-GB" sz="2000" dirty="0" smtClean="0">
                <a:solidFill>
                  <a:schemeClr val="bg1"/>
                </a:solidFill>
              </a:rPr>
              <a:t> to multivectors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2384568"/>
            <a:ext cx="3724275" cy="280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1520" y="2886785"/>
            <a:ext cx="41293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a grade-preserving linear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3433650"/>
            <a:ext cx="403931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pseudoscalar is unique up to scale so we can define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236935"/>
            <a:ext cx="1927860" cy="2800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4866797" y="1851670"/>
            <a:ext cx="387043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Form the product function </a:t>
            </a:r>
            <a:r>
              <a:rPr lang="en-GB" sz="2000" i="1" dirty="0" err="1" smtClean="0"/>
              <a:t>fg</a:t>
            </a:r>
            <a:endParaRPr lang="en-GB" sz="2000" dirty="0" smtClean="0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75" y="2301720"/>
            <a:ext cx="4362450" cy="123634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66797" y="3749138"/>
            <a:ext cx="42872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Quickly prove the fundamental result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447" y="4210245"/>
            <a:ext cx="4448053" cy="65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0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Projective geometry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1026" name="Picture 2" descr="http://xahlee.info/math/algorithmic_math_art/escher/waterf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09" y="96475"/>
            <a:ext cx="3941943" cy="495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1530" y="1356615"/>
            <a:ext cx="4725525" cy="215443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Use projective geometry to emphasise expressions in GA have multiple interpretations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Closer to </a:t>
            </a:r>
            <a:r>
              <a:rPr lang="en-GB" sz="2000" dirty="0" err="1" smtClean="0"/>
              <a:t>Grassmann’s</a:t>
            </a:r>
            <a:r>
              <a:rPr lang="en-GB" sz="2000" dirty="0" smtClean="0"/>
              <a:t> original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</a:t>
            </a:r>
            <a:r>
              <a:rPr lang="en-GB" sz="2000" dirty="0" smtClean="0"/>
              <a:t>ur first application of 4D GA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Core to many graphics algorithms, though rarely taught</a:t>
            </a:r>
          </a:p>
        </p:txBody>
      </p:sp>
    </p:spTree>
    <p:extLst>
      <p:ext uri="{BB962C8B-B14F-4D97-AF65-F5344CB8AC3E}">
        <p14:creationId xmlns:p14="http://schemas.microsoft.com/office/powerpoint/2010/main" val="180138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Projective line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067836"/>
            <a:ext cx="5306572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Point </a:t>
            </a:r>
            <a:r>
              <a:rPr lang="en-GB" sz="2000" i="1" dirty="0" smtClean="0"/>
              <a:t>x</a:t>
            </a:r>
            <a:r>
              <a:rPr lang="en-GB" sz="2000" dirty="0" smtClean="0"/>
              <a:t> represented by homogeneous coordinates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155" y="1105103"/>
            <a:ext cx="920115" cy="270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325" y="970231"/>
            <a:ext cx="883920" cy="6172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80" y="1941680"/>
            <a:ext cx="208216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4701" y="1774808"/>
            <a:ext cx="175519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 point as a vector in a GA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832140" y="2436735"/>
            <a:ext cx="2549105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010400" y="2436735"/>
            <a:ext cx="0" cy="85509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010400" y="1774808"/>
            <a:ext cx="928885" cy="151702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010400" y="3291830"/>
            <a:ext cx="928885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939285" y="1806665"/>
            <a:ext cx="0" cy="1485165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385" y="1731417"/>
            <a:ext cx="163830" cy="15049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7510647" y="2391730"/>
            <a:ext cx="90010" cy="900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888" y="2632359"/>
            <a:ext cx="257175" cy="1866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233" y="3070035"/>
            <a:ext cx="276225" cy="18669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25" y="2659029"/>
            <a:ext cx="68580" cy="1600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4700" y="2819049"/>
            <a:ext cx="491739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Outer product of two points represents a line</a:t>
            </a:r>
          </a:p>
        </p:txBody>
      </p:sp>
      <p:pic>
        <p:nvPicPr>
          <p:cNvPr id="29" name="Picture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90" y="3349445"/>
            <a:ext cx="3573780" cy="7524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131841" y="4416955"/>
            <a:ext cx="198022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Distance between the points</a:t>
            </a:r>
          </a:p>
        </p:txBody>
      </p:sp>
      <p:cxnSp>
        <p:nvCxnSpPr>
          <p:cNvPr id="32" name="Straight Arrow Connector 31"/>
          <p:cNvCxnSpPr>
            <a:stCxn id="30" idx="0"/>
          </p:cNvCxnSpPr>
          <p:nvPr/>
        </p:nvCxnSpPr>
        <p:spPr>
          <a:xfrm flipH="1" flipV="1">
            <a:off x="2816805" y="4146925"/>
            <a:ext cx="1305146" cy="27003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1560" y="4416955"/>
            <a:ext cx="157517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Scale factors</a:t>
            </a:r>
          </a:p>
        </p:txBody>
      </p:sp>
      <p:cxnSp>
        <p:nvCxnSpPr>
          <p:cNvPr id="35" name="Straight Arrow Connector 34"/>
          <p:cNvCxnSpPr>
            <a:stCxn id="33" idx="0"/>
          </p:cNvCxnSpPr>
          <p:nvPr/>
        </p:nvCxnSpPr>
        <p:spPr>
          <a:xfrm flipV="1">
            <a:off x="1399148" y="4191931"/>
            <a:ext cx="697577" cy="2250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102350" y="3427413"/>
            <a:ext cx="304165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/>
          <p:cNvSpPr txBox="1"/>
          <p:nvPr/>
        </p:nvSpPr>
        <p:spPr>
          <a:xfrm>
            <a:off x="6327195" y="3666387"/>
            <a:ext cx="265529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representation of points is homogeneous</a:t>
            </a:r>
          </a:p>
        </p:txBody>
      </p:sp>
      <p:pic>
        <p:nvPicPr>
          <p:cNvPr id="42" name="Picture 4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885" y="4416955"/>
            <a:ext cx="103251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4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Cross ratio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2050" name="Picture 2" descr="C:\Users\chrdor01\Desktop\Captur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720" y="546525"/>
            <a:ext cx="4027240" cy="292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1348152"/>
            <a:ext cx="4280535" cy="661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530" y="2417861"/>
            <a:ext cx="27453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Distance between points</a:t>
            </a:r>
          </a:p>
        </p:txBody>
      </p:sp>
      <p:cxnSp>
        <p:nvCxnSpPr>
          <p:cNvPr id="12" name="Straight Arrow Connector 11"/>
          <p:cNvCxnSpPr>
            <a:stCxn id="8" idx="0"/>
          </p:cNvCxnSpPr>
          <p:nvPr/>
        </p:nvCxnSpPr>
        <p:spPr>
          <a:xfrm flipV="1">
            <a:off x="1714183" y="2076695"/>
            <a:ext cx="472552" cy="34116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91880" y="2391730"/>
            <a:ext cx="22502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Invariant quantity</a:t>
            </a: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flipH="1" flipV="1">
            <a:off x="4211960" y="2076695"/>
            <a:ext cx="405045" cy="3150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2196" y="3111810"/>
            <a:ext cx="630070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Can see that the RHS is invariant under a general linear transformation of the 4 points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3" y="3966905"/>
            <a:ext cx="4448175" cy="2876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2196" y="4506965"/>
            <a:ext cx="767019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Ratio is invariant under rotations, translations and scaling</a:t>
            </a:r>
          </a:p>
        </p:txBody>
      </p:sp>
    </p:spTree>
    <p:extLst>
      <p:ext uri="{BB962C8B-B14F-4D97-AF65-F5344CB8AC3E}">
        <p14:creationId xmlns:p14="http://schemas.microsoft.com/office/powerpoint/2010/main" val="201464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Projective plane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0778" y="1018906"/>
            <a:ext cx="7715199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Points on a plane represented by vectors in a 3D GA. Typically align the 3 axis perpendicular to the plane, but this is arbitrary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65" y="2079967"/>
            <a:ext cx="10801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Point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1927870"/>
            <a:ext cx="146685" cy="142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740" y="1851670"/>
            <a:ext cx="561975" cy="219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910" y="1851670"/>
            <a:ext cx="94678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86735" y="2079967"/>
            <a:ext cx="50230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6915" y="2079967"/>
            <a:ext cx="65138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7095" y="1761660"/>
            <a:ext cx="2880320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Interchange points and lines by duality. Denoted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296525" y="2706765"/>
            <a:ext cx="42304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Intersection (meet) defined by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2" y="3156815"/>
            <a:ext cx="2398395" cy="2933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6525" y="3561860"/>
            <a:ext cx="315035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For 2 lines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40" y="4011910"/>
            <a:ext cx="3352800" cy="74104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4932040" y="2706765"/>
            <a:ext cx="39154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For 3 lines to meet at a point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125" y="3200440"/>
            <a:ext cx="1994535" cy="27051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420" y="3589020"/>
            <a:ext cx="2301240" cy="26860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32040" y="4019168"/>
            <a:ext cx="3619746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Reduces to simple statement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730" y="4506338"/>
            <a:ext cx="1396365" cy="2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7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3074" name="Picture 2" descr="C:\Users\chrdor01\Desktop\Captur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348" y="342883"/>
            <a:ext cx="3832162" cy="416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1131590"/>
            <a:ext cx="4331970" cy="2609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1671650"/>
            <a:ext cx="4612005" cy="2971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2160178"/>
            <a:ext cx="5375910" cy="3067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6525" y="2796775"/>
            <a:ext cx="38254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Can prove the algebraic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515" y="3831890"/>
            <a:ext cx="66157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These 3 points are collinear </a:t>
            </a:r>
            <a:r>
              <a:rPr lang="en-GB" sz="2000" dirty="0" err="1" smtClean="0"/>
              <a:t>iff</a:t>
            </a:r>
            <a:r>
              <a:rPr lang="en-GB" sz="2000" dirty="0" smtClean="0"/>
              <a:t> these 3 lines meet at a point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791580" y="3696875"/>
            <a:ext cx="180020" cy="1350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121950" y="3696875"/>
            <a:ext cx="540060" cy="1350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5" y="3291830"/>
            <a:ext cx="4865370" cy="3067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6515" y="4281940"/>
            <a:ext cx="538061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This is Desargues theorem. A complex geometric identity from manipulating GA elements.</a:t>
            </a:r>
          </a:p>
        </p:txBody>
      </p:sp>
    </p:spTree>
    <p:extLst>
      <p:ext uri="{BB962C8B-B14F-4D97-AF65-F5344CB8AC3E}">
        <p14:creationId xmlns:p14="http://schemas.microsoft.com/office/powerpoint/2010/main" val="154382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Projective geometry of 3D space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490682"/>
            <a:ext cx="10801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Point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297800"/>
            <a:ext cx="146685" cy="142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695" y="1221600"/>
            <a:ext cx="561975" cy="219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845" y="1221600"/>
            <a:ext cx="94678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1690" y="1490682"/>
            <a:ext cx="50230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1850" y="1490682"/>
            <a:ext cx="65138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145" y="1986685"/>
            <a:ext cx="7501225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Interchange points and planes by duality. Lines transform to other lines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036" y="1220647"/>
            <a:ext cx="1375410" cy="2209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67055" y="1490682"/>
            <a:ext cx="148516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96525" y="2676277"/>
            <a:ext cx="34653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In 4D we can define the object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25" y="3156815"/>
            <a:ext cx="2916555" cy="2724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6525" y="3561860"/>
            <a:ext cx="348670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This is homogenous, but NOT a blade. Also satisfies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25" y="4371950"/>
            <a:ext cx="2286000" cy="2781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66194" y="2676277"/>
            <a:ext cx="4183211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Bivectors form a 6 dimensional space</a:t>
            </a:r>
          </a:p>
          <a:p>
            <a:r>
              <a:rPr lang="en-GB" sz="2000" dirty="0" smtClean="0"/>
              <a:t>Blades represent lines</a:t>
            </a:r>
          </a:p>
          <a:p>
            <a:r>
              <a:rPr lang="en-GB" sz="2000" dirty="0" smtClean="0"/>
              <a:t>Test of intersection is</a:t>
            </a:r>
          </a:p>
          <a:p>
            <a:endParaRPr lang="en-GB" sz="2000" dirty="0" smtClean="0"/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425" y="3723065"/>
            <a:ext cx="1291590" cy="243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66194" y="4177413"/>
            <a:ext cx="411629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2 Bivectors with non-vanishing outer product are 2 lines missing each other</a:t>
            </a:r>
          </a:p>
        </p:txBody>
      </p:sp>
    </p:spTree>
    <p:extLst>
      <p:ext uri="{BB962C8B-B14F-4D97-AF65-F5344CB8AC3E}">
        <p14:creationId xmlns:p14="http://schemas.microsoft.com/office/powerpoint/2010/main" val="219311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Plucker</a:t>
            </a:r>
            <a:r>
              <a:rPr lang="en-GB" dirty="0" smtClean="0"/>
              <a:t> coordinates and intersection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L4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1" y="1221600"/>
            <a:ext cx="582498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Condition that a bivector </a:t>
            </a:r>
            <a:r>
              <a:rPr lang="en-GB" sz="2000" i="1" dirty="0" smtClean="0"/>
              <a:t>B</a:t>
            </a:r>
            <a:r>
              <a:rPr lang="en-GB" sz="2000" dirty="0" smtClean="0"/>
              <a:t> represents a line is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15" y="1266605"/>
            <a:ext cx="1194435" cy="2171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70" y="1669265"/>
            <a:ext cx="7071360" cy="272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1" y="1626645"/>
            <a:ext cx="100945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Write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56715"/>
            <a:ext cx="3175635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6750" y="2218968"/>
            <a:ext cx="21036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err="1" smtClean="0"/>
              <a:t>Plucker’s</a:t>
            </a:r>
            <a:r>
              <a:rPr lang="en-GB" sz="2000" dirty="0" smtClean="0"/>
              <a:t>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1" y="2714023"/>
            <a:ext cx="78308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 linear representation of a line, with a non-linear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427412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457201" y="3651870"/>
            <a:ext cx="76958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Suppose we want to intersect the line </a:t>
            </a:r>
            <a:r>
              <a:rPr lang="en-GB" sz="2000" i="1" dirty="0" smtClean="0">
                <a:solidFill>
                  <a:schemeClr val="bg1"/>
                </a:solidFill>
              </a:rPr>
              <a:t>L</a:t>
            </a:r>
            <a:r>
              <a:rPr lang="en-GB" sz="2000" dirty="0" smtClean="0">
                <a:solidFill>
                  <a:schemeClr val="bg1"/>
                </a:solidFill>
              </a:rPr>
              <a:t> with the plane </a:t>
            </a:r>
            <a:r>
              <a:rPr lang="en-GB" sz="2000" i="1" dirty="0" smtClean="0">
                <a:solidFill>
                  <a:schemeClr val="bg1"/>
                </a:solidFill>
              </a:rPr>
              <a:t>P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85" y="4024280"/>
            <a:ext cx="2933700" cy="29337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85" y="4416955"/>
            <a:ext cx="1419225" cy="2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3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L4 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9.7604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A + B = B + A&#10;\end{align*}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5.7166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(A+B)+C = A + (B+C) &#10;\end{align*}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A(BC) = (AB)C&#10;\end{align*}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2214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A(B+C) = AB+AC&#10;\end{align*}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6457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(B+C)A = BA + CA&#10;\end{align*}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2.682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A = \la A \ra_0 + \la A \ra_1 +  \la A \ra_2 + \cdots  &#10;\end{align*}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4552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\la A \ra_0 = \la A \ra \in \mathcal{R}&#10;\end{align*}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4.4571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\la A + B \ra_r = \la A \ra_r +\la B \ra_r &#10;\end{align*}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2.857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\la \la A \ra_r \ra_r =  \la A \ra_r &#10;\end{align*}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927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\la \lambda A \ra_r = \lambda \la A \ra_r&#10;\end{align*}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34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a^2 \in \mathcal{R}&#10;\end{align*}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7.5463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ab+ba = (a+b)^2 - a^2 - b^2&#10;\end{align*}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7.457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%\color{myGrey}&#10;\color{white}&#10;&#10;&#10;\begin{document}&#10;\begin{align*}&#10;a \dt b &amp;= \half(ab+ba) \\&#10;a \wdg b &amp;= \half(ab-ba) &#10;\end{align*}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8.501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%\color{white}&#10;&#10;&#10;\begin{document}&#10;\begin{align*}&#10;a_1 &amp;\wdg a_2 \wdg \cdots \wdg a_r = \\&#10;&amp;\frac{1}{r!} \sum (-1)^\epsilon a_{k_1} a_{k_2} \cdots a_{k_r}&#10;\end{align*}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53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%\color{white}&#10;&#10;&#10;\begin{document}&#10;\begin{align*}&#10;\{a_1 , \ldots a_r \}&#10;\end{align*}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4.4351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%\color{white}&#10;&#10;&#10;\begin{document}&#10;\begin{align*}&#10;a_1 \wdg a_2 \wdg \cdots \wdg a_r = e_1 e_2 \cdots e_r&#10;\end{align*}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"/>
  <p:tag name="ORIGINALWIDTH" val="58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\color{myGrey}&#10;%\color{white}&#10;&#10;&#10;\begin{document}&#10;\begin{align*}&#10;{\liM}_{ij} = a_i \dt a_j&#10;\end{align*}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7115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{\liR}_{ik}  {\liM}_{kl} {\liR}^{\mbox{\footnotesize t}}_{lj}  = {\liR}_{ik}&#10;{\liR}_{jl} {\liM}_{kl} = \Lambda_{ij}&#10;\end{align*}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"/>
  <p:tag name="ORIGINALWIDTH" val="517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e_i = {\liR}_{ij} a_j&#10;\end{align*}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1.712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e_i \dt e_j &#10;&amp;= ({\liR}_{ik} a_k) \dt ({\liR}_{jl} a_l) \\&#10;&amp;= {\liR}_{ik}{\liR}_{jl}{\liM}_{kl} \\&#10;&amp;= \Lambda_{ij}&#10;\end{align*}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9.8457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b = 2 a \dt b - ba&#10;\end{align*}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.848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(b \wdg c)&#10;&amp;= \half a(bc-cb) \\&#10;&amp;= a \dt b \, c - a \dt c \, b + \half(cab - bac) \\&#10;&amp;= 2 a \dt b \, c - 2 a \dt c \, b  + \half(bc-cb) a \\&#10;&amp;=  2 a \dt b \, c - 2 a \dt c \, b  + (b \wdg c) a &#10;\end{align*}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31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a \dt B = \half(aB - Ba)&#10;\end{align*}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8955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a \dt (b \wdg c) = a \dt b \, c - a \dt c \, b&#10;\end{align*}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166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a_1 a_2  \cdots a_r &#10;&amp;= 2 a \dt a_1 \, a_2 \cdots a_r - a_1 a a_2&#10;\cdots a_r \\&#10;&amp;= 2 \sum_{k=1}^{r} (-1)^{k+1} a \dt a_k \, a_1 a_2 \cdots&#10;\check{a}_k \cdots a_r + (-1)^r a_1 a_2  \cdots a_r a&#10;\end{align*}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3.942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a \dt A_r &#10;&amp;= \frac{1}{2} \Bigl(aA_r - (-1)^r A_r a \Bigr) \\&#10;&amp;= \la a A_r \ra_{r-1}&#10;\end{align*}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7.058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A_r &#10;&amp;= \frac{1}{2} \Bigl(aA_r + (-1)^r A_r a \Bigr) \\&#10;&amp;= \la a A_r \ra_{r+1}&#10;\end{align*}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.7542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_r B_s = \la A_r B_s \ra_{|r-s|} + \la A_r B_s \ra_{|r-s|+2} +&#10;\cdots +  \la A_r B_s \ra_{r+s}&#10;\end{align*}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2.460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_r \dt B_s &amp;= \la A_r B_s \ra_{|r-s|}  \\&#10;A_r \wdg B_s &amp;= \la A_r B_s \ra_{r+s}&#10;\end{align*}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1052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(A_r \wdg B_s) \wdg C_t &amp;= \la A_r B_s \ra_{r+s} \wdg C_t = \la (A_r B_s)&#10;C_t \ra_{r+s+t} \\&#10;&amp;= \la A_r B_s C_t \ra_{r+s+t} = A_r \wdg&#10;B_s \wdg C_t&#10;\end{align*}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9655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(ab \cdots c)^\sim = c \cdots ba&#10;\end{align*}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7195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tilde{A}_r = (-1)^{r(r-1)/2} A_r&#10;\end{align*}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5.3669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+ \, + \, - \, - \, + \, + \, -\, \cdots&#10;\end{align*}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5.382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\la AB \ra  = \sum_r \la A_r B_r \ra&#10;\end{align*}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3.201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\la AB \ra &amp;= \la BA \ra \\ &#10;\la ABC \ra &amp;= \la CAB \ra &#10;\end{align*}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793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times B = \half (AB -BA)&#10;\end{align*}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805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\crs A_r = \la B \crs A_r \ra_r&#10;\end{align*}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939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mapsto a' = R a \Rrev&#10;\end{align*}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6.812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a &amp;\mapsto R_2( R_1 a \Rrev_1) \Rrev_2 \\&#10;&amp;= R_2 R_1 a (  R_2 R_1 )^\sim&#10;\end{align*}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5"/>
  <p:tag name="ORIGINALWIDTH" val="47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R = R_2 R_1&#10;\end{align*}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61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R \Rrev = 1&#10;\end{align*}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8785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R \Rrev = R_2 R_1 \Rrev_1 \Rrev_2 = 1&#10;\end{align*}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5027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_r = a_1 a_2 \cdots a_r &#10;\end{align*}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0.339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_r &amp;\mapsto Ra_1\Rrev Ra_2 \Rrev \cdots Ra_r \Rrev \\&#10;&amp; = R a_1 a_2 \cdots a_r \Rrev&#10;\end{align*}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5.25"/>
  <p:tag name="ORIGINALWIDTH" val="63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_r \mapsto R A_r \Rrev&#10;\end{align*}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5"/>
  <p:tag name="ORIGINALWIDTH" val="48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myGrey}&#10;&#10;\begin{document}&#10;\begin{align*}&#10;R \mapsto R_\theta R&#10;\end{align*}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865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by}{\bm{y}}&#10;\newcommand{\dt}{\! \cdot \!}&#10;\newcommand{\wdg}{\! \wedge \!}&#10;\newcommand{\crs}{\! \times \!}&#10;\newcommand{\scp}{\! \ast \!}&#10;\newcommand{\half}{{\textstyle \frac{1}{2}}}&#10;\newcommand{\grad}{\nabla}&#10;&#10;\definecolor{myGrey}{RGB}{62,62,64}&#10;\color{myGrey}&#10;&#10;\begin{document}&#10;\begin{align*}&#10;R' = \exp(-\pi B) R = -R &#10;\end{align*}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1.467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R_\theta =&amp; \exp (-\theta B /2)&#10;\end{align*}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2.8935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f(\lambda a + \mu b) = \lambda f(a) + \mu f(b)&#10;\end{align*}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1381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f(a \wdg b \cdots) = f(a) \wdg f(b) \cdots&#10;\end{align*}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58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f(I) = \det(f) I&#10;\end{align*}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4.052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fg(a \wdg b \cdots)&#10;&amp;= fg(a) \wdg fg(b) \cdots \\&#10;&amp;= f\bigl( g(a) \wdg g(b) \dots \bigr) \\&#10;&amp;= f\bigl( g(a \wdg b \cdots) \bigr)&#10;\end{align*}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308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det (fg) I &amp;= fg (I) = f (g(I) \\&#10;&amp;= \det (g)  f(I) = \det (f) \det(g) I&#10;\end{align*}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62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(x_1, x_2)&#10;\end{align*}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3"/>
  <p:tag name="ORIGINALWIDTH" val="34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x = \frac{x_1}{x_2}&#10;\end{align*}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2.4611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bx = x_1 \be_1 + x_2 \be_2&#10;\end{align*}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bx&#10;\end{align*}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10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x_1&#10;\end{align*}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5"/>
  <p:tag name="ORIGINALWIDTH" val="10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x_2&#10;\end{align*}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1&#10;\end{align*}&#10;\end{document}"/>
  <p:tag name="IGUANATEXSIZE" val="1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1.59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bx \wdg \bm{y} &#10;&amp;= (x_1 y_2 - x_2 y_1) \be_1 \wdg \be_2 \\&#10;&amp;= x_2 y_2 (x-y) I&#10;\end{align*}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5"/>
  <p:tag name="ORIGINALWIDTH" val="406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\bx \mapsto \lambda \bx&#10;\end{align*}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188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d}{\bm{d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(ABCD) = \frac{AC}{BC} \frac{BD}{AD} = \frac{ \ba \wdg \bc}{ \bb&#10;\wdg \bc} \frac{\bb \wdg \bd}{\ba \wdg \bd}&#10;\end{align*}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6.5610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ba \wdg \bb \mapsto &#10;f(\ba) \wdg f(\bb) = \det(f) \, \ba\wdg\bb&#10;\end{align*}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&#10;\end{align*}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22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b&#10;\end{align*}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37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b \wdg c&#10;\end{align*}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0699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(A \vee B)^{\ast} = A^{\ast} \wdg B^{\ast}&#10;\end{align*}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9.136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%\color{myGrey}&#10;\color{white}&#10;&#10;&#10;\begin{document}&#10;\begin{align*}&#10;A \vee B &amp;= - I (IA) \wdg (IB) \\&#10;&amp;= I \la AB \ra_2 = \la IAB \ra_1&#10;\end{align*}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7.6503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(A \vee B) \wdg C = 0&#10;\end{align*}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0397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implies \la I ABC \ra_3 =0&#10;\end{align*}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54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\la ABC \ra = 0&#10;\end{align*}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.3773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 A = b \wdg c, \quad B = c\wdg a , \quad C = a \wdg b&#10;\end{align*}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6.3940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 P = a \wdg a', \quad Q = b \wdg b', \quad R = c \wdg c'&#10;\end{align*}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1.0772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 p = A \crs A' \, I, \quad q = B \crs B' \, I, \quad r = C&#10;\crs C' \,I&#10;\end{align*}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5.3876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I p \wdg q \wdg r = \la a \wdg b \wdg c \, a' \wdg b' \wdg c' \ra&#10;\la PQR \ra&#10;\end{align*}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5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&#10;\end{align*}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22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b&#10;\end{align*}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37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b \wdg c&#10;\end{align*}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"/>
  <p:tag name="ORIGINALWIDTH" val="541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a \wdg b \wdg c\wdg d&#10;\end{align*}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7.2501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= \alpha e_1 \wdg e_2 +\beta e_3 \wdg e_4&#10;\end{align*}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\wdg B = 2 \alpha \beta I \neq 0&#10;\end{align*}&#10;\end{document}"/>
  <p:tag name="IGUANATEXSIZE" val="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6"/>
  <p:tag name="ORIGINALWIDTH" val="50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\wdg B' = 0&#10;\end{align*}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47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\wdg B = 0&#10;\end{align*}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7370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= (a_1e_1 + a_2 e_2 + a_3 e_3)e_4 +&#10; b_1 e_2e_3 + b_2 e_3 e_1 + b_3 e_1e_2&#10;\end{align*}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1955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B \wdg B = \ba \dt \bb e_1e_2e_3e_4 = 0&#10;\end{align*}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\color{white}&#10;&#10;&#10;\begin{document}&#10;\begin{align*}&#10;x = L \vee P = (L^\ast \wdg P^\ast)^\ast&#10;\end{align*}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558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\color{white}&#10;&#10;&#10;\begin{document}&#10;\begin{align*}&#10;x = \la I PL \ra_1&#10;\end{align*}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3434</TotalTime>
  <Words>727</Words>
  <Application>Microsoft Office PowerPoint</Application>
  <PresentationFormat>On-screen Show (16:9)</PresentationFormat>
  <Paragraphs>136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Geometric Algebra</vt:lpstr>
      <vt:lpstr>Axioms</vt:lpstr>
      <vt:lpstr>Axioms</vt:lpstr>
      <vt:lpstr>Simplifying result</vt:lpstr>
      <vt:lpstr>Decomposing products</vt:lpstr>
      <vt:lpstr>General result</vt:lpstr>
      <vt:lpstr>General product</vt:lpstr>
      <vt:lpstr>Reverse, scalar product and commutator</vt:lpstr>
      <vt:lpstr>Rotations</vt:lpstr>
      <vt:lpstr>Fermions?</vt:lpstr>
      <vt:lpstr>Unification</vt:lpstr>
      <vt:lpstr>Linear algebra</vt:lpstr>
      <vt:lpstr>Projective geometry</vt:lpstr>
      <vt:lpstr>Projective line</vt:lpstr>
      <vt:lpstr>Cross ratio</vt:lpstr>
      <vt:lpstr>Projective plane</vt:lpstr>
      <vt:lpstr>Example</vt:lpstr>
      <vt:lpstr>Projective geometry of 3D space</vt:lpstr>
      <vt:lpstr>Plucker coordinates and intersection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218</cp:revision>
  <dcterms:created xsi:type="dcterms:W3CDTF">2015-03-03T13:28:34Z</dcterms:created>
  <dcterms:modified xsi:type="dcterms:W3CDTF">2015-10-14T16:11:56Z</dcterms:modified>
</cp:coreProperties>
</file>