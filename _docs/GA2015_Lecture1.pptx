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3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256" r:id="rId2"/>
    <p:sldId id="310" r:id="rId3"/>
    <p:sldId id="311" r:id="rId4"/>
    <p:sldId id="257" r:id="rId5"/>
    <p:sldId id="312" r:id="rId6"/>
    <p:sldId id="314" r:id="rId7"/>
    <p:sldId id="258" r:id="rId8"/>
    <p:sldId id="260" r:id="rId9"/>
    <p:sldId id="261" r:id="rId10"/>
    <p:sldId id="313" r:id="rId11"/>
    <p:sldId id="262" r:id="rId12"/>
    <p:sldId id="315" r:id="rId13"/>
    <p:sldId id="263" r:id="rId14"/>
    <p:sldId id="264" r:id="rId15"/>
    <p:sldId id="265" r:id="rId16"/>
    <p:sldId id="266" r:id="rId17"/>
    <p:sldId id="275" r:id="rId18"/>
    <p:sldId id="316" r:id="rId19"/>
    <p:sldId id="317" r:id="rId20"/>
    <p:sldId id="318" r:id="rId21"/>
    <p:sldId id="319" r:id="rId22"/>
  </p:sldIdLst>
  <p:sldSz cx="9144000" cy="5143500" type="screen16x9"/>
  <p:notesSz cx="7099300" cy="10234613"/>
  <p:defaultTextStyle>
    <a:defPPr>
      <a:defRPr lang="en-US"/>
    </a:defPPr>
    <a:lvl1pPr marL="0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7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1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5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98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37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78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17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>
        <p:scale>
          <a:sx n="140" d="100"/>
          <a:sy n="140" d="100"/>
        </p:scale>
        <p:origin x="-792" y="-150"/>
      </p:cViewPr>
      <p:guideLst>
        <p:guide orient="horz" pos="826"/>
        <p:guide orient="horz" pos="2414"/>
        <p:guide orient="horz" pos="1620"/>
        <p:guide orient="horz" pos="2159"/>
        <p:guide orient="horz" pos="1081"/>
        <p:guide pos="1916"/>
        <p:guide pos="1463"/>
        <p:guide pos="4297"/>
        <p:guide pos="2880"/>
        <p:guide pos="38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CD7AC06E-65D4-4CC2-B345-9F25CE0DBBC4}" type="datetimeFigureOut">
              <a:rPr lang="en-GB" smtClean="0"/>
              <a:t>14/10/2015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15719D0C-A623-4134-ACE2-8871D95CA7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0032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719D0C-A623-4134-ACE2-8871D95CA73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069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300" dirty="0">
                <a:solidFill>
                  <a:schemeClr val="tx2"/>
                </a:solidFill>
              </a:rPr>
              <a:t>Discovered by Hamilton in 1843 while out walking  and carved onto Brougham Bridge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719D0C-A623-4134-ACE2-8871D95CA73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542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719D0C-A623-4134-ACE2-8871D95CA73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262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1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1" y="2914651"/>
            <a:ext cx="6400800" cy="131444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1401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9917"/>
            <a:ext cx="8229600" cy="653143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0"/>
            <a:endParaRPr lang="en-US" dirty="0" smtClean="0"/>
          </a:p>
        </p:txBody>
      </p:sp>
      <p:sp>
        <p:nvSpPr>
          <p:cNvPr id="7" name="Rectangle 6"/>
          <p:cNvSpPr/>
          <p:nvPr userDrawn="1"/>
        </p:nvSpPr>
        <p:spPr>
          <a:xfrm>
            <a:off x="0" y="326570"/>
            <a:ext cx="457201" cy="4665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7010400" y="5280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dirty="0" smtClean="0"/>
              <a:t>L1 S</a:t>
            </a:r>
            <a:fld id="{1587A628-B517-4FCF-B705-E1D0C777402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40864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1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4"/>
            <a:ext cx="7772401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3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79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37141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5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6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3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97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1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1" y="4767265"/>
            <a:ext cx="2133600" cy="273843"/>
          </a:xfrm>
          <a:prstGeom prst="rect">
            <a:avLst/>
          </a:prstGeom>
        </p:spPr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263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200150"/>
            <a:ext cx="4038600" cy="3394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1" y="4767265"/>
            <a:ext cx="2133600" cy="273843"/>
          </a:xfrm>
          <a:prstGeom prst="rect">
            <a:avLst/>
          </a:prstGeom>
        </p:spPr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36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4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9" indent="0">
              <a:buNone/>
              <a:defRPr sz="2000" b="1"/>
            </a:lvl2pPr>
            <a:lvl3pPr marL="914279" indent="0">
              <a:buNone/>
              <a:defRPr sz="1800" b="1"/>
            </a:lvl3pPr>
            <a:lvl4pPr marL="1371419" indent="0">
              <a:buNone/>
              <a:defRPr sz="1700" b="1"/>
            </a:lvl4pPr>
            <a:lvl5pPr marL="1828559" indent="0">
              <a:buNone/>
              <a:defRPr sz="1700" b="1"/>
            </a:lvl5pPr>
            <a:lvl6pPr marL="2285698" indent="0">
              <a:buNone/>
              <a:defRPr sz="1700" b="1"/>
            </a:lvl6pPr>
            <a:lvl7pPr marL="2742837" indent="0">
              <a:buNone/>
              <a:defRPr sz="1700" b="1"/>
            </a:lvl7pPr>
            <a:lvl8pPr marL="3199978" indent="0">
              <a:buNone/>
              <a:defRPr sz="1700" b="1"/>
            </a:lvl8pPr>
            <a:lvl9pPr marL="3657117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4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9" indent="0">
              <a:buNone/>
              <a:defRPr sz="2000" b="1"/>
            </a:lvl2pPr>
            <a:lvl3pPr marL="914279" indent="0">
              <a:buNone/>
              <a:defRPr sz="1800" b="1"/>
            </a:lvl3pPr>
            <a:lvl4pPr marL="1371419" indent="0">
              <a:buNone/>
              <a:defRPr sz="1700" b="1"/>
            </a:lvl4pPr>
            <a:lvl5pPr marL="1828559" indent="0">
              <a:buNone/>
              <a:defRPr sz="1700" b="1"/>
            </a:lvl5pPr>
            <a:lvl6pPr marL="2285698" indent="0">
              <a:buNone/>
              <a:defRPr sz="1700" b="1"/>
            </a:lvl6pPr>
            <a:lvl7pPr marL="2742837" indent="0">
              <a:buNone/>
              <a:defRPr sz="1700" b="1"/>
            </a:lvl7pPr>
            <a:lvl8pPr marL="3199978" indent="0">
              <a:buNone/>
              <a:defRPr sz="1700" b="1"/>
            </a:lvl8pPr>
            <a:lvl9pPr marL="3657117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7"/>
            <a:ext cx="4041775" cy="296346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1" y="4767265"/>
            <a:ext cx="2133600" cy="273843"/>
          </a:xfrm>
          <a:prstGeom prst="rect">
            <a:avLst/>
          </a:prstGeom>
        </p:spPr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622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1" y="4767265"/>
            <a:ext cx="2133600" cy="273843"/>
          </a:xfrm>
          <a:prstGeom prst="rect">
            <a:avLst/>
          </a:prstGeom>
        </p:spPr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009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1" y="4767265"/>
            <a:ext cx="2133600" cy="273843"/>
          </a:xfrm>
          <a:prstGeom prst="rect">
            <a:avLst/>
          </a:prstGeom>
        </p:spPr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774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39" indent="0">
              <a:buNone/>
              <a:defRPr sz="1200"/>
            </a:lvl2pPr>
            <a:lvl3pPr marL="914279" indent="0">
              <a:buNone/>
              <a:defRPr sz="900"/>
            </a:lvl3pPr>
            <a:lvl4pPr marL="1371419" indent="0">
              <a:buNone/>
              <a:defRPr sz="900"/>
            </a:lvl4pPr>
            <a:lvl5pPr marL="1828559" indent="0">
              <a:buNone/>
              <a:defRPr sz="900"/>
            </a:lvl5pPr>
            <a:lvl6pPr marL="2285698" indent="0">
              <a:buNone/>
              <a:defRPr sz="900"/>
            </a:lvl6pPr>
            <a:lvl7pPr marL="2742837" indent="0">
              <a:buNone/>
              <a:defRPr sz="900"/>
            </a:lvl7pPr>
            <a:lvl8pPr marL="3199978" indent="0">
              <a:buNone/>
              <a:defRPr sz="900"/>
            </a:lvl8pPr>
            <a:lvl9pPr marL="3657117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1" y="4767265"/>
            <a:ext cx="2133600" cy="273843"/>
          </a:xfrm>
          <a:prstGeom prst="rect">
            <a:avLst/>
          </a:prstGeom>
        </p:spPr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769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2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39" indent="0">
              <a:buNone/>
              <a:defRPr sz="2800"/>
            </a:lvl2pPr>
            <a:lvl3pPr marL="914279" indent="0">
              <a:buNone/>
              <a:defRPr sz="2400"/>
            </a:lvl3pPr>
            <a:lvl4pPr marL="1371419" indent="0">
              <a:buNone/>
              <a:defRPr sz="2000"/>
            </a:lvl4pPr>
            <a:lvl5pPr marL="1828559" indent="0">
              <a:buNone/>
              <a:defRPr sz="2000"/>
            </a:lvl5pPr>
            <a:lvl6pPr marL="2285698" indent="0">
              <a:buNone/>
              <a:defRPr sz="2000"/>
            </a:lvl6pPr>
            <a:lvl7pPr marL="2742837" indent="0">
              <a:buNone/>
              <a:defRPr sz="2000"/>
            </a:lvl7pPr>
            <a:lvl8pPr marL="3199978" indent="0">
              <a:buNone/>
              <a:defRPr sz="2000"/>
            </a:lvl8pPr>
            <a:lvl9pPr marL="3657117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139" indent="0">
              <a:buNone/>
              <a:defRPr sz="1200"/>
            </a:lvl2pPr>
            <a:lvl3pPr marL="914279" indent="0">
              <a:buNone/>
              <a:defRPr sz="900"/>
            </a:lvl3pPr>
            <a:lvl4pPr marL="1371419" indent="0">
              <a:buNone/>
              <a:defRPr sz="900"/>
            </a:lvl4pPr>
            <a:lvl5pPr marL="1828559" indent="0">
              <a:buNone/>
              <a:defRPr sz="900"/>
            </a:lvl5pPr>
            <a:lvl6pPr marL="2285698" indent="0">
              <a:buNone/>
              <a:defRPr sz="900"/>
            </a:lvl6pPr>
            <a:lvl7pPr marL="2742837" indent="0">
              <a:buNone/>
              <a:defRPr sz="900"/>
            </a:lvl7pPr>
            <a:lvl8pPr marL="3199978" indent="0">
              <a:buNone/>
              <a:defRPr sz="900"/>
            </a:lvl8pPr>
            <a:lvl9pPr marL="3657117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1" y="4767265"/>
            <a:ext cx="2133600" cy="273843"/>
          </a:xfrm>
          <a:prstGeom prst="rect">
            <a:avLst/>
          </a:prstGeom>
        </p:spPr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0219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1" y="4767265"/>
            <a:ext cx="2133600" cy="273843"/>
          </a:xfrm>
          <a:prstGeom prst="rect">
            <a:avLst/>
          </a:prstGeom>
        </p:spPr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201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205980"/>
            <a:ext cx="2057400" cy="438864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1" y="4767265"/>
            <a:ext cx="2133600" cy="273843"/>
          </a:xfrm>
          <a:prstGeom prst="rect">
            <a:avLst/>
          </a:prstGeom>
        </p:spPr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927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1" y="205979"/>
            <a:ext cx="8229600" cy="857250"/>
          </a:xfrm>
          <a:prstGeom prst="rect">
            <a:avLst/>
          </a:prstGeom>
        </p:spPr>
        <p:txBody>
          <a:bodyPr vert="horz" lIns="91428" tIns="45714" rIns="91428" bIns="4571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200150"/>
            <a:ext cx="8229600" cy="3394473"/>
          </a:xfrm>
          <a:prstGeom prst="rect">
            <a:avLst/>
          </a:prstGeom>
        </p:spPr>
        <p:txBody>
          <a:bodyPr vert="horz" lIns="91428" tIns="45714" rIns="91428" bIns="45714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4767265"/>
            <a:ext cx="2133600" cy="273843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4767265"/>
            <a:ext cx="2895600" cy="273843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553201" y="4768947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587A628-B517-4FCF-B705-E1D0C777402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210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27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4" indent="-342854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2" indent="-285713" algn="l" defTabSz="914279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49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8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29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6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0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47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8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7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1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98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37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8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7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3.xml"/><Relationship Id="rId7" Type="http://schemas.openxmlformats.org/officeDocument/2006/relationships/image" Target="../media/image7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9.xml"/><Relationship Id="rId7" Type="http://schemas.openxmlformats.org/officeDocument/2006/relationships/image" Target="../media/image13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2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9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8.png"/><Relationship Id="rId5" Type="http://schemas.openxmlformats.org/officeDocument/2006/relationships/image" Target="../media/image17.jpeg"/><Relationship Id="rId4" Type="http://schemas.openxmlformats.org/officeDocument/2006/relationships/notesSlide" Target="../notesSlides/notesSlide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tags" Target="../tags/tag15.xml"/><Relationship Id="rId7" Type="http://schemas.openxmlformats.org/officeDocument/2006/relationships/image" Target="../media/image21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25.png"/><Relationship Id="rId5" Type="http://schemas.openxmlformats.org/officeDocument/2006/relationships/tags" Target="../tags/tag17.xml"/><Relationship Id="rId10" Type="http://schemas.openxmlformats.org/officeDocument/2006/relationships/image" Target="../media/image24.png"/><Relationship Id="rId4" Type="http://schemas.openxmlformats.org/officeDocument/2006/relationships/tags" Target="../tags/tag16.xml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tags" Target="../tags/tag20.xml"/><Relationship Id="rId7" Type="http://schemas.openxmlformats.org/officeDocument/2006/relationships/image" Target="../media/image28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tags" Target="../tags/tag23.xml"/><Relationship Id="rId7" Type="http://schemas.openxmlformats.org/officeDocument/2006/relationships/image" Target="../media/image31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30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4.xml"/><Relationship Id="rId9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7" Type="http://schemas.openxmlformats.org/officeDocument/2006/relationships/image" Target="../media/image38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tags" Target="../tags/tag31.xml"/><Relationship Id="rId7" Type="http://schemas.openxmlformats.org/officeDocument/2006/relationships/notesSlide" Target="../notesSlides/notesSlide3.xml"/><Relationship Id="rId12" Type="http://schemas.openxmlformats.org/officeDocument/2006/relationships/image" Target="../media/image43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42.png"/><Relationship Id="rId5" Type="http://schemas.openxmlformats.org/officeDocument/2006/relationships/tags" Target="../tags/tag33.xml"/><Relationship Id="rId10" Type="http://schemas.openxmlformats.org/officeDocument/2006/relationships/image" Target="../media/image41.png"/><Relationship Id="rId4" Type="http://schemas.openxmlformats.org/officeDocument/2006/relationships/tags" Target="../tags/tag32.xml"/><Relationship Id="rId9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image" Target="../media/image47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image" Target="../media/image50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tags" Target="../tags/tag43.xml"/><Relationship Id="rId7" Type="http://schemas.openxmlformats.org/officeDocument/2006/relationships/image" Target="../media/image51.pn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55.png"/><Relationship Id="rId5" Type="http://schemas.openxmlformats.org/officeDocument/2006/relationships/tags" Target="../tags/tag45.xml"/><Relationship Id="rId10" Type="http://schemas.openxmlformats.org/officeDocument/2006/relationships/image" Target="../media/image54.png"/><Relationship Id="rId4" Type="http://schemas.openxmlformats.org/officeDocument/2006/relationships/tags" Target="../tags/tag44.xml"/><Relationship Id="rId9" Type="http://schemas.openxmlformats.org/officeDocument/2006/relationships/image" Target="../media/image5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5225" y="1716321"/>
            <a:ext cx="6467256" cy="720414"/>
          </a:xfrm>
        </p:spPr>
        <p:txBody>
          <a:bodyPr>
            <a:normAutofit/>
          </a:bodyPr>
          <a:lstStyle/>
          <a:p>
            <a:pPr algn="r"/>
            <a:r>
              <a:rPr lang="en-GB" sz="3200" dirty="0" smtClean="0"/>
              <a:t>Geometric Algebra</a:t>
            </a:r>
            <a:endParaRPr lang="en-GB" sz="3200" dirty="0"/>
          </a:p>
        </p:txBody>
      </p:sp>
      <p:sp>
        <p:nvSpPr>
          <p:cNvPr id="6" name="Rectangle 5"/>
          <p:cNvSpPr/>
          <p:nvPr/>
        </p:nvSpPr>
        <p:spPr>
          <a:xfrm>
            <a:off x="-1" y="2104724"/>
            <a:ext cx="2096725" cy="7730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2591780" y="2392064"/>
            <a:ext cx="6210690" cy="0"/>
          </a:xfrm>
          <a:prstGeom prst="line">
            <a:avLst/>
          </a:pr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89717" y="3860634"/>
            <a:ext cx="1802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 smtClean="0">
                <a:solidFill>
                  <a:schemeClr val="tx1">
                    <a:lumMod val="75000"/>
                  </a:schemeClr>
                </a:solidFill>
              </a:rPr>
              <a:t>Dr Chris Doran</a:t>
            </a:r>
          </a:p>
          <a:p>
            <a:pPr algn="r"/>
            <a:r>
              <a:rPr lang="en-GB" dirty="0" smtClean="0">
                <a:solidFill>
                  <a:schemeClr val="tx1">
                    <a:lumMod val="75000"/>
                  </a:schemeClr>
                </a:solidFill>
              </a:rPr>
              <a:t>ARM Research</a:t>
            </a:r>
          </a:p>
        </p:txBody>
      </p:sp>
      <p:pic>
        <p:nvPicPr>
          <p:cNvPr id="8" name="Picture 2" descr="C:\Users\chrdor01\Dropbox\Star2015\website\William_Kingdon_Clifford_by_John_Collier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1" b="20918"/>
          <a:stretch/>
        </p:blipFill>
        <p:spPr bwMode="auto">
          <a:xfrm>
            <a:off x="-14263" y="1699680"/>
            <a:ext cx="1343885" cy="117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986935" y="2498297"/>
            <a:ext cx="48155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2000" dirty="0" smtClean="0"/>
              <a:t>1. Geometric Algebra in 2 Dimensions</a:t>
            </a:r>
          </a:p>
        </p:txBody>
      </p:sp>
    </p:spTree>
    <p:extLst>
      <p:ext uri="{BB962C8B-B14F-4D97-AF65-F5344CB8AC3E}">
        <p14:creationId xmlns:p14="http://schemas.microsoft.com/office/powerpoint/2010/main" val="307165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8870" y="1311274"/>
            <a:ext cx="4590870" cy="3832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4572000" y="1304810"/>
            <a:ext cx="4572000" cy="38322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mtClean="0"/>
              <a:t>Introduction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61510" y="1401620"/>
            <a:ext cx="4185465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Present GA as a new mathematical technique</a:t>
            </a:r>
          </a:p>
          <a:p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dirty="0" smtClean="0">
                <a:solidFill>
                  <a:schemeClr val="bg1"/>
                </a:solidFill>
              </a:rPr>
              <a:t>Introduce techniques </a:t>
            </a:r>
            <a:r>
              <a:rPr lang="en-GB" sz="2000" dirty="0">
                <a:solidFill>
                  <a:schemeClr val="bg1"/>
                </a:solidFill>
              </a:rPr>
              <a:t>through </a:t>
            </a:r>
            <a:r>
              <a:rPr lang="en-GB" sz="2000" dirty="0" smtClean="0">
                <a:solidFill>
                  <a:schemeClr val="bg1"/>
                </a:solidFill>
              </a:rPr>
              <a:t>their applications</a:t>
            </a:r>
          </a:p>
          <a:p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dirty="0" smtClean="0">
                <a:solidFill>
                  <a:schemeClr val="bg1"/>
                </a:solidFill>
              </a:rPr>
              <a:t>Emphasise  </a:t>
            </a:r>
            <a:r>
              <a:rPr lang="en-GB" sz="2000" dirty="0">
                <a:solidFill>
                  <a:schemeClr val="bg1"/>
                </a:solidFill>
              </a:rPr>
              <a:t>the </a:t>
            </a:r>
            <a:r>
              <a:rPr lang="en-GB" sz="2000" dirty="0" smtClean="0">
                <a:solidFill>
                  <a:schemeClr val="bg1"/>
                </a:solidFill>
              </a:rPr>
              <a:t>generality and portability </a:t>
            </a:r>
            <a:r>
              <a:rPr lang="en-GB" sz="2000" dirty="0">
                <a:solidFill>
                  <a:schemeClr val="bg1"/>
                </a:solidFill>
              </a:rPr>
              <a:t>of </a:t>
            </a:r>
            <a:r>
              <a:rPr lang="en-GB" sz="2000" dirty="0" smtClean="0">
                <a:solidFill>
                  <a:schemeClr val="bg1"/>
                </a:solidFill>
              </a:rPr>
              <a:t>GA</a:t>
            </a:r>
          </a:p>
          <a:p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dirty="0">
                <a:solidFill>
                  <a:schemeClr val="bg1"/>
                </a:solidFill>
              </a:rPr>
              <a:t>P</a:t>
            </a:r>
            <a:r>
              <a:rPr lang="en-GB" sz="2000" dirty="0" smtClean="0">
                <a:solidFill>
                  <a:schemeClr val="bg1"/>
                </a:solidFill>
              </a:rPr>
              <a:t>romote </a:t>
            </a:r>
            <a:r>
              <a:rPr lang="en-GB" sz="2000" dirty="0">
                <a:solidFill>
                  <a:schemeClr val="bg1"/>
                </a:solidFill>
              </a:rPr>
              <a:t>a </a:t>
            </a:r>
            <a:r>
              <a:rPr lang="en-GB" sz="2000" dirty="0" smtClean="0">
                <a:solidFill>
                  <a:schemeClr val="bg1"/>
                </a:solidFill>
              </a:rPr>
              <a:t>cross-disciplinary </a:t>
            </a:r>
            <a:r>
              <a:rPr lang="en-GB" sz="2000" dirty="0">
                <a:solidFill>
                  <a:schemeClr val="bg1"/>
                </a:solidFill>
              </a:rPr>
              <a:t>view of </a:t>
            </a:r>
            <a:r>
              <a:rPr lang="en-GB" sz="2000" dirty="0" smtClean="0">
                <a:solidFill>
                  <a:schemeClr val="bg1"/>
                </a:solidFill>
              </a:rPr>
              <a:t>science</a:t>
            </a:r>
            <a:endParaRPr lang="en-GB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 smtClean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42030" y="1736976"/>
            <a:ext cx="4095455" cy="2769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defTabSz="540000">
              <a:buFont typeface="Arial" panose="020B0604020202020204" pitchFamily="34" charset="0"/>
              <a:buChar char="•"/>
            </a:pPr>
            <a:r>
              <a:rPr lang="en-GB" sz="2000" dirty="0" smtClean="0"/>
              <a:t>Rotations in arbitrary dimensions</a:t>
            </a:r>
          </a:p>
          <a:p>
            <a:pPr marL="342900" indent="-342900" defTabSz="540000">
              <a:buFont typeface="Arial" panose="020B0604020202020204" pitchFamily="34" charset="0"/>
              <a:buChar char="•"/>
            </a:pPr>
            <a:r>
              <a:rPr lang="en-GB" sz="2000" dirty="0" smtClean="0"/>
              <a:t>Lorentz transformations</a:t>
            </a:r>
          </a:p>
          <a:p>
            <a:pPr marL="342900" indent="-342900" defTabSz="540000">
              <a:buFont typeface="Arial" panose="020B0604020202020204" pitchFamily="34" charset="0"/>
              <a:buChar char="•"/>
            </a:pPr>
            <a:r>
              <a:rPr lang="en-GB" sz="2000" dirty="0" smtClean="0"/>
              <a:t>Lie groups</a:t>
            </a:r>
          </a:p>
          <a:p>
            <a:pPr marL="342900" indent="-342900" defTabSz="540000">
              <a:buFont typeface="Arial" panose="020B0604020202020204" pitchFamily="34" charset="0"/>
              <a:buChar char="•"/>
            </a:pPr>
            <a:r>
              <a:rPr lang="en-GB" sz="2000" dirty="0" smtClean="0"/>
              <a:t>Analytic functions</a:t>
            </a:r>
          </a:p>
          <a:p>
            <a:pPr marL="342900" indent="-342900" defTabSz="540000">
              <a:buFont typeface="Arial" panose="020B0604020202020204" pitchFamily="34" charset="0"/>
              <a:buChar char="•"/>
            </a:pPr>
            <a:r>
              <a:rPr lang="en-GB" sz="2000" dirty="0" smtClean="0"/>
              <a:t>Unifying Maxwell’s equations</a:t>
            </a:r>
          </a:p>
          <a:p>
            <a:pPr marL="342900" indent="-342900" defTabSz="540000">
              <a:buFont typeface="Arial" panose="020B0604020202020204" pitchFamily="34" charset="0"/>
              <a:buChar char="•"/>
            </a:pPr>
            <a:r>
              <a:rPr lang="en-GB" sz="2000" dirty="0" smtClean="0"/>
              <a:t>Projective and conformal geometries</a:t>
            </a:r>
          </a:p>
          <a:p>
            <a:pPr marL="342900" indent="-342900" defTabSz="540000">
              <a:buFont typeface="Arial" panose="020B0604020202020204" pitchFamily="34" charset="0"/>
              <a:buChar char="•"/>
            </a:pPr>
            <a:r>
              <a:rPr lang="en-GB" sz="2000" dirty="0" smtClean="0"/>
              <a:t>Coding with GA</a:t>
            </a:r>
          </a:p>
          <a:p>
            <a:pPr marL="342900" indent="-342900" defTabSz="540000">
              <a:buFont typeface="Arial" panose="020B0604020202020204" pitchFamily="34" charset="0"/>
              <a:buChar char="•"/>
            </a:pPr>
            <a:endParaRPr lang="en-GB" sz="2000" dirty="0" smtClean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mtClean="0"/>
              <a:t>L1 S</a:t>
            </a:r>
            <a:fld id="{1587A628-B517-4FCF-B705-E1D0C7774025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1493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Resources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1311274"/>
            <a:ext cx="9144000" cy="3832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791580" y="1867345"/>
            <a:ext cx="3240360" cy="2954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geometry.mrao.cam.ac.uk</a:t>
            </a:r>
            <a:b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chris.doran@arm.com</a:t>
            </a: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cjld1@cam.ac.uk</a:t>
            </a: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@</a:t>
            </a:r>
            <a:r>
              <a:rPr lang="en-GB" sz="2400" dirty="0" err="1" smtClean="0">
                <a:solidFill>
                  <a:schemeClr val="bg1"/>
                </a:solidFill>
                <a:latin typeface="Calibri Light" panose="020F0302020204030204" pitchFamily="34" charset="0"/>
              </a:rPr>
              <a:t>chrisjldoran</a:t>
            </a: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#</a:t>
            </a:r>
            <a:r>
              <a:rPr lang="en-GB" sz="2400" dirty="0" err="1" smtClean="0">
                <a:solidFill>
                  <a:schemeClr val="bg1"/>
                </a:solidFill>
                <a:latin typeface="Calibri Light" panose="020F0302020204030204" pitchFamily="34" charset="0"/>
              </a:rPr>
              <a:t>geometricalgebra</a:t>
            </a: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>
                <a:solidFill>
                  <a:schemeClr val="bg1"/>
                </a:solidFill>
                <a:latin typeface="Calibri Light" panose="020F0302020204030204" pitchFamily="34" charset="0"/>
              </a:rPr>
              <a:t>github.com/</a:t>
            </a:r>
            <a:r>
              <a:rPr lang="en-GB" sz="2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ga</a:t>
            </a:r>
            <a:endParaRPr lang="en-GB" sz="240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/>
            </a:r>
            <a:b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</a:b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7" name="Picture 6" descr="cov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8665" y="825550"/>
            <a:ext cx="3015335" cy="4317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mtClean="0"/>
              <a:t>L1 S</a:t>
            </a:r>
            <a:fld id="{1587A628-B517-4FCF-B705-E1D0C7774025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371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Some history</a:t>
            </a:r>
            <a:endParaRPr lang="en-GB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69" t="15385" r="17018" b="6250"/>
          <a:stretch/>
        </p:blipFill>
        <p:spPr bwMode="auto">
          <a:xfrm>
            <a:off x="1" y="1313957"/>
            <a:ext cx="3041649" cy="2674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03" t="15901" r="13497" b="30795"/>
          <a:stretch/>
        </p:blipFill>
        <p:spPr bwMode="auto">
          <a:xfrm>
            <a:off x="3041650" y="1313957"/>
            <a:ext cx="3060700" cy="2674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7" name="Picture 2" descr="C:\Users\chrdor01\Dropbox\Star2015\website\William_Kingdon_Clifford_by_John_Collier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1" b="20918"/>
          <a:stretch/>
        </p:blipFill>
        <p:spPr bwMode="auto">
          <a:xfrm>
            <a:off x="6102349" y="1313957"/>
            <a:ext cx="3050490" cy="2674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14775" y="4185919"/>
            <a:ext cx="181209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William Hamilton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0160" y="4185919"/>
            <a:ext cx="220368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Hermann Grassmann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2181" y="4185919"/>
            <a:ext cx="161082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William Clifford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mtClean="0"/>
              <a:t>L1 S</a:t>
            </a:r>
            <a:fld id="{1587A628-B517-4FCF-B705-E1D0C7774025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6863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mtClean="0"/>
              <a:t>Vectors and Vector Spaces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41" y="3117760"/>
            <a:ext cx="1704975" cy="219075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457201" y="1145334"/>
            <a:ext cx="2700300" cy="1786456"/>
            <a:chOff x="4211960" y="868046"/>
            <a:chExt cx="2700300" cy="1786456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4211960" y="2346725"/>
              <a:ext cx="1845205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flipV="1">
              <a:off x="4211960" y="1176595"/>
              <a:ext cx="922602" cy="117013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5134562" y="1176595"/>
              <a:ext cx="1777698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V="1">
              <a:off x="5989658" y="1176595"/>
              <a:ext cx="922602" cy="117013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V="1">
              <a:off x="4211960" y="1176595"/>
              <a:ext cx="2655295" cy="1170130"/>
            </a:xfrm>
            <a:prstGeom prst="straightConnector1">
              <a:avLst/>
            </a:prstGeom>
            <a:ln w="19050"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4572000" y="1453883"/>
              <a:ext cx="31503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674623" y="868046"/>
              <a:ext cx="31503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GB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034318" y="1498888"/>
              <a:ext cx="662807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a+b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977044" y="2346725"/>
              <a:ext cx="31503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450959" y="1646826"/>
              <a:ext cx="31503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cxnSp>
        <p:nvCxnSpPr>
          <p:cNvPr id="22" name="Straight Arrow Connector 21"/>
          <p:cNvCxnSpPr/>
          <p:nvPr/>
        </p:nvCxnSpPr>
        <p:spPr>
          <a:xfrm flipV="1">
            <a:off x="4932040" y="1299222"/>
            <a:ext cx="900100" cy="154255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5832140" y="1145334"/>
            <a:ext cx="1395155" cy="15388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227295" y="1145334"/>
            <a:ext cx="990110" cy="63084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4932040" y="1145334"/>
            <a:ext cx="2295255" cy="1696446"/>
          </a:xfrm>
          <a:prstGeom prst="straightConnector1">
            <a:avLst/>
          </a:prstGeom>
          <a:ln w="1905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4932040" y="1776176"/>
            <a:ext cx="3285365" cy="1065604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5832140" y="1299222"/>
            <a:ext cx="2385265" cy="476954"/>
          </a:xfrm>
          <a:prstGeom prst="straightConnector1">
            <a:avLst/>
          </a:prstGeom>
          <a:ln w="1905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157065" y="1839668"/>
            <a:ext cx="3150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4682" y="934481"/>
            <a:ext cx="3150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GB" sz="2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677345" y="1145333"/>
            <a:ext cx="3150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GB" sz="2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102170" y="1858928"/>
            <a:ext cx="7671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7215" y="2263973"/>
            <a:ext cx="99316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a+b+c</a:t>
            </a:r>
            <a:endParaRPr lang="en-GB" sz="2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047275" y="1528457"/>
            <a:ext cx="51755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b+c</a:t>
            </a:r>
            <a:endParaRPr lang="en-GB" sz="2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Picture 3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3117760"/>
            <a:ext cx="3190875" cy="272415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3210" y="3823790"/>
            <a:ext cx="2548890" cy="272415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6542" y="4273840"/>
            <a:ext cx="2562225" cy="278130"/>
          </a:xfrm>
          <a:prstGeom prst="rect">
            <a:avLst/>
          </a:prstGeom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mtClean="0"/>
              <a:t>L1 S</a:t>
            </a:r>
            <a:fld id="{1587A628-B517-4FCF-B705-E1D0C7774025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825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718816"/>
            <a:ext cx="9144000" cy="17085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What is a vector?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2125500" y="2083953"/>
            <a:ext cx="201798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This is not a vector: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770" y="2128840"/>
            <a:ext cx="1605915" cy="2628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39074" y="2579008"/>
            <a:ext cx="160441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This is a vector:</a:t>
            </a: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621990"/>
            <a:ext cx="2716530" cy="2647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86635" y="3786885"/>
            <a:ext cx="67507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>
                <a:solidFill>
                  <a:schemeClr val="tx2"/>
                </a:solidFill>
              </a:rPr>
              <a:t>F</a:t>
            </a:r>
            <a:r>
              <a:rPr lang="en-GB" sz="2000" dirty="0" smtClean="0">
                <a:solidFill>
                  <a:schemeClr val="tx2"/>
                </a:solidFill>
              </a:rPr>
              <a:t>or this course a grade-1 tensor and a vector are different.</a:t>
            </a:r>
          </a:p>
          <a:p>
            <a:r>
              <a:rPr lang="en-GB" sz="2000" dirty="0" smtClean="0">
                <a:solidFill>
                  <a:schemeClr val="tx2"/>
                </a:solidFill>
              </a:rPr>
              <a:t>We will usually focus on active transformations, not passive ones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mtClean="0"/>
              <a:t>L1 S</a:t>
            </a:r>
            <a:fld id="{1587A628-B517-4FCF-B705-E1D0C7774025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5218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5339714" y="2814320"/>
            <a:ext cx="2966720" cy="23291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833120" y="2814320"/>
            <a:ext cx="2966720" cy="23291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0" y="1127760"/>
            <a:ext cx="9144000" cy="90423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The problem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1" y="1351915"/>
            <a:ext cx="8686799" cy="568325"/>
          </a:xfrm>
        </p:spPr>
        <p:txBody>
          <a:bodyPr/>
          <a:lstStyle/>
          <a:p>
            <a:r>
              <a:rPr lang="en-GB" dirty="0" smtClean="0">
                <a:solidFill>
                  <a:schemeClr val="bg1"/>
                </a:solidFill>
              </a:rPr>
              <a:t>How do you multiply two vectors together?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2426533"/>
            <a:ext cx="45720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000" dirty="0" smtClean="0"/>
              <a:t>Inner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37075" y="2426533"/>
            <a:ext cx="45720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000" dirty="0" smtClean="0"/>
              <a:t>Cross product</a:t>
            </a:r>
          </a:p>
        </p:txBody>
      </p:sp>
      <p:pic>
        <p:nvPicPr>
          <p:cNvPr id="24" name="Picture 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7224" y="3125152"/>
            <a:ext cx="2171700" cy="22669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692" y="3125152"/>
            <a:ext cx="1872615" cy="115252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359" y="3871077"/>
            <a:ext cx="1003935" cy="27622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720654" y="3701414"/>
            <a:ext cx="149878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/>
              <a:t>Right-handed set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mtClean="0"/>
              <a:t>L1 S</a:t>
            </a:r>
            <a:fld id="{1587A628-B517-4FCF-B705-E1D0C7774025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1580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Complex numbers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1311275"/>
            <a:ext cx="4572000" cy="38322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386080" y="1544320"/>
            <a:ext cx="3850640" cy="34470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</a:rPr>
              <a:t>Complex numbers give us a potential product in 2D. If we form </a:t>
            </a:r>
            <a:r>
              <a:rPr lang="en-GB" sz="2400" i="1" dirty="0" smtClean="0">
                <a:solidFill>
                  <a:schemeClr val="bg1"/>
                </a:solidFill>
              </a:rPr>
              <a:t>aa* </a:t>
            </a:r>
            <a:r>
              <a:rPr lang="en-GB" sz="2400" dirty="0" smtClean="0">
                <a:solidFill>
                  <a:schemeClr val="bg1"/>
                </a:solidFill>
              </a:rPr>
              <a:t>we get the length</a:t>
            </a:r>
            <a:r>
              <a:rPr lang="en-GB" sz="2400" baseline="30000" dirty="0" smtClean="0">
                <a:solidFill>
                  <a:schemeClr val="bg1"/>
                </a:solidFill>
              </a:rPr>
              <a:t>2 </a:t>
            </a:r>
            <a:r>
              <a:rPr lang="en-GB" sz="2400" dirty="0" smtClean="0">
                <a:solidFill>
                  <a:schemeClr val="bg1"/>
                </a:solidFill>
              </a:rPr>
              <a:t>of the vector.</a:t>
            </a:r>
          </a:p>
          <a:p>
            <a:endParaRPr lang="en-GB" sz="2400" baseline="30000" dirty="0" smtClean="0">
              <a:solidFill>
                <a:schemeClr val="bg1"/>
              </a:solidFill>
            </a:endParaRPr>
          </a:p>
          <a:p>
            <a:r>
              <a:rPr lang="en-GB" sz="2400" dirty="0" smtClean="0">
                <a:solidFill>
                  <a:schemeClr val="bg1"/>
                </a:solidFill>
              </a:rPr>
              <a:t>This suggests forming </a:t>
            </a:r>
            <a:r>
              <a:rPr lang="en-GB" sz="2400" i="1" dirty="0" smtClean="0">
                <a:solidFill>
                  <a:schemeClr val="bg1"/>
                </a:solidFill>
              </a:rPr>
              <a:t>ab*.</a:t>
            </a:r>
          </a:p>
          <a:p>
            <a:endParaRPr lang="en-GB" sz="2400" i="1" dirty="0">
              <a:solidFill>
                <a:schemeClr val="bg1"/>
              </a:solidFill>
            </a:endParaRPr>
          </a:p>
          <a:p>
            <a:r>
              <a:rPr lang="en-GB" sz="2400" dirty="0" smtClean="0">
                <a:solidFill>
                  <a:schemeClr val="bg1"/>
                </a:solidFill>
              </a:rPr>
              <a:t>The result contains an inner product and an area term.</a:t>
            </a:r>
            <a:endParaRPr lang="en-GB" sz="2400" dirty="0">
              <a:solidFill>
                <a:schemeClr val="bg1"/>
              </a:solidFill>
            </a:endParaRPr>
          </a:p>
          <a:p>
            <a:endParaRPr lang="en-GB" sz="2400" baseline="30000" dirty="0" smtClean="0">
              <a:solidFill>
                <a:schemeClr val="bg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281" y="1656080"/>
            <a:ext cx="3388995" cy="1663065"/>
          </a:xfrm>
          <a:prstGeom prst="rect">
            <a:avLst/>
          </a:prstGeom>
        </p:spPr>
      </p:pic>
      <p:pic>
        <p:nvPicPr>
          <p:cNvPr id="7" name="Picture 2" descr="Augustin-Louis Cauchy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6" r="14423"/>
          <a:stretch/>
        </p:blipFill>
        <p:spPr bwMode="auto">
          <a:xfrm>
            <a:off x="7652541" y="9221"/>
            <a:ext cx="1483360" cy="1302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5801360" y="4531360"/>
            <a:ext cx="1399858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5801360" y="3831431"/>
            <a:ext cx="699929" cy="699929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6510338" y="3841591"/>
            <a:ext cx="1399858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7201218" y="3831430"/>
            <a:ext cx="699929" cy="699929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66777" y="3878698"/>
            <a:ext cx="27114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i="1" dirty="0" smtClean="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2705" y="4533959"/>
            <a:ext cx="3048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i="1" dirty="0">
                <a:solidFill>
                  <a:schemeClr val="tx2"/>
                </a:solidFill>
              </a:rPr>
              <a:t>b</a:t>
            </a:r>
            <a:endParaRPr lang="en-GB" sz="2000" i="1" dirty="0" smtClean="0">
              <a:solidFill>
                <a:schemeClr val="tx2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6482080" y="3841591"/>
            <a:ext cx="0" cy="68976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mtClean="0"/>
              <a:t>L1 S</a:t>
            </a:r>
            <a:fld id="{1587A628-B517-4FCF-B705-E1D0C7774025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9952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upload.wikimedia.org/wikipedia/commons/a/a2/William_Rowan_Hamilton_Plaque_-_geograph.org.uk_-_347941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980030"/>
            <a:ext cx="2885440" cy="2164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Quaternions</a:t>
            </a:r>
            <a:endParaRPr lang="en-GB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69" t="15385" r="17018" b="6250"/>
          <a:stretch/>
        </p:blipFill>
        <p:spPr bwMode="auto">
          <a:xfrm>
            <a:off x="7652541" y="1"/>
            <a:ext cx="1491459" cy="1311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1311275"/>
            <a:ext cx="9144000" cy="1260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3412714" y="2980030"/>
            <a:ext cx="2541046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Generalises complex numbers, introduced the cross product and some notation still in use today.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4306" y="2980030"/>
            <a:ext cx="2180896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Confusion over status of vectors, but quaternions are very powerful for describing rotations.</a:t>
            </a: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1852" y="2047666"/>
            <a:ext cx="2360295" cy="2266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335" y="1491630"/>
            <a:ext cx="3171825" cy="35433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mtClean="0"/>
              <a:t>L1 S</a:t>
            </a:r>
            <a:fld id="{1587A628-B517-4FCF-B705-E1D0C7774025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6368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2841780"/>
            <a:ext cx="9144000" cy="117013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Quaternion properties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350" y="1086585"/>
            <a:ext cx="3171825" cy="3543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809750"/>
            <a:ext cx="3274695" cy="76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02070" y="1806665"/>
            <a:ext cx="1620180" cy="615553"/>
          </a:xfrm>
          <a:prstGeom prst="rect">
            <a:avLst/>
          </a:prstGeom>
          <a:solidFill>
            <a:schemeClr val="bg2"/>
          </a:solidFill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Generators anti-commute</a:t>
            </a:r>
          </a:p>
        </p:txBody>
      </p:sp>
      <p:cxnSp>
        <p:nvCxnSpPr>
          <p:cNvPr id="10" name="Straight Arrow Connector 9"/>
          <p:cNvCxnSpPr>
            <a:stCxn id="8" idx="1"/>
          </p:cNvCxnSpPr>
          <p:nvPr/>
        </p:nvCxnSpPr>
        <p:spPr>
          <a:xfrm flipH="1" flipV="1">
            <a:off x="3176846" y="1896680"/>
            <a:ext cx="2025224" cy="21776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1"/>
          </p:cNvCxnSpPr>
          <p:nvPr/>
        </p:nvCxnSpPr>
        <p:spPr>
          <a:xfrm flipH="1">
            <a:off x="4301970" y="2114442"/>
            <a:ext cx="900100" cy="23228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095" y="3004175"/>
            <a:ext cx="5511165" cy="28765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921" y="3561860"/>
            <a:ext cx="1493520" cy="27432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590" y="4146925"/>
            <a:ext cx="6993255" cy="28765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mtClean="0"/>
              <a:t>L1 S</a:t>
            </a:r>
            <a:fld id="{1587A628-B517-4FCF-B705-E1D0C7774025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3761910" y="4604233"/>
            <a:ext cx="1980220" cy="307777"/>
          </a:xfrm>
          <a:prstGeom prst="rect">
            <a:avLst/>
          </a:prstGeom>
          <a:solidFill>
            <a:schemeClr val="bg2"/>
          </a:solidFill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The cross </a:t>
            </a:r>
            <a:r>
              <a:rPr lang="en-GB" sz="2000" dirty="0" smtClean="0">
                <a:solidFill>
                  <a:schemeClr val="bg1"/>
                </a:solidFill>
              </a:rPr>
              <a:t>product</a:t>
            </a:r>
            <a:endParaRPr lang="en-GB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404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Grassmann algebra</a:t>
            </a:r>
            <a:endParaRPr lang="en-GB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03" t="15901" r="13497" b="30795"/>
          <a:stretch/>
        </p:blipFill>
        <p:spPr bwMode="auto">
          <a:xfrm>
            <a:off x="7643199" y="1"/>
            <a:ext cx="1500801" cy="1311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1311275"/>
            <a:ext cx="4572000" cy="38322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386080" y="1544320"/>
            <a:ext cx="3850640" cy="35702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</a:rPr>
              <a:t>German schoolteacher (1809-1877) who struggled for recognition in his own lifetime.</a:t>
            </a:r>
          </a:p>
          <a:p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dirty="0">
                <a:solidFill>
                  <a:schemeClr val="bg1"/>
                </a:solidFill>
              </a:rPr>
              <a:t>Published the </a:t>
            </a:r>
            <a:r>
              <a:rPr lang="en-GB" sz="2400" i="1" dirty="0" err="1">
                <a:solidFill>
                  <a:schemeClr val="bg1"/>
                </a:solidFill>
              </a:rPr>
              <a:t>Lineale</a:t>
            </a:r>
            <a:r>
              <a:rPr lang="en-GB" sz="2400" i="1" dirty="0">
                <a:solidFill>
                  <a:schemeClr val="bg1"/>
                </a:solidFill>
              </a:rPr>
              <a:t> </a:t>
            </a:r>
            <a:r>
              <a:rPr lang="en-GB" sz="2400" i="1" dirty="0" err="1">
                <a:solidFill>
                  <a:schemeClr val="bg1"/>
                </a:solidFill>
              </a:rPr>
              <a:t>Ausdehnungslehre</a:t>
            </a:r>
            <a:r>
              <a:rPr lang="en-GB" sz="2400" i="1" dirty="0">
                <a:solidFill>
                  <a:schemeClr val="bg1"/>
                </a:solidFill>
              </a:rPr>
              <a:t> </a:t>
            </a:r>
            <a:r>
              <a:rPr lang="en-GB" sz="2400" dirty="0">
                <a:solidFill>
                  <a:schemeClr val="bg1"/>
                </a:solidFill>
              </a:rPr>
              <a:t>in </a:t>
            </a:r>
            <a:r>
              <a:rPr lang="en-GB" sz="2400" dirty="0" smtClean="0">
                <a:solidFill>
                  <a:schemeClr val="bg1"/>
                </a:solidFill>
              </a:rPr>
              <a:t>1844.</a:t>
            </a:r>
          </a:p>
          <a:p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dirty="0" smtClean="0">
                <a:solidFill>
                  <a:schemeClr val="bg1"/>
                </a:solidFill>
              </a:rPr>
              <a:t>Introduced a new, outer product that is </a:t>
            </a:r>
            <a:r>
              <a:rPr lang="en-GB" sz="2400" i="1" dirty="0" smtClean="0">
                <a:solidFill>
                  <a:schemeClr val="bg1"/>
                </a:solidFill>
              </a:rPr>
              <a:t>antisymmetric</a:t>
            </a:r>
            <a:r>
              <a:rPr lang="en-GB" sz="2400" dirty="0" smtClean="0">
                <a:solidFill>
                  <a:schemeClr val="bg1"/>
                </a:solidFill>
              </a:rPr>
              <a:t>.</a:t>
            </a:r>
            <a:endParaRPr lang="en-GB" sz="2400" dirty="0">
              <a:solidFill>
                <a:schemeClr val="bg1"/>
              </a:solidFill>
            </a:endParaRPr>
          </a:p>
          <a:p>
            <a:endParaRPr lang="en-GB" sz="2400" baseline="30000" dirty="0" smtClean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0" y="2571750"/>
            <a:ext cx="4572000" cy="1260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2860039"/>
            <a:ext cx="2057400" cy="68389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885" y="4043680"/>
            <a:ext cx="4126230" cy="75438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8272" y="1828800"/>
            <a:ext cx="3259455" cy="22669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mtClean="0"/>
              <a:t>L1 S</a:t>
            </a:r>
            <a:fld id="{1587A628-B517-4FCF-B705-E1D0C7774025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1848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Properties of the outer product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0" y="1716088"/>
            <a:ext cx="3041650" cy="34274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206516" y="1986685"/>
            <a:ext cx="2565284" cy="2769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The result of the outer product is a new object: a BIVECTOR</a:t>
            </a:r>
          </a:p>
          <a:p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dirty="0" err="1" smtClean="0">
                <a:solidFill>
                  <a:schemeClr val="bg1"/>
                </a:solidFill>
              </a:rPr>
              <a:t>Bivectors</a:t>
            </a:r>
            <a:r>
              <a:rPr lang="en-GB" sz="2000" dirty="0" smtClean="0">
                <a:solidFill>
                  <a:schemeClr val="bg1"/>
                </a:solidFill>
              </a:rPr>
              <a:t> form a linear space</a:t>
            </a:r>
          </a:p>
          <a:p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dirty="0" smtClean="0">
                <a:solidFill>
                  <a:schemeClr val="bg1"/>
                </a:solidFill>
              </a:rPr>
              <a:t>We can visualise bivector addition in 3D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770" y="4596975"/>
            <a:ext cx="3156585" cy="272415"/>
          </a:xfrm>
          <a:prstGeom prst="rect">
            <a:avLst/>
          </a:prstGeom>
        </p:spPr>
      </p:pic>
      <p:grpSp>
        <p:nvGrpSpPr>
          <p:cNvPr id="90" name="Group 89"/>
          <p:cNvGrpSpPr/>
          <p:nvPr/>
        </p:nvGrpSpPr>
        <p:grpSpPr>
          <a:xfrm>
            <a:off x="4014736" y="1266605"/>
            <a:ext cx="4472699" cy="2710099"/>
            <a:chOff x="3711388" y="1307468"/>
            <a:chExt cx="4472699" cy="2710099"/>
          </a:xfrm>
        </p:grpSpPr>
        <p:sp>
          <p:nvSpPr>
            <p:cNvPr id="87" name="Freeform 86"/>
            <p:cNvSpPr/>
            <p:nvPr/>
          </p:nvSpPr>
          <p:spPr>
            <a:xfrm>
              <a:off x="5159533" y="1311605"/>
              <a:ext cx="3024554" cy="2693550"/>
            </a:xfrm>
            <a:custGeom>
              <a:avLst/>
              <a:gdLst>
                <a:gd name="connsiteX0" fmla="*/ 132402 w 3024554"/>
                <a:gd name="connsiteY0" fmla="*/ 1042665 h 2693550"/>
                <a:gd name="connsiteX1" fmla="*/ 3024554 w 3024554"/>
                <a:gd name="connsiteY1" fmla="*/ 2693550 h 2693550"/>
                <a:gd name="connsiteX2" fmla="*/ 2892152 w 3024554"/>
                <a:gd name="connsiteY2" fmla="*/ 1708811 h 2693550"/>
                <a:gd name="connsiteX3" fmla="*/ 0 w 3024554"/>
                <a:gd name="connsiteY3" fmla="*/ 0 h 2693550"/>
                <a:gd name="connsiteX4" fmla="*/ 132402 w 3024554"/>
                <a:gd name="connsiteY4" fmla="*/ 1042665 h 269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24554" h="2693550">
                  <a:moveTo>
                    <a:pt x="132402" y="1042665"/>
                  </a:moveTo>
                  <a:lnTo>
                    <a:pt x="3024554" y="2693550"/>
                  </a:lnTo>
                  <a:lnTo>
                    <a:pt x="2892152" y="1708811"/>
                  </a:lnTo>
                  <a:lnTo>
                    <a:pt x="0" y="0"/>
                  </a:lnTo>
                  <a:lnTo>
                    <a:pt x="132402" y="104266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3711388" y="1307468"/>
              <a:ext cx="1576409" cy="2710099"/>
            </a:xfrm>
            <a:custGeom>
              <a:avLst/>
              <a:gdLst>
                <a:gd name="connsiteX0" fmla="*/ 0 w 1576409"/>
                <a:gd name="connsiteY0" fmla="*/ 1700536 h 2710099"/>
                <a:gd name="connsiteX1" fmla="*/ 140677 w 1576409"/>
                <a:gd name="connsiteY1" fmla="*/ 2710099 h 2710099"/>
                <a:gd name="connsiteX2" fmla="*/ 1576409 w 1576409"/>
                <a:gd name="connsiteY2" fmla="*/ 1042664 h 2710099"/>
                <a:gd name="connsiteX3" fmla="*/ 1448145 w 1576409"/>
                <a:gd name="connsiteY3" fmla="*/ 0 h 2710099"/>
                <a:gd name="connsiteX4" fmla="*/ 0 w 1576409"/>
                <a:gd name="connsiteY4" fmla="*/ 1700536 h 2710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6409" h="2710099">
                  <a:moveTo>
                    <a:pt x="0" y="1700536"/>
                  </a:moveTo>
                  <a:lnTo>
                    <a:pt x="140677" y="2710099"/>
                  </a:lnTo>
                  <a:lnTo>
                    <a:pt x="1576409" y="1042664"/>
                  </a:lnTo>
                  <a:lnTo>
                    <a:pt x="1448145" y="0"/>
                  </a:lnTo>
                  <a:lnTo>
                    <a:pt x="0" y="170053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3713698" y="3023691"/>
              <a:ext cx="4454194" cy="987327"/>
            </a:xfrm>
            <a:custGeom>
              <a:avLst/>
              <a:gdLst>
                <a:gd name="connsiteX0" fmla="*/ 0 w 4454194"/>
                <a:gd name="connsiteY0" fmla="*/ 5610 h 987327"/>
                <a:gd name="connsiteX1" fmla="*/ 145855 w 4454194"/>
                <a:gd name="connsiteY1" fmla="*/ 987327 h 987327"/>
                <a:gd name="connsiteX2" fmla="*/ 4454194 w 4454194"/>
                <a:gd name="connsiteY2" fmla="*/ 976108 h 987327"/>
                <a:gd name="connsiteX3" fmla="*/ 4325168 w 4454194"/>
                <a:gd name="connsiteY3" fmla="*/ 0 h 987327"/>
                <a:gd name="connsiteX4" fmla="*/ 0 w 4454194"/>
                <a:gd name="connsiteY4" fmla="*/ 5610 h 98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54194" h="987327">
                  <a:moveTo>
                    <a:pt x="0" y="5610"/>
                  </a:moveTo>
                  <a:lnTo>
                    <a:pt x="145855" y="987327"/>
                  </a:lnTo>
                  <a:lnTo>
                    <a:pt x="4454194" y="976108"/>
                  </a:lnTo>
                  <a:lnTo>
                    <a:pt x="4325168" y="0"/>
                  </a:lnTo>
                  <a:lnTo>
                    <a:pt x="0" y="561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62" name="Straight Connector 61"/>
            <p:cNvCxnSpPr/>
            <p:nvPr/>
          </p:nvCxnSpPr>
          <p:spPr>
            <a:xfrm>
              <a:off x="3851920" y="4011910"/>
              <a:ext cx="4320480" cy="0"/>
            </a:xfrm>
            <a:prstGeom prst="line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flipH="1" flipV="1">
              <a:off x="3716905" y="3021800"/>
              <a:ext cx="135015" cy="990110"/>
            </a:xfrm>
            <a:prstGeom prst="line">
              <a:avLst/>
            </a:prstGeom>
            <a:ln w="19050"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flipH="1" flipV="1">
              <a:off x="8037385" y="3021800"/>
              <a:ext cx="135015" cy="990110"/>
            </a:xfrm>
            <a:prstGeom prst="line">
              <a:avLst/>
            </a:prstGeom>
            <a:ln w="190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3716905" y="3021800"/>
              <a:ext cx="4320480" cy="0"/>
            </a:xfrm>
            <a:prstGeom prst="line">
              <a:avLst/>
            </a:prstGeom>
            <a:ln w="19050"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flipH="1" flipV="1">
              <a:off x="5157065" y="1311610"/>
              <a:ext cx="135015" cy="1035115"/>
            </a:xfrm>
            <a:prstGeom prst="line">
              <a:avLst/>
            </a:prstGeom>
            <a:ln w="19050"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V="1">
              <a:off x="3851920" y="2346725"/>
              <a:ext cx="1440160" cy="1665185"/>
            </a:xfrm>
            <a:prstGeom prst="line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76" idx="0"/>
            </p:cNvCxnSpPr>
            <p:nvPr/>
          </p:nvCxnSpPr>
          <p:spPr>
            <a:xfrm flipV="1">
              <a:off x="3713698" y="1311610"/>
              <a:ext cx="1443367" cy="1717691"/>
            </a:xfrm>
            <a:prstGeom prst="line">
              <a:avLst/>
            </a:prstGeom>
            <a:ln w="190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Freeform 78"/>
            <p:cNvSpPr/>
            <p:nvPr/>
          </p:nvSpPr>
          <p:spPr>
            <a:xfrm>
              <a:off x="3724918" y="2350513"/>
              <a:ext cx="1548309" cy="1654896"/>
            </a:xfrm>
            <a:custGeom>
              <a:avLst/>
              <a:gdLst>
                <a:gd name="connsiteX0" fmla="*/ 0 w 1548309"/>
                <a:gd name="connsiteY0" fmla="*/ 673178 h 1654896"/>
                <a:gd name="connsiteX1" fmla="*/ 140245 w 1548309"/>
                <a:gd name="connsiteY1" fmla="*/ 1654896 h 1654896"/>
                <a:gd name="connsiteX2" fmla="*/ 1548309 w 1548309"/>
                <a:gd name="connsiteY2" fmla="*/ 0 h 1654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48309" h="1654896">
                  <a:moveTo>
                    <a:pt x="0" y="673178"/>
                  </a:moveTo>
                  <a:lnTo>
                    <a:pt x="140245" y="1654896"/>
                  </a:lnTo>
                  <a:lnTo>
                    <a:pt x="1548309" y="0"/>
                  </a:lnTo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2" name="Straight Connector 81"/>
            <p:cNvCxnSpPr>
              <a:stCxn id="80" idx="2"/>
              <a:endCxn id="76" idx="2"/>
            </p:cNvCxnSpPr>
            <p:nvPr/>
          </p:nvCxnSpPr>
          <p:spPr>
            <a:xfrm>
              <a:off x="5287797" y="2350132"/>
              <a:ext cx="2880095" cy="1649667"/>
            </a:xfrm>
            <a:prstGeom prst="line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80" idx="3"/>
              <a:endCxn id="76" idx="3"/>
            </p:cNvCxnSpPr>
            <p:nvPr/>
          </p:nvCxnSpPr>
          <p:spPr>
            <a:xfrm>
              <a:off x="5159533" y="1307468"/>
              <a:ext cx="2879333" cy="1716223"/>
            </a:xfrm>
            <a:prstGeom prst="line">
              <a:avLst/>
            </a:prstGeom>
            <a:ln w="190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>
              <a:off x="4707015" y="3021800"/>
              <a:ext cx="1755195" cy="0"/>
            </a:xfrm>
            <a:prstGeom prst="line">
              <a:avLst/>
            </a:prstGeom>
            <a:ln w="190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Arc 92"/>
          <p:cNvSpPr/>
          <p:nvPr/>
        </p:nvSpPr>
        <p:spPr>
          <a:xfrm rot="10800000">
            <a:off x="5292081" y="3228962"/>
            <a:ext cx="557922" cy="557922"/>
          </a:xfrm>
          <a:prstGeom prst="arc">
            <a:avLst>
              <a:gd name="adj1" fmla="val 10847744"/>
              <a:gd name="adj2" fmla="val 5457283"/>
            </a:avLst>
          </a:prstGeom>
          <a:ln w="19050">
            <a:solidFill>
              <a:schemeClr val="bg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TextBox 93"/>
          <p:cNvSpPr txBox="1"/>
          <p:nvPr/>
        </p:nvSpPr>
        <p:spPr>
          <a:xfrm>
            <a:off x="3840233" y="3323257"/>
            <a:ext cx="31503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pic>
        <p:nvPicPr>
          <p:cNvPr id="95" name="Picture 9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919" y="2404985"/>
            <a:ext cx="561975" cy="219075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4526995" y="3102518"/>
            <a:ext cx="31503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GB" sz="24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828673" y="3921900"/>
            <a:ext cx="144362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b+c</a:t>
            </a:r>
            <a:endParaRPr lang="en-GB" sz="24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548565" y="3102518"/>
            <a:ext cx="31503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GB" sz="24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5563374" y="1603638"/>
            <a:ext cx="31503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pic>
        <p:nvPicPr>
          <p:cNvPr id="100" name="Picture 9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065" y="2215374"/>
            <a:ext cx="542925" cy="180975"/>
          </a:xfrm>
          <a:prstGeom prst="rect">
            <a:avLst/>
          </a:prstGeom>
        </p:spPr>
      </p:pic>
      <p:pic>
        <p:nvPicPr>
          <p:cNvPr id="101" name="Picture 10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032" y="3228602"/>
            <a:ext cx="1280160" cy="27241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mtClean="0"/>
              <a:t>L1 S</a:t>
            </a:r>
            <a:fld id="{1587A628-B517-4FCF-B705-E1D0C7774025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0288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Geometric algebra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1311275"/>
            <a:ext cx="9144000" cy="1260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2" descr="C:\Users\chrdor01\Dropbox\Star2015\website\William_Kingdon_Clifford_by_John_Collier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1" b="20918"/>
          <a:stretch/>
        </p:blipFill>
        <p:spPr bwMode="auto">
          <a:xfrm>
            <a:off x="7657044" y="0"/>
            <a:ext cx="1495796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3631" y="1799827"/>
            <a:ext cx="2707481" cy="2833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5120" y="3169920"/>
            <a:ext cx="2255520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W.K. Clifford  (1845 – 1879) introduced the </a:t>
            </a:r>
            <a:r>
              <a:rPr lang="en-GB" sz="2000" i="1" dirty="0" smtClean="0">
                <a:solidFill>
                  <a:schemeClr val="tx2"/>
                </a:solidFill>
              </a:rPr>
              <a:t>geometric </a:t>
            </a:r>
            <a:r>
              <a:rPr lang="en-GB" sz="2000" dirty="0" smtClean="0">
                <a:solidFill>
                  <a:schemeClr val="tx2"/>
                </a:solidFill>
              </a:rPr>
              <a:t>product of two vectors.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3600" y="3169920"/>
            <a:ext cx="2245360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The product of two vectors is the sum of a </a:t>
            </a:r>
            <a:r>
              <a:rPr lang="en-GB" sz="2000" i="1" dirty="0" smtClean="0">
                <a:solidFill>
                  <a:schemeClr val="tx2"/>
                </a:solidFill>
              </a:rPr>
              <a:t>scalar</a:t>
            </a:r>
            <a:r>
              <a:rPr lang="en-GB" sz="2000" dirty="0" smtClean="0">
                <a:solidFill>
                  <a:schemeClr val="tx2"/>
                </a:solidFill>
              </a:rPr>
              <a:t> and a </a:t>
            </a:r>
            <a:r>
              <a:rPr lang="en-GB" sz="2000" i="1" dirty="0" smtClean="0">
                <a:solidFill>
                  <a:schemeClr val="tx2"/>
                </a:solidFill>
              </a:rPr>
              <a:t>bivector</a:t>
            </a:r>
            <a:r>
              <a:rPr lang="en-GB" sz="2000" dirty="0" smtClean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0481" y="3169920"/>
            <a:ext cx="2214880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Think of the sum as like the real and imaginary parts of a complex number.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mtClean="0"/>
              <a:t>L1 S</a:t>
            </a:r>
            <a:fld id="{1587A628-B517-4FCF-B705-E1D0C7774025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8479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311275"/>
            <a:ext cx="4572000" cy="38322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The geometric product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4581524" y="2571750"/>
            <a:ext cx="4562475" cy="1260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471170" y="1605280"/>
            <a:ext cx="416178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4"/>
                </a:solidFill>
              </a:rPr>
              <a:t>The geometric product is associative and distributive.</a:t>
            </a: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1002" y="1539676"/>
            <a:ext cx="2684145" cy="746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1170" y="2856297"/>
            <a:ext cx="396581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4"/>
                </a:solidFill>
              </a:rPr>
              <a:t>The square of any vector is a scalar. This makes the product invertible.</a:t>
            </a: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563" y="2920245"/>
            <a:ext cx="3922395" cy="3467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1170" y="3966090"/>
            <a:ext cx="388747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i="1" dirty="0" smtClean="0">
                <a:solidFill>
                  <a:schemeClr val="accent4"/>
                </a:solidFill>
              </a:rPr>
              <a:t>Define</a:t>
            </a:r>
            <a:r>
              <a:rPr lang="en-GB" sz="2000" dirty="0" smtClean="0">
                <a:solidFill>
                  <a:schemeClr val="accent4"/>
                </a:solidFill>
              </a:rPr>
              <a:t> the inner (scalar) and outer products in terms of the geometric product.</a:t>
            </a:r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9116" y="3966090"/>
            <a:ext cx="2367915" cy="91249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mtClean="0"/>
              <a:t>L1 S</a:t>
            </a:r>
            <a:fld id="{1587A628-B517-4FCF-B705-E1D0C7774025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8161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6823075" y="599440"/>
            <a:ext cx="817245" cy="7118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9917"/>
            <a:ext cx="5645149" cy="653143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Two dimensions</a:t>
            </a:r>
            <a:endParaRPr lang="en-GB" dirty="0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6823075" y="279917"/>
            <a:ext cx="0" cy="103135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6823075" y="1311275"/>
            <a:ext cx="1142365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>
            <a:off x="6553200" y="691197"/>
            <a:ext cx="914400" cy="914400"/>
          </a:xfrm>
          <a:prstGeom prst="arc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7360" y="1214120"/>
            <a:ext cx="238125" cy="19431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427" y="405130"/>
            <a:ext cx="257175" cy="19431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1311275"/>
            <a:ext cx="4572000" cy="38322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TextBox 17"/>
          <p:cNvSpPr txBox="1"/>
          <p:nvPr/>
        </p:nvSpPr>
        <p:spPr>
          <a:xfrm>
            <a:off x="621117" y="1513405"/>
            <a:ext cx="3545838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2D sufficient to understand basic results. Construct an orthonormal basis.</a:t>
            </a:r>
          </a:p>
        </p:txBody>
      </p:sp>
      <p:pic>
        <p:nvPicPr>
          <p:cNvPr id="19" name="Picture 1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932" y="1618317"/>
            <a:ext cx="2305050" cy="73533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0241" y="2915920"/>
            <a:ext cx="318692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Parallel vectors commute.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241" y="4056915"/>
            <a:ext cx="294894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Orthogonal vectors </a:t>
            </a:r>
            <a:r>
              <a:rPr lang="en-GB" sz="2000" dirty="0" err="1" smtClean="0">
                <a:solidFill>
                  <a:schemeClr val="bg1"/>
                </a:solidFill>
              </a:rPr>
              <a:t>anticommute</a:t>
            </a:r>
            <a:r>
              <a:rPr lang="en-GB" sz="2000" dirty="0" smtClean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2571750"/>
            <a:ext cx="4572000" cy="1260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6" name="Picture 2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950" y="2865755"/>
            <a:ext cx="2787015" cy="65151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882" y="4052688"/>
            <a:ext cx="3105150" cy="69913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mtClean="0"/>
              <a:t>L1 S</a:t>
            </a:r>
            <a:fld id="{1587A628-B517-4FCF-B705-E1D0C7774025}" type="slidenum">
              <a:rPr lang="en-GB" smtClean="0"/>
              <a:pPr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8597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The bivector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457" y="1716088"/>
            <a:ext cx="3206115" cy="2186940"/>
          </a:xfrm>
        </p:spPr>
      </p:pic>
      <p:sp>
        <p:nvSpPr>
          <p:cNvPr id="5" name="Rectangle 4"/>
          <p:cNvSpPr/>
          <p:nvPr/>
        </p:nvSpPr>
        <p:spPr>
          <a:xfrm>
            <a:off x="0" y="1311275"/>
            <a:ext cx="4572000" cy="3832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304881" y="1622988"/>
            <a:ext cx="4023280" cy="30777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The unit bivector has negative square.</a:t>
            </a:r>
          </a:p>
          <a:p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dirty="0" smtClean="0">
                <a:solidFill>
                  <a:schemeClr val="bg1"/>
                </a:solidFill>
              </a:rPr>
              <a:t>Follows purely form the axioms of geometric algebra.</a:t>
            </a:r>
          </a:p>
          <a:p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dirty="0" smtClean="0">
                <a:solidFill>
                  <a:schemeClr val="bg1"/>
                </a:solidFill>
              </a:rPr>
              <a:t>We have not said anything about complex numbers, or solving polynomial equations.</a:t>
            </a:r>
          </a:p>
          <a:p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dirty="0" smtClean="0">
                <a:solidFill>
                  <a:schemeClr val="bg1"/>
                </a:solidFill>
              </a:rPr>
              <a:t>We have invented complex numbers!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mtClean="0"/>
              <a:t>L1 S</a:t>
            </a:r>
            <a:fld id="{1587A628-B517-4FCF-B705-E1D0C7774025}" type="slidenum">
              <a:rPr lang="en-GB" smtClean="0"/>
              <a:pPr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1954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Unification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1716088"/>
            <a:ext cx="9144000" cy="17113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971600" y="2031690"/>
            <a:ext cx="693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800" dirty="0">
                <a:solidFill>
                  <a:schemeClr val="bg1"/>
                </a:solidFill>
              </a:rPr>
              <a:t>Complex numbers arise naturally in the geometric algebra of the plane.</a:t>
            </a:r>
          </a:p>
          <a:p>
            <a:pPr algn="ctr"/>
            <a:endParaRPr lang="en-GB" sz="2800" dirty="0" smtClean="0">
              <a:solidFill>
                <a:schemeClr val="tx2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mtClean="0"/>
              <a:t>L1 S</a:t>
            </a:r>
            <a:fld id="{1587A628-B517-4FCF-B705-E1D0C7774025}" type="slidenum">
              <a:rPr lang="en-GB" smtClean="0"/>
              <a:pPr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5447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Products in 2D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296525" y="1311610"/>
            <a:ext cx="508363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 smtClean="0"/>
              <a:t>Call the highest grade element the </a:t>
            </a:r>
            <a:r>
              <a:rPr lang="en-GB" sz="2000" dirty="0" err="1" smtClean="0"/>
              <a:t>pseudoscalar</a:t>
            </a:r>
            <a:r>
              <a:rPr lang="en-GB" sz="2000" dirty="0" smtClean="0"/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110" y="1364117"/>
            <a:ext cx="1076325" cy="2552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60" y="1896675"/>
            <a:ext cx="4444365" cy="7448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97125" y="2031690"/>
            <a:ext cx="2880320" cy="61555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A 90 degree rotation clockwise (negative sense)</a:t>
            </a:r>
          </a:p>
        </p:txBody>
      </p:sp>
      <p:cxnSp>
        <p:nvCxnSpPr>
          <p:cNvPr id="9" name="Straight Arrow Connector 8"/>
          <p:cNvCxnSpPr>
            <a:stCxn id="7" idx="1"/>
          </p:cNvCxnSpPr>
          <p:nvPr/>
        </p:nvCxnSpPr>
        <p:spPr>
          <a:xfrm flipH="1">
            <a:off x="4707015" y="2339467"/>
            <a:ext cx="990110" cy="14227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1"/>
          </p:cNvCxnSpPr>
          <p:nvPr/>
        </p:nvCxnSpPr>
        <p:spPr>
          <a:xfrm flipH="1" flipV="1">
            <a:off x="5202070" y="2076695"/>
            <a:ext cx="495055" cy="26277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990" y="3066805"/>
            <a:ext cx="2756535" cy="7448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97125" y="3131455"/>
            <a:ext cx="2880320" cy="61555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A 90 degree rotation anti-clockwise (positive sense)</a:t>
            </a:r>
          </a:p>
        </p:txBody>
      </p:sp>
      <p:cxnSp>
        <p:nvCxnSpPr>
          <p:cNvPr id="18" name="Straight Arrow Connector 17"/>
          <p:cNvCxnSpPr>
            <a:stCxn id="16" idx="1"/>
          </p:cNvCxnSpPr>
          <p:nvPr/>
        </p:nvCxnSpPr>
        <p:spPr>
          <a:xfrm flipH="1">
            <a:off x="5157065" y="3439232"/>
            <a:ext cx="540060" cy="21263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6" idx="1"/>
          </p:cNvCxnSpPr>
          <p:nvPr/>
        </p:nvCxnSpPr>
        <p:spPr>
          <a:xfrm flipH="1" flipV="1">
            <a:off x="4977045" y="3246825"/>
            <a:ext cx="720080" cy="192407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06615" y="4326945"/>
            <a:ext cx="657073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Rotating through 90⁰ twice is </a:t>
            </a:r>
            <a:r>
              <a:rPr lang="en-GB" sz="2000" dirty="0">
                <a:solidFill>
                  <a:schemeClr val="tx2"/>
                </a:solidFill>
              </a:rPr>
              <a:t>a 180 </a:t>
            </a:r>
            <a:r>
              <a:rPr lang="en-GB" sz="2000" dirty="0" smtClean="0">
                <a:solidFill>
                  <a:schemeClr val="tx2"/>
                </a:solidFill>
              </a:rPr>
              <a:t>⁰ rotation. Equivalent to multiplication by -1 in 2D.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mtClean="0"/>
              <a:t>L1 S</a:t>
            </a:r>
            <a:fld id="{1587A628-B517-4FCF-B705-E1D0C7774025}" type="slidenum">
              <a:rPr lang="en-GB" smtClean="0"/>
              <a:pPr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0493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0" y="3832225"/>
            <a:ext cx="9144000" cy="13112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Complex numbers and vectors</a:t>
            </a:r>
            <a:endParaRPr lang="en-GB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6777245" y="1941680"/>
            <a:ext cx="1755195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7227295" y="816555"/>
            <a:ext cx="0" cy="148516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7227295" y="1176595"/>
            <a:ext cx="675075" cy="76508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7902370" y="1176595"/>
            <a:ext cx="0" cy="765085"/>
          </a:xfrm>
          <a:prstGeom prst="line">
            <a:avLst/>
          </a:prstGeom>
          <a:ln w="1905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7227295" y="1221600"/>
            <a:ext cx="675076" cy="0"/>
          </a:xfrm>
          <a:prstGeom prst="line">
            <a:avLst/>
          </a:prstGeom>
          <a:ln w="1905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857365" y="1851670"/>
            <a:ext cx="31503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7275" y="1036934"/>
            <a:ext cx="31503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GB" sz="24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47375" y="991929"/>
            <a:ext cx="31503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GB" sz="24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65" y="1243318"/>
            <a:ext cx="2969895" cy="27241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1" y="1678908"/>
            <a:ext cx="551407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Want to map between complex numbers and vectors</a:t>
            </a:r>
          </a:p>
        </p:txBody>
      </p:sp>
      <p:pic>
        <p:nvPicPr>
          <p:cNvPr id="23" name="Picture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65" y="2165035"/>
            <a:ext cx="1817370" cy="22669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7201" y="2579008"/>
            <a:ext cx="274068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Answer is straightforward:</a:t>
            </a:r>
          </a:p>
        </p:txBody>
      </p:sp>
      <p:pic>
        <p:nvPicPr>
          <p:cNvPr id="25" name="Picture 2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65" y="3111810"/>
            <a:ext cx="3832860" cy="27241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7201" y="4101919"/>
            <a:ext cx="7275005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The real axis transforms between vectors and even elements in 2D GA</a:t>
            </a:r>
          </a:p>
          <a:p>
            <a:r>
              <a:rPr lang="en-GB" sz="2000" dirty="0" smtClean="0">
                <a:solidFill>
                  <a:schemeClr val="bg1"/>
                </a:solidFill>
              </a:rPr>
              <a:t>This only works is 2D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mtClean="0"/>
              <a:t>L1 S</a:t>
            </a:r>
            <a:fld id="{1587A628-B517-4FCF-B705-E1D0C7774025}" type="slidenum">
              <a:rPr lang="en-GB" smtClean="0"/>
              <a:pPr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5385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3832225"/>
            <a:ext cx="9144000" cy="13112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Rotations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457202" y="1176595"/>
            <a:ext cx="3439724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Complex numbers are efficient for handling rotations in 2D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980" y="1266605"/>
            <a:ext cx="1205865" cy="30861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6957265" y="1806665"/>
            <a:ext cx="1755195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7407315" y="681540"/>
            <a:ext cx="0" cy="148516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7407315" y="1041580"/>
            <a:ext cx="675075" cy="76508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6597225" y="1131590"/>
            <a:ext cx="810090" cy="67507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133" y="778755"/>
            <a:ext cx="573405" cy="30861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1699" y="1007355"/>
            <a:ext cx="123825" cy="16002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2391730"/>
            <a:ext cx="4122420" cy="8077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2206" y="2526745"/>
            <a:ext cx="1459504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In terms of vectors:</a:t>
            </a:r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70" y="4264315"/>
            <a:ext cx="2444115" cy="28765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26995" y="4101920"/>
            <a:ext cx="441049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First example of how rotations are handled efficiently in GA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mtClean="0"/>
              <a:t>L1 S</a:t>
            </a:r>
            <a:fld id="{1587A628-B517-4FCF-B705-E1D0C7774025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6507215" y="2733186"/>
            <a:ext cx="252028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dirty="0" smtClean="0">
                <a:solidFill>
                  <a:schemeClr val="tx2"/>
                </a:solidFill>
              </a:rPr>
              <a:t>NB anti-commutation of </a:t>
            </a:r>
            <a:r>
              <a:rPr lang="en-GB" sz="1600" i="1" dirty="0" smtClean="0">
                <a:solidFill>
                  <a:schemeClr val="tx2"/>
                </a:solidFill>
              </a:rPr>
              <a:t>I</a:t>
            </a:r>
            <a:r>
              <a:rPr lang="en-GB" sz="1600" dirty="0" smtClean="0">
                <a:solidFill>
                  <a:schemeClr val="tx2"/>
                </a:solidFill>
              </a:rPr>
              <a:t> with vectors puts minus sign in exponent. See next lecture.</a:t>
            </a:r>
          </a:p>
        </p:txBody>
      </p:sp>
    </p:spTree>
    <p:extLst>
      <p:ext uri="{BB962C8B-B14F-4D97-AF65-F5344CB8AC3E}">
        <p14:creationId xmlns:p14="http://schemas.microsoft.com/office/powerpoint/2010/main" val="2448169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Resources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1311274"/>
            <a:ext cx="9144000" cy="3832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791580" y="1867345"/>
            <a:ext cx="3240360" cy="2954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geometry.mrao.cam.ac.uk</a:t>
            </a:r>
            <a:b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chris.doran@arm.com</a:t>
            </a: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cjld1@cam.ac.uk</a:t>
            </a: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@</a:t>
            </a:r>
            <a:r>
              <a:rPr lang="en-GB" sz="2400" dirty="0" err="1" smtClean="0">
                <a:solidFill>
                  <a:schemeClr val="bg1"/>
                </a:solidFill>
                <a:latin typeface="Calibri Light" panose="020F0302020204030204" pitchFamily="34" charset="0"/>
              </a:rPr>
              <a:t>chrisjldoran</a:t>
            </a: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#</a:t>
            </a:r>
            <a:r>
              <a:rPr lang="en-GB" sz="2400" dirty="0" err="1" smtClean="0">
                <a:solidFill>
                  <a:schemeClr val="bg1"/>
                </a:solidFill>
                <a:latin typeface="Calibri Light" panose="020F0302020204030204" pitchFamily="34" charset="0"/>
              </a:rPr>
              <a:t>geometricalgebra</a:t>
            </a: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>
                <a:solidFill>
                  <a:schemeClr val="bg1"/>
                </a:solidFill>
                <a:latin typeface="Calibri Light" panose="020F0302020204030204" pitchFamily="34" charset="0"/>
              </a:rPr>
              <a:t>github.com/</a:t>
            </a:r>
            <a:r>
              <a:rPr lang="en-GB" sz="2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ga</a:t>
            </a:r>
            <a:endParaRPr lang="en-GB" sz="240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/>
            </a:r>
            <a:b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</a:b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7" name="Picture 6" descr="cov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8665" y="825550"/>
            <a:ext cx="3015335" cy="4317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mtClean="0"/>
              <a:t>L1 S</a:t>
            </a:r>
            <a:fld id="{1587A628-B517-4FCF-B705-E1D0C7774025}" type="slidenum">
              <a:rPr lang="en-GB" smtClean="0"/>
              <a:pPr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69376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6.25"/>
  <p:tag name="ORIGINALWIDTH" val="671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l}{\bm{l}}&#10;\newcommand{\bn}{\bm{n}}&#10;\newcommand{\bx}{\bm{x}}&#10;\newcommand{\dt}{\! \cdot \!}&#10;\newcommand{\wdg}{\! \wedge \!}&#10;\newcommand{\crs}{\! \times \!}&#10;\newcommand{\scp}{\! \ast \!}&#10;&#10;&#10;\definecolor{myGrey}{RGB}{62,62,64}&#10;\color{myGrey}&#10;&#10;\begin{document}&#10;\begin{align*}&#10;a+b=b+a&#10;\end{align*}&#10;\end{document}"/>
  <p:tag name="IGUANATEXSIZE" val="2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1.46866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l}{\bm{l}}&#10;\newcommand{\bn}{\bm{n}}&#10;\newcommand{\bx}{\bm{x}}&#10;\newcommand{\dt}{\! \cdot \!}&#10;\newcommand{\wdg}{\! \wedge \!}&#10;\newcommand{\crs}{\! \times \!}&#10;\newcommand{\scp}{\! \ast \!}&#10;&#10;&#10;\definecolor{myGrey}{RGB}{62,62,64}&#10;\color{myGrey}&#10;&#10;\begin{document}&#10;\begin{align*}&#10;a+(b+c)=(a+b)+c&#10;\end{align*}&#10;\end{document}"/>
  <p:tag name="IGUANATEXSIZE" val="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6.95071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l}{\bm{l}}&#10;\newcommand{\bn}{\bm{n}}&#10;\newcommand{\bx}{\bm{x}}&#10;\newcommand{\dt}{\! \cdot \!}&#10;\newcommand{\wdg}{\! \wedge \!}&#10;\newcommand{\crs}{\! \times \!}&#10;\newcommand{\scp}{\! \ast \!}&#10;&#10;&#10;\definecolor{myGrey}{RGB}{62,62,64}&#10;\color{myGrey}&#10;&#10;\begin{document}&#10;\begin{align*}&#10;\lambda (a+b) = \lambda a + \lambda b&#10;\end{align*}&#10;\end{document}"/>
  <p:tag name="IGUANATEXSIZE" val="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8.15614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l}{\bm{l}}&#10;\newcommand{\bn}{\bm{n}}&#10;\newcommand{\bx}{\bm{x}}&#10;\newcommand{\dt}{\! \cdot \!}&#10;\newcommand{\wdg}{\! \wedge \!}&#10;\newcommand{\crs}{\! \times \!}&#10;\newcommand{\scp}{\! \ast \!}&#10;&#10;&#10;\definecolor{myGrey}{RGB}{62,62,64}&#10;\color{myGrey}&#10;&#10;\begin{document}&#10;\begin{align*}&#10;(\lambda + \mu) a = \lambda a + \mu a&#10;\end{align*}&#10;\end{document}"/>
  <p:tag name="IGUANATEXSIZE" val="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3.5"/>
  <p:tag name="ORIGINALWIDTH" val="632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i}{\bm{i}}&#10;\newcommand{\bj}{\bm{j}}&#10;\newcommand{\bk}{\bm{k}}&#10;\newcommand{\bkl}{\bm{l}}&#10;\newcommand{\bn}{\bm{n}}&#10;\newcommand{\bx}{\bm{x}}&#10;\newcommand{\dt}{\! \cdot \!}&#10;\newcommand{\wdg}{\! \wedge \!}&#10;\newcommand{\crs}{\! \times \!}&#10;\newcommand{\scp}{\! \ast \!}&#10;&#10;&#10;\definecolor{myGrey}{RGB}{62,62,64}&#10;\color{white}&#10;&#10;\begin{document}&#10;\begin{align*}&#10;[1.0,2.0,3.0 ]&#10;\end{align*}&#10;\end{document}"/>
  <p:tag name="IGUANATEXSIZE" val="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0.18237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&#10;&#10;\definecolor{myGrey}{RGB}{62,62,64}&#10;\color{white}&#10;&#10;\begin{document}&#10;\begin{align*}&#10;1.0\be_1 + 2.0\be_2 + 3.0 \be_3&#10;\end{align*}&#10;\end{document}"/>
  <p:tag name="IGUANATEXSIZE" val="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5.15788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l}{\bm{l}}&#10;\newcommand{\bn}{\bm{n}}&#10;\newcommand{\bx}{\bm{x}}&#10;\newcommand{\dt}{\! \cdot \!}&#10;\newcommand{\wdg}{\! \wedge \!}&#10;\newcommand{\crs}{\! \times \!}&#10;\newcommand{\scp}{\! \ast \!}&#10;&#10;&#10;\definecolor{myGrey}{RGB}{62,62,64}&#10;\color{myGrey}&#10;&#10;\begin{document}&#10;\begin{align*}&#10;\ba \crs \bb = a b \sin \theta \, \bn&#10;\end{align*}&#10;\end{document}"/>
  <p:tag name="IGUANATEXSIZE" val="2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05"/>
  <p:tag name="ORIGINALWIDTH" val="658.0413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l}{\bm{l}}&#10;\newcommand{\bn}{\bm{n}}&#10;\newcommand{\bx}{\bm{x}}&#10;\newcommand{\dt}{\! \cdot \!}&#10;\newcommand{\wdg}{\! \wedge \!}&#10;\newcommand{\crs}{\! \times \!}&#10;\newcommand{\scp}{\! \ast \!}&#10;&#10;&#10;\definecolor{myGrey}{RGB}{62,62,64}&#10;\color{myGrey}&#10;&#10;\begin{document}&#10;\begin{align*}&#10;\ba \dt \bb &amp;= a b \cos \theta\\&#10;&amp;= \sum_i a_i b_i &#10;\end{align*}&#10;\end{document}"/>
  <p:tag name="IGUANATEXSIZE" val="2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8.75"/>
  <p:tag name="ORIGINALWIDTH" val="395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l}{\bm{l}}&#10;\newcommand{\bn}{\bm{n}}&#10;\newcommand{\bx}{\bm{x}}&#10;\newcommand{\dt}{\! \cdot \!}&#10;\newcommand{\wdg}{\! \wedge \!}&#10;\newcommand{\crs}{\! \times \!}&#10;\newcommand{\scp}{\! \ast \!}&#10;&#10;&#10;\definecolor{myGrey}{RGB}{62,62,64}&#10;\color{myGrey}&#10;&#10;\begin{document}&#10;\begin{align*}&#10;\{\ba,\bb,\bn \}&#10;\end{align*}&#10;\end{document}"/>
  <p:tag name="IGUANATEXSIZE" val="2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53.3221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l}{\bm{l}}&#10;\newcommand{\bn}{\bm{n}}&#10;\newcommand{\bx}{\bm{x}}&#10;\newcommand{\dt}{\! \cdot \!}&#10;\newcommand{\wdg}{\! \wedge \!}&#10;\newcommand{\crs}{\! \times \!}&#10;\newcommand{\scp}{\! \ast \!}&#10;&#10;&#10;\definecolor{myGrey}{RGB}{62,62,64}&#10;\color{myGrey}&#10;&#10;\begin{document}&#10;\begin{align*}&#10;\ba\bb^* &amp;= (a_1 + a_2 i)(b_1 - b_2 i) \\&#10;&amp;= a_1 b_1 + a_2 b_2 \\&#10;&amp; \quad +i(a_2 b_1 - a_1 b_2) \\&#10;&amp;= ab \cos \! \theta + i ab \sin \! \theta&#10;\end{align*}&#10;\end{document}"/>
  <p:tag name="IGUANATEXSIZE" val="2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9.15252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l}{\bm{l}}&#10;\newcommand{\bn}{\bm{n}}&#10;\newcommand{\bx}{\bm{x}}&#10;\newcommand{\dt}{\! \cdot \!}&#10;\newcommand{\wdg}{\! \wedge \!}&#10;\newcommand{\crs}{\! \times \!}&#10;\newcommand{\scp}{\! \ast \!}&#10;&#10;&#10;\definecolor{myGrey}{RGB}{62,62,64}&#10;\color{white}&#10;&#10;\begin{document}&#10;\begin{align*}&#10;\ba \bb = - \ba \dt \bb + \ba \crs \bb &#10;\end{align*}&#10;\end{document}"/>
  <p:tag name="IGUANATEXSIZE" val="2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0.43244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&#10;&#10;\definecolor{myGrey}{RGB}{62,62,64}&#10;\color{white}&#10;&#10;\begin{document}&#10;\begin{align*}&#10;\bi^2 = \bj^2 = \bk^2 = \bi\bj\bk = -1&#10;\end{align*}&#10;\end{document}"/>
  <p:tag name="IGUANATEXSIZE" val="2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0.43244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i}{\bm{i}}&#10;\newcommand{\bj}{\bm{j}}&#10;\newcommand{\bk}{\bm{k}}&#10;\newcommand{\bkl}{\bm{l}}&#10;\newcommand{\bn}{\bm{n}}&#10;\newcommand{\bx}{\bm{x}}&#10;\newcommand{\dt}{\! \cdot \!}&#10;\newcommand{\wdg}{\! \wedge \!}&#10;\newcommand{\crs}{\! \times \!}&#10;\newcommand{\scp}{\! \ast \!}&#10;&#10;&#10;\definecolor{myGrey}{RGB}{62,62,64}&#10;\color{myGrey}&#10;&#10;\begin{document}&#10;\begin{align*}&#10;\bi^2=\bj^2=\bk^2 = \bi\bj\bk=-1 &#10;\end{align*}&#10;\end{document}"/>
  <p:tag name="IGUANATEXSIZE" val="2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67.5393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i}{\bm{i}}&#10;\newcommand{\bj}{\bm{j}}&#10;\newcommand{\bk}{\bm{k}}&#10;\newcommand{\bkl}{\bm{l}}&#10;\newcommand{\bn}{\bm{n}}&#10;\newcommand{\bx}{\bm{x}}&#10;\newcommand{\dt}{\! \cdot \!}&#10;\newcommand{\wdg}{\! \wedge \!}&#10;\newcommand{\crs}{\! \times \!}&#10;\newcommand{\scp}{\! \ast \!}&#10;&#10;&#10;\definecolor{myGrey}{RGB}{62,62,64}&#10;\color{myGrey}&#10;&#10;\begin{document}&#10;\begin{align*}&#10;&amp;\bi\bj = -\bi\bj\bk\bk = \bk \\&#10;&amp;\bj\bi = -\bj\bi\bi\bj\bk = \bj\bj\bk = -\bk&#10;\end{align*}&#10;\end{document}"/>
  <p:tag name="IGUANATEXSIZE" val="2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7.58039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i}{\bm{i}}&#10;\newcommand{\bj}{\bm{j}}&#10;\newcommand{\bk}{\bm{k}}&#10;\newcommand{\bkl}{\bm{l}}&#10;\newcommand{\bn}{\bm{n}}&#10;\newcommand{\bx}{\bm{x}}&#10;\newcommand{\dt}{\! \cdot \!}&#10;\newcommand{\wdg}{\! \wedge \!}&#10;\newcommand{\crs}{\! \times \!}&#10;\newcommand{\scp}{\! \ast \!}&#10;&#10;&#10;\definecolor{myGrey}{RGB}{62,62,64}&#10;\color{myGrey}&#10;&#10;\begin{document}&#10;\begin{align*}&#10;\ba = a_1 \bi + a_2 \bj + a_3 \bk \quad&#10;\bb = b_1 \bi + b_2 \bj + b_3 \bk&#10;\end{align*}&#10;\end{document}"/>
  <p:tag name="IGUANATEXSIZE" val="2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8"/>
  <p:tag name="ORIGINALWIDTH" val="588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&#10;&#10;\definecolor{myGrey}{RGB}{62,62,64}&#10;\color{myGrey}&#10;&#10;\begin{document}&#10;\begin{align*}&#10;\ba \bb = c_0 + \bc&#10;\end{align*}&#10;\end{document}"/>
  <p:tag name="IGUANATEXSIZE" val="2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9.61591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&#10;&#10;\definecolor{myGrey}{RGB}{62,62,64}&#10;\color{myGrey}&#10;&#10;\begin{document}&#10;\begin{align*}&#10;\bc = (a_2 b_3 - b_2 a_3) \bi + (a_3 b_1 - b_3 a_1) \bj + (a_1 b_2 -&#10;b_1 a_2) \bk&#10;\end{align*}&#10;\end{document}"/>
  <p:tag name="IGUANATEXSIZE" val="2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9.3333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&#10;&#10;\definecolor{myGrey}{RGB}{62,62,64}&#10;\color{myGrey}&#10;&#10;\begin{document}&#10;\begin{align*}&#10;\ba &amp;= a_1 \be_1 + a_2 \be_2 \\&#10;\bb &amp;= b_1 \be_1 + b_2 \be_2 &#10;\end{align*}&#10;\end{document}"/>
  <p:tag name="IGUANATEXSIZE" val="2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6343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&#10;&#10;\definecolor{myGrey}{RGB}{62,62,64}&#10;\color{myGrey}&#10;&#10;\begin{document}&#10;\begin{align*}&#10;\ba \wdg \bb &#10;&amp;= a_1 b_2 \be_1 \wdg \be_2 + a_2 b_1 \be_2 \wdg \be_1 \\&#10;&amp;= (a_1 b_2 - a_2 b_1) \be_1 \wdg \be_2&#10;\end{align*}&#10;\end{document}"/>
  <p:tag name="IGUANATEXSIZE" val="2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0.07598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&#10;&#10;\definecolor{myGrey}{RGB}{62,62,64}&#10;\color{myGrey}&#10;&#10;\begin{document}&#10;\begin{align*}&#10;\ba \wdg \bb = - \bb \wdg \ba \quad \ba \wdg \ba = 0&#10;\end{align*}&#10;\end{document}"/>
  <p:tag name="IGUANATEXSIZE" val="2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2.13638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&#10;&#10;\definecolor{myGrey}{RGB}{62,62,64}&#10;\color{myGrey}&#10;&#10;\begin{document}&#10;\begin{align*}&#10;a \wdg (b+c) = a \wdg b + a \wdg c&#10;\end{align*}&#10;\end{document}"/>
  <p:tag name="IGUANATEXSIZE" val="2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6.25"/>
  <p:tag name="ORIGINALWIDTH" val="221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&#10;&#10;\definecolor{myGrey}{RGB}{62,62,64}&#10;\color{myGrey}&#10;&#10;\begin{document}&#10;\begin{align*}&#10;a \wdg b&#10;\end{align*}&#10;\end{document}"/>
  <p:tag name="IGUANATEXSIZE" val="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1.25"/>
  <p:tag name="ORIGINALWIDTH" val="213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&#10;&#10;\definecolor{myGrey}{RGB}{62,62,64}&#10;\color{myGrey}&#10;&#10;\begin{document}&#10;\begin{align*}&#10;a \wdg c&#10;\end{align*}&#10;\end{document}"/>
  <p:tag name="IGUANATEXSIZE" val="2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7.25"/>
  <p:tag name="ORIGINALWIDTH" val="504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&#10;&#10;\definecolor{myGrey}{RGB}{62,62,64}&#10;\color{myGrey}&#10;&#10;\begin{document}&#10;\begin{align*}&#10;a \wdg (b+c)&#10;\end{align*}&#10;\end{document}"/>
  <p:tag name="IGUANATEXSIZE" val="2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5.35622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&#10;&#10;\definecolor{myGrey}{RGB}{62,62,64}&#10;\color{white}&#10;&#10;\begin{document}&#10;\begin{align*}&#10;\ba \bb = \ba \dt \bb + \ba \wdg \bb&#10;\end{align*}&#10;\end{document}"/>
  <p:tag name="IGUANATEXSIZE" val="2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0.3123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&#10;&#10;\definecolor{myGrey}{RGB}{62,62,64}&#10;\color{myGrey}&#10;&#10;\begin{document}&#10;\begin{align*}&#10;a(bc) = (ab)c = abc \\&#10;a(b+c) = ab + ac&#10;\end{align*}&#10;\end{document}"/>
  <p:tag name="IGUANATEXSIZE" val="2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3.64252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&#10;&#10;\definecolor{myGrey}{RGB}{62,62,64}&#10;\color{myGrey}&#10;&#10;\begin{document}&#10;\begin{align*}&#10;(a+b)^2 = a^2 + b^2 + (ab + ba)&#10;\end{align*}&#10;\end{document}"/>
  <p:tag name="IGUANATEXSIZE" val="2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77.4578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a \dt b &amp;= \half (ab + ba) \\&#10;a \wdg b &amp;= \half (ab - ba) &#10;\end{align*}&#10;\end{document}"/>
  <p:tag name="IGUANATEXSIZE" val="2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6.5"/>
  <p:tag name="ORIGINALWIDTH" val="93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\be_1&#10;\end{align*}&#10;\end{document}"/>
  <p:tag name="IGUANATEXSIZE" val="2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6.5"/>
  <p:tag name="ORIGINALWIDTH" val="101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\be_2&#10;\end{align*}&#10;\end{document}"/>
  <p:tag name="IGUANATEXSIZE" val="2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29.686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\be_1 \dt \be_1 = \be_2 \dt \be_2 = 1 \\&#10;\be_1 \dt \be_2 = 0&#10;\end{align*}&#10;\end{document}"/>
  <p:tag name="IGUANATEXSIZE" val="2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68.3117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\be_1 \be_1 &amp;= \be_1 \dt \be_1 + \be_1 \wdg \be_1 \\&#10;&amp;= 1&#10;\end{align*}&#10;\end{document}"/>
  <p:tag name="IGUANATEXSIZE" val="2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62.1104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\be_1 \be_2 &amp;= \be_1 \dt \be_2 + \be_1 \wdg \be_2 \\&#10;&amp;= - \be_2 \wdg \be_1 = - \be_2 \be_1&#10;\end{align*}&#10;\end{document}"/>
  <p:tag name="IGUANATEXSIZE" val="2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67.25"/>
  <p:tag name="ORIGINALWIDTH" val="391.7959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(\be_1 \wdg \be_2)^2 &#10;&amp;= (\be_1 \be_2)(\be_1 \be_2) \\&#10;&amp;= \be_1 \be_2 \be_1 \be_2 \\&#10;&amp;= - \be_1 \be_1 \be_2 \be_2 \\ &#10;&amp;= - \be_2 \be_2 \\&#10;&amp;= -1&#10;\end{align*}&#10;\end{document}"/>
  <p:tag name="IGUANATEXSIZE" val="2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0.5"/>
  <p:tag name="ORIGINALWIDTH" val="423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&#10;&#10;\definecolor{myGrey}{RGB}{62,62,64}&#10;\color{myGrey}&#10;&#10;\begin{document}&#10;\begin{align*}&#10;I = \be_1 \be_2&#10;\end{align*}&#10;\end{document}"/>
  <p:tag name="IGUANATEXSIZE" val="2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0.6687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I  \blde_1 &amp;= (- \blde_2 \blde_1) \blde_1 = -\blde_2 \blde_1 \blde_1 =&#10;-\blde_2 \\ &#10;I \blde_2 &amp;= (\blde_1 \blde_2) \blde_2 = \blde_1 \blde_2 \blde_2 = \blde_1&#10;\end{align*}&#10;\end{document}"/>
  <p:tag name="IGUANATEXSIZE" val="2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94.5542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\be_1 I &amp;=  \blde_1 (\blde_1 \blde_2) = \blde_2 \\&#10;\be_2 I &amp;= \blde_2 (\blde_1 \blde_2) = - \blde_1&#10;\end{align*}&#10;\end{document}"/>
  <p:tag name="IGUANATEXSIZE" val="2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6.04236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z = x + y \blde_1 \blde_2 = x + I y &#10;\end{align*}&#10;\end{document}"/>
  <p:tag name="IGUANATEXSIZE" val="2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9.25"/>
  <p:tag name="ORIGINALWIDTH" val="715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\bx = x \blde_1 + y \blde_2&#10;\end{align*}&#10;\end{document}"/>
  <p:tag name="IGUANATEXSIZE" val="2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1.17299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\blde_1 \bx = x + y \blde_1 \blde_2 = x + I y = z&#10;\end{align*}&#10;\end{document}"/>
  <p:tag name="IGUANATEXSIZE" val="2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1.5"/>
  <p:tag name="ORIGINALWIDTH" val="474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z \mapsto e^{I \phi} z&#10;\end{align*}&#10;\end{document}"/>
  <p:tag name="IGUANATEXSIZE" val="2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1.5"/>
  <p:tag name="ORIGINALWIDTH" val="225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e^{I\phi}z&#10;\end{align*}&#10;\end{document}"/>
  <p:tag name="IGUANATEXSIZE" val="2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3"/>
  <p:tag name="ORIGINALWIDTH" val="48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z&#10;\end{align*}&#10;\end{document}"/>
  <p:tag name="IGUANATEXSIZE" val="2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41.0721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\bx &amp;= \blde_1 z \mapsto \bx' = \blde_1 z' \\&#10;\bx'&amp;= \blde_1 e^{I \phi} z = e^{-I \phi} \blde_1 z =  e^{-I \phi} \bx&#10;\end{align*}&#10;\end{document}"/>
  <p:tag name="IGUANATEXSIZE" val="2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.7389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white}&#10;&#10;\begin{document}&#10;\begin{align*}&#10;\bx' = e^{-I \phi} \bx = \bx e^{I \phi}&#10;\end{align*}&#10;\end{document}"/>
  <p:tag name="IGUANATEXSIZE" val="20"/>
</p:tagLst>
</file>

<file path=ppt/theme/theme1.xml><?xml version="1.0" encoding="utf-8"?>
<a:theme xmlns:a="http://schemas.openxmlformats.org/drawingml/2006/main" name="Office Theme">
  <a:themeElements>
    <a:clrScheme name="Geometric Algebra">
      <a:dk1>
        <a:srgbClr val="3E3E40"/>
      </a:dk1>
      <a:lt1>
        <a:sysClr val="window" lastClr="FFFFFF"/>
      </a:lt1>
      <a:dk2>
        <a:srgbClr val="8C8C8C"/>
      </a:dk2>
      <a:lt2>
        <a:srgbClr val="35AFA9"/>
      </a:lt2>
      <a:accent1>
        <a:srgbClr val="007997"/>
      </a:accent1>
      <a:accent2>
        <a:srgbClr val="85E8BA"/>
      </a:accent2>
      <a:accent3>
        <a:srgbClr val="004983"/>
      </a:accent3>
      <a:accent4>
        <a:srgbClr val="F4F4F4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chemeClr val="bg2"/>
        </a:solidFill>
      </a:spPr>
      <a:bodyPr wrap="square" lIns="72000" tIns="0" rIns="0" bIns="0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1645</TotalTime>
  <Words>638</Words>
  <Application>Microsoft Office PowerPoint</Application>
  <PresentationFormat>On-screen Show (16:9)</PresentationFormat>
  <Paragraphs>154</Paragraphs>
  <Slides>21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Geometric Algebra</vt:lpstr>
      <vt:lpstr>Introduction</vt:lpstr>
      <vt:lpstr>Resources</vt:lpstr>
      <vt:lpstr>Some history</vt:lpstr>
      <vt:lpstr>Vectors and Vector Spaces</vt:lpstr>
      <vt:lpstr>What is a vector?</vt:lpstr>
      <vt:lpstr>The problem</vt:lpstr>
      <vt:lpstr>Complex numbers</vt:lpstr>
      <vt:lpstr>Quaternions</vt:lpstr>
      <vt:lpstr>Quaternion properties</vt:lpstr>
      <vt:lpstr>Grassmann algebra</vt:lpstr>
      <vt:lpstr>Properties of the outer product</vt:lpstr>
      <vt:lpstr>Geometric algebra</vt:lpstr>
      <vt:lpstr>The geometric product</vt:lpstr>
      <vt:lpstr>Two dimensions</vt:lpstr>
      <vt:lpstr>The bivector</vt:lpstr>
      <vt:lpstr>Unification</vt:lpstr>
      <vt:lpstr>Products in 2D</vt:lpstr>
      <vt:lpstr>Complex numbers and vectors</vt:lpstr>
      <vt:lpstr>Rotations</vt:lpstr>
      <vt:lpstr>Resources</vt:lpstr>
    </vt:vector>
  </TitlesOfParts>
  <Company>Arm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Chris Doran</dc:creator>
  <cp:lastModifiedBy>Chris Doran</cp:lastModifiedBy>
  <cp:revision>128</cp:revision>
  <cp:lastPrinted>2015-10-14T15:07:49Z</cp:lastPrinted>
  <dcterms:created xsi:type="dcterms:W3CDTF">2015-03-03T13:28:34Z</dcterms:created>
  <dcterms:modified xsi:type="dcterms:W3CDTF">2015-10-14T15:14:37Z</dcterms:modified>
</cp:coreProperties>
</file>