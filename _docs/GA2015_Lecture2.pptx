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3"/>
  </p:notesMasterIdLst>
  <p:sldIdLst>
    <p:sldId id="256" r:id="rId2"/>
    <p:sldId id="267" r:id="rId3"/>
    <p:sldId id="269" r:id="rId4"/>
    <p:sldId id="270" r:id="rId5"/>
    <p:sldId id="271" r:id="rId6"/>
    <p:sldId id="278" r:id="rId7"/>
    <p:sldId id="279" r:id="rId8"/>
    <p:sldId id="281" r:id="rId9"/>
    <p:sldId id="280" r:id="rId10"/>
    <p:sldId id="282" r:id="rId11"/>
    <p:sldId id="283" r:id="rId12"/>
    <p:sldId id="284" r:id="rId13"/>
    <p:sldId id="273" r:id="rId14"/>
    <p:sldId id="274" r:id="rId15"/>
    <p:sldId id="288" r:id="rId16"/>
    <p:sldId id="287" r:id="rId17"/>
    <p:sldId id="289" r:id="rId18"/>
    <p:sldId id="276" r:id="rId19"/>
    <p:sldId id="277" r:id="rId20"/>
    <p:sldId id="285" r:id="rId21"/>
    <p:sldId id="286" r:id="rId22"/>
  </p:sldIdLst>
  <p:sldSz cx="9144000" cy="5143500" type="screen16x9"/>
  <p:notesSz cx="6858000" cy="9144000"/>
  <p:defaultTextStyle>
    <a:defPPr>
      <a:defRPr lang="en-US"/>
    </a:defPPr>
    <a:lvl1pPr marL="0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39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79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19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59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698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37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978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17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Objects="1">
      <p:cViewPr>
        <p:scale>
          <a:sx n="140" d="100"/>
          <a:sy n="140" d="100"/>
        </p:scale>
        <p:origin x="-792" y="-150"/>
      </p:cViewPr>
      <p:guideLst>
        <p:guide orient="horz" pos="826"/>
        <p:guide orient="horz" pos="2414"/>
        <p:guide orient="horz" pos="1620"/>
        <p:guide orient="horz" pos="2159"/>
        <p:guide orient="horz" pos="1081"/>
        <p:guide pos="1916"/>
        <p:guide pos="1463"/>
        <p:guide pos="4297"/>
        <p:guide pos="2880"/>
        <p:guide pos="38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7AC06E-65D4-4CC2-B345-9F25CE0DBBC4}" type="datetimeFigureOut">
              <a:rPr lang="en-GB" smtClean="0"/>
              <a:t>14/10/2015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719D0C-A623-4134-ACE2-8871D95CA7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0032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1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1" y="2914651"/>
            <a:ext cx="6400800" cy="131444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1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7B33-9D94-437F-A20B-8BFA82417D40}" type="datetime1">
              <a:rPr lang="en-GB" smtClean="0"/>
              <a:t>14/10/2015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1401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9917"/>
            <a:ext cx="8229600" cy="653143"/>
          </a:xfrm>
        </p:spPr>
        <p:txBody>
          <a:bodyPr>
            <a:normAutofit/>
          </a:bodyPr>
          <a:lstStyle>
            <a:lvl1pPr algn="l">
              <a:defRPr sz="4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0"/>
            <a:endParaRPr lang="en-US" dirty="0" smtClean="0"/>
          </a:p>
        </p:txBody>
      </p:sp>
      <p:sp>
        <p:nvSpPr>
          <p:cNvPr id="7" name="Rectangle 6"/>
          <p:cNvSpPr/>
          <p:nvPr userDrawn="1"/>
        </p:nvSpPr>
        <p:spPr>
          <a:xfrm>
            <a:off x="0" y="326570"/>
            <a:ext cx="457201" cy="46652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E4742-147F-4825-A015-3CB86B608FC1}" type="datetime1">
              <a:rPr lang="en-GB" smtClean="0"/>
              <a:t>14/10/2015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L2 S</a:t>
            </a:r>
            <a:fld id="{40E39B3E-C87B-4733-AA7D-3387836CB72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40864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1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4"/>
            <a:ext cx="7772401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3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79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37141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55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69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83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97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11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A003C-4227-4696-BFCF-1F7456AC2B5F}" type="datetime1">
              <a:rPr lang="en-GB" smtClean="0"/>
              <a:t>14/10/2015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4263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47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1" y="1200150"/>
            <a:ext cx="4038600" cy="339447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7A1F6-6C4F-47AD-8BF9-B92975FCBA67}" type="datetime1">
              <a:rPr lang="en-GB" smtClean="0"/>
              <a:t>14/10/2015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360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4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39" indent="0">
              <a:buNone/>
              <a:defRPr sz="2000" b="1"/>
            </a:lvl2pPr>
            <a:lvl3pPr marL="914279" indent="0">
              <a:buNone/>
              <a:defRPr sz="1800" b="1"/>
            </a:lvl3pPr>
            <a:lvl4pPr marL="1371419" indent="0">
              <a:buNone/>
              <a:defRPr sz="1700" b="1"/>
            </a:lvl4pPr>
            <a:lvl5pPr marL="1828559" indent="0">
              <a:buNone/>
              <a:defRPr sz="1700" b="1"/>
            </a:lvl5pPr>
            <a:lvl6pPr marL="2285698" indent="0">
              <a:buNone/>
              <a:defRPr sz="1700" b="1"/>
            </a:lvl6pPr>
            <a:lvl7pPr marL="2742837" indent="0">
              <a:buNone/>
              <a:defRPr sz="1700" b="1"/>
            </a:lvl7pPr>
            <a:lvl8pPr marL="3199978" indent="0">
              <a:buNone/>
              <a:defRPr sz="1700" b="1"/>
            </a:lvl8pPr>
            <a:lvl9pPr marL="3657117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7"/>
            <a:ext cx="4040188" cy="296346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4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39" indent="0">
              <a:buNone/>
              <a:defRPr sz="2000" b="1"/>
            </a:lvl2pPr>
            <a:lvl3pPr marL="914279" indent="0">
              <a:buNone/>
              <a:defRPr sz="1800" b="1"/>
            </a:lvl3pPr>
            <a:lvl4pPr marL="1371419" indent="0">
              <a:buNone/>
              <a:defRPr sz="1700" b="1"/>
            </a:lvl4pPr>
            <a:lvl5pPr marL="1828559" indent="0">
              <a:buNone/>
              <a:defRPr sz="1700" b="1"/>
            </a:lvl5pPr>
            <a:lvl6pPr marL="2285698" indent="0">
              <a:buNone/>
              <a:defRPr sz="1700" b="1"/>
            </a:lvl6pPr>
            <a:lvl7pPr marL="2742837" indent="0">
              <a:buNone/>
              <a:defRPr sz="1700" b="1"/>
            </a:lvl7pPr>
            <a:lvl8pPr marL="3199978" indent="0">
              <a:buNone/>
              <a:defRPr sz="1700" b="1"/>
            </a:lvl8pPr>
            <a:lvl9pPr marL="3657117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7"/>
            <a:ext cx="4041775" cy="296346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6CD4D-CF8E-4775-8D2E-D873B7F9B53B}" type="datetime1">
              <a:rPr lang="en-GB" smtClean="0"/>
              <a:t>14/10/2015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2622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74E0E-D6E0-452F-9047-36E8BAC66091}" type="datetime1">
              <a:rPr lang="en-GB" smtClean="0"/>
              <a:t>14/10/2015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2009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35025-CACB-4394-A7D6-8687D1BAF894}" type="datetime1">
              <a:rPr lang="en-GB" smtClean="0"/>
              <a:t>14/10/2015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7774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39" indent="0">
              <a:buNone/>
              <a:defRPr sz="1200"/>
            </a:lvl2pPr>
            <a:lvl3pPr marL="914279" indent="0">
              <a:buNone/>
              <a:defRPr sz="900"/>
            </a:lvl3pPr>
            <a:lvl4pPr marL="1371419" indent="0">
              <a:buNone/>
              <a:defRPr sz="900"/>
            </a:lvl4pPr>
            <a:lvl5pPr marL="1828559" indent="0">
              <a:buNone/>
              <a:defRPr sz="900"/>
            </a:lvl5pPr>
            <a:lvl6pPr marL="2285698" indent="0">
              <a:buNone/>
              <a:defRPr sz="900"/>
            </a:lvl6pPr>
            <a:lvl7pPr marL="2742837" indent="0">
              <a:buNone/>
              <a:defRPr sz="900"/>
            </a:lvl7pPr>
            <a:lvl8pPr marL="3199978" indent="0">
              <a:buNone/>
              <a:defRPr sz="900"/>
            </a:lvl8pPr>
            <a:lvl9pPr marL="3657117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08D3C-C7B9-42E1-9D72-B22685548B29}" type="datetime1">
              <a:rPr lang="en-GB" smtClean="0"/>
              <a:t>14/10/2015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4769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2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139" indent="0">
              <a:buNone/>
              <a:defRPr sz="2800"/>
            </a:lvl2pPr>
            <a:lvl3pPr marL="914279" indent="0">
              <a:buNone/>
              <a:defRPr sz="2400"/>
            </a:lvl3pPr>
            <a:lvl4pPr marL="1371419" indent="0">
              <a:buNone/>
              <a:defRPr sz="2000"/>
            </a:lvl4pPr>
            <a:lvl5pPr marL="1828559" indent="0">
              <a:buNone/>
              <a:defRPr sz="2000"/>
            </a:lvl5pPr>
            <a:lvl6pPr marL="2285698" indent="0">
              <a:buNone/>
              <a:defRPr sz="2000"/>
            </a:lvl6pPr>
            <a:lvl7pPr marL="2742837" indent="0">
              <a:buNone/>
              <a:defRPr sz="2000"/>
            </a:lvl7pPr>
            <a:lvl8pPr marL="3199978" indent="0">
              <a:buNone/>
              <a:defRPr sz="2000"/>
            </a:lvl8pPr>
            <a:lvl9pPr marL="3657117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6"/>
          </a:xfrm>
        </p:spPr>
        <p:txBody>
          <a:bodyPr/>
          <a:lstStyle>
            <a:lvl1pPr marL="0" indent="0">
              <a:buNone/>
              <a:defRPr sz="1400"/>
            </a:lvl1pPr>
            <a:lvl2pPr marL="457139" indent="0">
              <a:buNone/>
              <a:defRPr sz="1200"/>
            </a:lvl2pPr>
            <a:lvl3pPr marL="914279" indent="0">
              <a:buNone/>
              <a:defRPr sz="900"/>
            </a:lvl3pPr>
            <a:lvl4pPr marL="1371419" indent="0">
              <a:buNone/>
              <a:defRPr sz="900"/>
            </a:lvl4pPr>
            <a:lvl5pPr marL="1828559" indent="0">
              <a:buNone/>
              <a:defRPr sz="900"/>
            </a:lvl5pPr>
            <a:lvl6pPr marL="2285698" indent="0">
              <a:buNone/>
              <a:defRPr sz="900"/>
            </a:lvl6pPr>
            <a:lvl7pPr marL="2742837" indent="0">
              <a:buNone/>
              <a:defRPr sz="900"/>
            </a:lvl7pPr>
            <a:lvl8pPr marL="3199978" indent="0">
              <a:buNone/>
              <a:defRPr sz="900"/>
            </a:lvl8pPr>
            <a:lvl9pPr marL="3657117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3347-173D-48F0-B256-5111788141DC}" type="datetime1">
              <a:rPr lang="en-GB" smtClean="0"/>
              <a:t>14/10/2015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0219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B337B-ABAC-442C-9708-72A06255798E}" type="datetime1">
              <a:rPr lang="en-GB" smtClean="0"/>
              <a:t>14/10/2015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4201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205980"/>
            <a:ext cx="2057400" cy="438864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1463A-B911-47DD-982F-B9B5D0F839D3}" type="datetime1">
              <a:rPr lang="en-GB" smtClean="0"/>
              <a:t>14/10/2015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3927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1" y="205979"/>
            <a:ext cx="8229600" cy="857250"/>
          </a:xfrm>
          <a:prstGeom prst="rect">
            <a:avLst/>
          </a:prstGeom>
        </p:spPr>
        <p:txBody>
          <a:bodyPr vert="horz" lIns="91428" tIns="45714" rIns="91428" bIns="4571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200150"/>
            <a:ext cx="8229600" cy="3394473"/>
          </a:xfrm>
          <a:prstGeom prst="rect">
            <a:avLst/>
          </a:prstGeom>
        </p:spPr>
        <p:txBody>
          <a:bodyPr vert="horz" lIns="91428" tIns="45714" rIns="91428" bIns="4571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1" y="4767265"/>
            <a:ext cx="2133600" cy="273843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4AD149-B732-4901-B4FD-02CF7BCB0915}" type="datetime1">
              <a:rPr lang="en-GB" smtClean="0"/>
              <a:t>14/10/2015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1" y="4767265"/>
            <a:ext cx="2895600" cy="273843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10400" y="0"/>
            <a:ext cx="2133600" cy="273843"/>
          </a:xfrm>
          <a:prstGeom prst="rect">
            <a:avLst/>
          </a:prstGeom>
          <a:solidFill>
            <a:schemeClr val="bg1"/>
          </a:solidFill>
        </p:spPr>
        <p:txBody>
          <a:bodyPr vert="horz" lIns="91428" tIns="45714" rIns="91428" bIns="45714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GB" dirty="0" smtClean="0"/>
              <a:t>L2 S</a:t>
            </a:r>
            <a:fld id="{40E39B3E-C87B-4733-AA7D-3387836CB72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210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279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54" indent="-342854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52" indent="-285713" algn="l" defTabSz="914279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49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988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29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68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08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47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688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9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79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19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59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98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37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78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17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5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4.png"/><Relationship Id="rId17" Type="http://schemas.openxmlformats.org/officeDocument/2006/relationships/image" Target="../media/image9.png"/><Relationship Id="rId2" Type="http://schemas.openxmlformats.org/officeDocument/2006/relationships/tags" Target="../tags/tag2.xml"/><Relationship Id="rId16" Type="http://schemas.openxmlformats.org/officeDocument/2006/relationships/image" Target="../media/image8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3.png"/><Relationship Id="rId5" Type="http://schemas.openxmlformats.org/officeDocument/2006/relationships/tags" Target="../tags/tag5.xml"/><Relationship Id="rId15" Type="http://schemas.openxmlformats.org/officeDocument/2006/relationships/image" Target="../media/image7.png"/><Relationship Id="rId10" Type="http://schemas.openxmlformats.org/officeDocument/2006/relationships/image" Target="../media/image2.png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tags" Target="../tags/tag11.xml"/><Relationship Id="rId7" Type="http://schemas.openxmlformats.org/officeDocument/2006/relationships/image" Target="../media/image11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10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.xml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5.png"/><Relationship Id="rId3" Type="http://schemas.openxmlformats.org/officeDocument/2006/relationships/tags" Target="../tags/tag15.xml"/><Relationship Id="rId7" Type="http://schemas.openxmlformats.org/officeDocument/2006/relationships/tags" Target="../tags/tag19.xml"/><Relationship Id="rId12" Type="http://schemas.openxmlformats.org/officeDocument/2006/relationships/image" Target="../media/image14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image" Target="../media/image6.png"/><Relationship Id="rId5" Type="http://schemas.openxmlformats.org/officeDocument/2006/relationships/tags" Target="../tags/tag17.xml"/><Relationship Id="rId15" Type="http://schemas.openxmlformats.org/officeDocument/2006/relationships/image" Target="../media/image17.png"/><Relationship Id="rId10" Type="http://schemas.openxmlformats.org/officeDocument/2006/relationships/image" Target="../media/image5.png"/><Relationship Id="rId4" Type="http://schemas.openxmlformats.org/officeDocument/2006/relationships/tags" Target="../tags/tag16.xml"/><Relationship Id="rId9" Type="http://schemas.openxmlformats.org/officeDocument/2006/relationships/image" Target="../media/image4.png"/><Relationship Id="rId1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tags" Target="../tags/tag22.xml"/><Relationship Id="rId7" Type="http://schemas.openxmlformats.org/officeDocument/2006/relationships/image" Target="../media/image19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18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3.xml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tags" Target="../tags/tag26.xml"/><Relationship Id="rId7" Type="http://schemas.openxmlformats.org/officeDocument/2006/relationships/image" Target="../media/image22.png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26.png"/><Relationship Id="rId5" Type="http://schemas.openxmlformats.org/officeDocument/2006/relationships/tags" Target="../tags/tag28.xml"/><Relationship Id="rId10" Type="http://schemas.openxmlformats.org/officeDocument/2006/relationships/image" Target="../media/image25.png"/><Relationship Id="rId4" Type="http://schemas.openxmlformats.org/officeDocument/2006/relationships/tags" Target="../tags/tag27.xml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tags" Target="../tags/tag30.xml"/><Relationship Id="rId16" Type="http://schemas.openxmlformats.org/officeDocument/2006/relationships/image" Target="../media/image32.png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11" Type="http://schemas.openxmlformats.org/officeDocument/2006/relationships/image" Target="../media/image27.png"/><Relationship Id="rId5" Type="http://schemas.openxmlformats.org/officeDocument/2006/relationships/tags" Target="../tags/tag33.xml"/><Relationship Id="rId15" Type="http://schemas.openxmlformats.org/officeDocument/2006/relationships/image" Target="../media/image31.png"/><Relationship Id="rId10" Type="http://schemas.openxmlformats.org/officeDocument/2006/relationships/slideLayout" Target="../slideLayouts/slideLayout2.xml"/><Relationship Id="rId19" Type="http://schemas.openxmlformats.org/officeDocument/2006/relationships/image" Target="../media/image35.png"/><Relationship Id="rId4" Type="http://schemas.openxmlformats.org/officeDocument/2006/relationships/tags" Target="../tags/tag32.xml"/><Relationship Id="rId9" Type="http://schemas.openxmlformats.org/officeDocument/2006/relationships/tags" Target="../tags/tag37.xml"/><Relationship Id="rId1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tags" Target="../tags/tag40.xml"/><Relationship Id="rId7" Type="http://schemas.openxmlformats.org/officeDocument/2006/relationships/image" Target="../media/image37.png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image" Target="../media/image36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1.xml"/><Relationship Id="rId9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44.png"/><Relationship Id="rId3" Type="http://schemas.openxmlformats.org/officeDocument/2006/relationships/tags" Target="../tags/tag44.xml"/><Relationship Id="rId7" Type="http://schemas.openxmlformats.org/officeDocument/2006/relationships/tags" Target="../tags/tag48.xml"/><Relationship Id="rId12" Type="http://schemas.openxmlformats.org/officeDocument/2006/relationships/image" Target="../media/image43.png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11" Type="http://schemas.openxmlformats.org/officeDocument/2006/relationships/image" Target="../media/image42.png"/><Relationship Id="rId5" Type="http://schemas.openxmlformats.org/officeDocument/2006/relationships/tags" Target="../tags/tag46.xml"/><Relationship Id="rId15" Type="http://schemas.openxmlformats.org/officeDocument/2006/relationships/image" Target="../media/image46.png"/><Relationship Id="rId10" Type="http://schemas.openxmlformats.org/officeDocument/2006/relationships/image" Target="../media/image41.png"/><Relationship Id="rId4" Type="http://schemas.openxmlformats.org/officeDocument/2006/relationships/tags" Target="../tags/tag45.xml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50.png"/><Relationship Id="rId3" Type="http://schemas.openxmlformats.org/officeDocument/2006/relationships/tags" Target="../tags/tag51.xml"/><Relationship Id="rId7" Type="http://schemas.openxmlformats.org/officeDocument/2006/relationships/tags" Target="../tags/tag55.xml"/><Relationship Id="rId12" Type="http://schemas.openxmlformats.org/officeDocument/2006/relationships/image" Target="../media/image49.png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11" Type="http://schemas.openxmlformats.org/officeDocument/2006/relationships/image" Target="../media/image48.png"/><Relationship Id="rId5" Type="http://schemas.openxmlformats.org/officeDocument/2006/relationships/tags" Target="../tags/tag53.xml"/><Relationship Id="rId15" Type="http://schemas.openxmlformats.org/officeDocument/2006/relationships/image" Target="../media/image52.png"/><Relationship Id="rId10" Type="http://schemas.openxmlformats.org/officeDocument/2006/relationships/image" Target="../media/image45.png"/><Relationship Id="rId4" Type="http://schemas.openxmlformats.org/officeDocument/2006/relationships/tags" Target="../tags/tag52.xml"/><Relationship Id="rId9" Type="http://schemas.openxmlformats.org/officeDocument/2006/relationships/image" Target="../media/image47.png"/><Relationship Id="rId14" Type="http://schemas.openxmlformats.org/officeDocument/2006/relationships/image" Target="../media/image5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3" Type="http://schemas.openxmlformats.org/officeDocument/2006/relationships/tags" Target="../tags/tag58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57.png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tags" Target="../tags/tag61.xml"/><Relationship Id="rId11" Type="http://schemas.openxmlformats.org/officeDocument/2006/relationships/image" Target="../media/image56.png"/><Relationship Id="rId5" Type="http://schemas.openxmlformats.org/officeDocument/2006/relationships/tags" Target="../tags/tag60.xml"/><Relationship Id="rId10" Type="http://schemas.openxmlformats.org/officeDocument/2006/relationships/image" Target="../media/image55.png"/><Relationship Id="rId4" Type="http://schemas.openxmlformats.org/officeDocument/2006/relationships/tags" Target="../tags/tag59.xml"/><Relationship Id="rId9" Type="http://schemas.openxmlformats.org/officeDocument/2006/relationships/image" Target="../media/image5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tags" Target="../tags/tag64.xml"/><Relationship Id="rId7" Type="http://schemas.openxmlformats.org/officeDocument/2006/relationships/image" Target="../media/image60.png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image" Target="../media/image59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5.xml"/><Relationship Id="rId9" Type="http://schemas.openxmlformats.org/officeDocument/2006/relationships/image" Target="../media/image6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5" Type="http://schemas.openxmlformats.org/officeDocument/2006/relationships/image" Target="../media/image63.png"/><Relationship Id="rId4" Type="http://schemas.openxmlformats.org/officeDocument/2006/relationships/image" Target="../media/image6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70.xml"/><Relationship Id="rId7" Type="http://schemas.openxmlformats.org/officeDocument/2006/relationships/image" Target="../media/image66.png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73.xml"/><Relationship Id="rId7" Type="http://schemas.openxmlformats.org/officeDocument/2006/relationships/image" Target="../media/image69.png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tags" Target="../tags/tag76.xml"/><Relationship Id="rId7" Type="http://schemas.openxmlformats.org/officeDocument/2006/relationships/image" Target="../media/image71.png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image" Target="../media/image70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.xml"/><Relationship Id="rId9" Type="http://schemas.openxmlformats.org/officeDocument/2006/relationships/image" Target="../media/image7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5225" y="1716321"/>
            <a:ext cx="6467256" cy="720414"/>
          </a:xfrm>
        </p:spPr>
        <p:txBody>
          <a:bodyPr>
            <a:normAutofit/>
          </a:bodyPr>
          <a:lstStyle/>
          <a:p>
            <a:pPr algn="r"/>
            <a:r>
              <a:rPr lang="en-GB" sz="3200" dirty="0" smtClean="0"/>
              <a:t>Geometric Algebra</a:t>
            </a:r>
            <a:endParaRPr lang="en-GB" sz="3200" dirty="0"/>
          </a:p>
        </p:txBody>
      </p:sp>
      <p:sp>
        <p:nvSpPr>
          <p:cNvPr id="6" name="Rectangle 5"/>
          <p:cNvSpPr/>
          <p:nvPr/>
        </p:nvSpPr>
        <p:spPr>
          <a:xfrm>
            <a:off x="-1" y="2104724"/>
            <a:ext cx="2096725" cy="7730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2591780" y="2392064"/>
            <a:ext cx="6210690" cy="0"/>
          </a:xfrm>
          <a:prstGeom prst="line">
            <a:avLst/>
          </a:prstGeom>
          <a:ln w="508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089717" y="3860634"/>
            <a:ext cx="1802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 smtClean="0">
                <a:solidFill>
                  <a:schemeClr val="tx1">
                    <a:lumMod val="75000"/>
                  </a:schemeClr>
                </a:solidFill>
              </a:rPr>
              <a:t>Dr Chris Doran</a:t>
            </a:r>
          </a:p>
          <a:p>
            <a:pPr algn="r"/>
            <a:r>
              <a:rPr lang="en-GB" dirty="0" smtClean="0">
                <a:solidFill>
                  <a:schemeClr val="tx1">
                    <a:lumMod val="75000"/>
                  </a:schemeClr>
                </a:solidFill>
              </a:rPr>
              <a:t>ARM Research</a:t>
            </a:r>
          </a:p>
        </p:txBody>
      </p:sp>
      <p:pic>
        <p:nvPicPr>
          <p:cNvPr id="8" name="Picture 2" descr="C:\Users\chrdor01\Dropbox\Star2015\website\William_Kingdon_Clifford_by_John_Collier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61" b="20918"/>
          <a:stretch/>
        </p:blipFill>
        <p:spPr bwMode="auto">
          <a:xfrm>
            <a:off x="-14263" y="1699680"/>
            <a:ext cx="1343885" cy="1178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986935" y="2498297"/>
            <a:ext cx="48155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2000" dirty="0"/>
              <a:t>2</a:t>
            </a:r>
            <a:r>
              <a:rPr lang="en-GB" sz="2000" dirty="0" smtClean="0"/>
              <a:t>. Geometric Algebra in 3 Dimensions</a:t>
            </a:r>
          </a:p>
        </p:txBody>
      </p:sp>
    </p:spTree>
    <p:extLst>
      <p:ext uri="{BB962C8B-B14F-4D97-AF65-F5344CB8AC3E}">
        <p14:creationId xmlns:p14="http://schemas.microsoft.com/office/powerpoint/2010/main" val="3071651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reeform 45"/>
          <p:cNvSpPr/>
          <p:nvPr/>
        </p:nvSpPr>
        <p:spPr>
          <a:xfrm>
            <a:off x="4216400" y="3454400"/>
            <a:ext cx="355600" cy="914400"/>
          </a:xfrm>
          <a:custGeom>
            <a:avLst/>
            <a:gdLst>
              <a:gd name="connsiteX0" fmla="*/ 355600 w 355600"/>
              <a:gd name="connsiteY0" fmla="*/ 548640 h 914400"/>
              <a:gd name="connsiteX1" fmla="*/ 355600 w 355600"/>
              <a:gd name="connsiteY1" fmla="*/ 0 h 914400"/>
              <a:gd name="connsiteX2" fmla="*/ 0 w 355600"/>
              <a:gd name="connsiteY2" fmla="*/ 355600 h 914400"/>
              <a:gd name="connsiteX3" fmla="*/ 0 w 355600"/>
              <a:gd name="connsiteY3" fmla="*/ 914400 h 914400"/>
              <a:gd name="connsiteX4" fmla="*/ 355600 w 355600"/>
              <a:gd name="connsiteY4" fmla="*/ 54864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5600" h="914400">
                <a:moveTo>
                  <a:pt x="355600" y="548640"/>
                </a:moveTo>
                <a:lnTo>
                  <a:pt x="355600" y="0"/>
                </a:lnTo>
                <a:lnTo>
                  <a:pt x="0" y="355600"/>
                </a:lnTo>
                <a:lnTo>
                  <a:pt x="0" y="914400"/>
                </a:lnTo>
                <a:lnTo>
                  <a:pt x="355600" y="54864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Freeform 44"/>
          <p:cNvSpPr/>
          <p:nvPr/>
        </p:nvSpPr>
        <p:spPr>
          <a:xfrm>
            <a:off x="7376160" y="3992880"/>
            <a:ext cx="904240" cy="294640"/>
          </a:xfrm>
          <a:custGeom>
            <a:avLst/>
            <a:gdLst>
              <a:gd name="connsiteX0" fmla="*/ 284480 w 904240"/>
              <a:gd name="connsiteY0" fmla="*/ 10160 h 294640"/>
              <a:gd name="connsiteX1" fmla="*/ 0 w 904240"/>
              <a:gd name="connsiteY1" fmla="*/ 294640 h 294640"/>
              <a:gd name="connsiteX2" fmla="*/ 609600 w 904240"/>
              <a:gd name="connsiteY2" fmla="*/ 294640 h 294640"/>
              <a:gd name="connsiteX3" fmla="*/ 904240 w 904240"/>
              <a:gd name="connsiteY3" fmla="*/ 0 h 294640"/>
              <a:gd name="connsiteX4" fmla="*/ 284480 w 904240"/>
              <a:gd name="connsiteY4" fmla="*/ 10160 h 294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4240" h="294640">
                <a:moveTo>
                  <a:pt x="284480" y="10160"/>
                </a:moveTo>
                <a:lnTo>
                  <a:pt x="0" y="294640"/>
                </a:lnTo>
                <a:lnTo>
                  <a:pt x="609600" y="294640"/>
                </a:lnTo>
                <a:lnTo>
                  <a:pt x="904240" y="0"/>
                </a:lnTo>
                <a:lnTo>
                  <a:pt x="284480" y="1016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/>
          <p:cNvSpPr/>
          <p:nvPr/>
        </p:nvSpPr>
        <p:spPr>
          <a:xfrm>
            <a:off x="1330960" y="3427413"/>
            <a:ext cx="701040" cy="5729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Three dimensions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0" y="1311275"/>
            <a:ext cx="3041650" cy="12604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3041650" y="1311275"/>
            <a:ext cx="3060700" cy="1260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307923" y="1480919"/>
            <a:ext cx="2504788" cy="9233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Introduce a third vector.</a:t>
            </a:r>
          </a:p>
          <a:p>
            <a:endParaRPr lang="en-GB" sz="2000" dirty="0">
              <a:solidFill>
                <a:schemeClr val="bg1"/>
              </a:solidFill>
            </a:endParaRPr>
          </a:p>
          <a:p>
            <a:r>
              <a:rPr lang="en-GB" sz="2000" dirty="0" smtClean="0">
                <a:solidFill>
                  <a:schemeClr val="bg1"/>
                </a:solidFill>
              </a:rPr>
              <a:t>These all </a:t>
            </a:r>
            <a:r>
              <a:rPr lang="en-GB" sz="2000" dirty="0" err="1" smtClean="0">
                <a:solidFill>
                  <a:schemeClr val="bg1"/>
                </a:solidFill>
              </a:rPr>
              <a:t>anticommute</a:t>
            </a:r>
            <a:r>
              <a:rPr lang="en-GB" sz="2000" dirty="0" smtClean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7632" y="1510664"/>
            <a:ext cx="1308735" cy="26860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179" y="2206129"/>
            <a:ext cx="2453640" cy="198120"/>
          </a:xfrm>
          <a:prstGeom prst="rect">
            <a:avLst/>
          </a:prstGeom>
        </p:spPr>
      </p:pic>
      <p:grpSp>
        <p:nvGrpSpPr>
          <p:cNvPr id="51" name="Group 50"/>
          <p:cNvGrpSpPr/>
          <p:nvPr/>
        </p:nvGrpSpPr>
        <p:grpSpPr>
          <a:xfrm>
            <a:off x="7122160" y="1178560"/>
            <a:ext cx="1219200" cy="1189672"/>
            <a:chOff x="7122160" y="1178560"/>
            <a:chExt cx="1219200" cy="1189672"/>
          </a:xfrm>
        </p:grpSpPr>
        <p:cxnSp>
          <p:nvCxnSpPr>
            <p:cNvPr id="12" name="Straight Arrow Connector 11"/>
            <p:cNvCxnSpPr/>
            <p:nvPr/>
          </p:nvCxnSpPr>
          <p:spPr>
            <a:xfrm flipV="1">
              <a:off x="7548880" y="1178560"/>
              <a:ext cx="0" cy="764024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7548880" y="1942584"/>
              <a:ext cx="792480" cy="0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 flipH="1">
              <a:off x="7122160" y="1941512"/>
              <a:ext cx="426720" cy="426720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658" y="1784984"/>
            <a:ext cx="238125" cy="19431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8880" y="933060"/>
            <a:ext cx="257175" cy="19431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4510" y="2397760"/>
            <a:ext cx="247650" cy="198120"/>
          </a:xfrm>
          <a:prstGeom prst="rect">
            <a:avLst/>
          </a:prstGeom>
        </p:spPr>
      </p:pic>
      <p:grpSp>
        <p:nvGrpSpPr>
          <p:cNvPr id="31" name="Group 30"/>
          <p:cNvGrpSpPr/>
          <p:nvPr/>
        </p:nvGrpSpPr>
        <p:grpSpPr>
          <a:xfrm>
            <a:off x="7233920" y="3237389"/>
            <a:ext cx="1219200" cy="1189672"/>
            <a:chOff x="7274560" y="1330960"/>
            <a:chExt cx="1219200" cy="1189672"/>
          </a:xfrm>
        </p:grpSpPr>
        <p:cxnSp>
          <p:nvCxnSpPr>
            <p:cNvPr id="20" name="Straight Arrow Connector 19"/>
            <p:cNvCxnSpPr/>
            <p:nvPr/>
          </p:nvCxnSpPr>
          <p:spPr>
            <a:xfrm flipV="1">
              <a:off x="7701280" y="1330960"/>
              <a:ext cx="0" cy="764024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>
              <a:off x="7701280" y="2094984"/>
              <a:ext cx="792480" cy="0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H="1">
              <a:off x="7274560" y="2093912"/>
              <a:ext cx="426720" cy="426720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>
          <a:xfrm>
            <a:off x="4155440" y="3237389"/>
            <a:ext cx="1219200" cy="1189672"/>
            <a:chOff x="7426960" y="1483360"/>
            <a:chExt cx="1219200" cy="1189672"/>
          </a:xfrm>
        </p:grpSpPr>
        <p:cxnSp>
          <p:nvCxnSpPr>
            <p:cNvPr id="23" name="Straight Arrow Connector 22"/>
            <p:cNvCxnSpPr/>
            <p:nvPr/>
          </p:nvCxnSpPr>
          <p:spPr>
            <a:xfrm flipV="1">
              <a:off x="7853680" y="1483360"/>
              <a:ext cx="0" cy="764024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>
              <a:off x="7853680" y="2247384"/>
              <a:ext cx="792480" cy="0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 flipH="1">
              <a:off x="7426960" y="2246312"/>
              <a:ext cx="426720" cy="426720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/>
          <p:cNvGrpSpPr/>
          <p:nvPr/>
        </p:nvGrpSpPr>
        <p:grpSpPr>
          <a:xfrm>
            <a:off x="904240" y="3237389"/>
            <a:ext cx="1219200" cy="1189672"/>
            <a:chOff x="7579360" y="1635760"/>
            <a:chExt cx="1219200" cy="1189672"/>
          </a:xfrm>
        </p:grpSpPr>
        <p:cxnSp>
          <p:nvCxnSpPr>
            <p:cNvPr id="26" name="Straight Arrow Connector 25"/>
            <p:cNvCxnSpPr/>
            <p:nvPr/>
          </p:nvCxnSpPr>
          <p:spPr>
            <a:xfrm flipV="1">
              <a:off x="8006080" y="1635760"/>
              <a:ext cx="0" cy="764024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8006080" y="2399784"/>
              <a:ext cx="792480" cy="0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flipH="1">
              <a:off x="7579360" y="2398712"/>
              <a:ext cx="426720" cy="426720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Arc 32"/>
          <p:cNvSpPr/>
          <p:nvPr/>
        </p:nvSpPr>
        <p:spPr>
          <a:xfrm>
            <a:off x="1016000" y="3498533"/>
            <a:ext cx="914400" cy="914400"/>
          </a:xfrm>
          <a:prstGeom prst="arc">
            <a:avLst/>
          </a:prstGeom>
          <a:ln w="190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4" name="Picture 3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967" y="3525282"/>
            <a:ext cx="550545" cy="194310"/>
          </a:xfrm>
          <a:prstGeom prst="rect">
            <a:avLst/>
          </a:prstGeom>
        </p:spPr>
      </p:pic>
      <p:sp>
        <p:nvSpPr>
          <p:cNvPr id="47" name="Arc 46"/>
          <p:cNvSpPr/>
          <p:nvPr/>
        </p:nvSpPr>
        <p:spPr>
          <a:xfrm rot="16433488">
            <a:off x="4158829" y="3830331"/>
            <a:ext cx="720141" cy="418331"/>
          </a:xfrm>
          <a:prstGeom prst="arc">
            <a:avLst/>
          </a:prstGeom>
          <a:ln w="190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8" name="Picture 47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6885" y="3515757"/>
            <a:ext cx="541020" cy="198120"/>
          </a:xfrm>
          <a:prstGeom prst="rect">
            <a:avLst/>
          </a:prstGeom>
        </p:spPr>
      </p:pic>
      <p:sp>
        <p:nvSpPr>
          <p:cNvPr id="49" name="Arc 48"/>
          <p:cNvSpPr/>
          <p:nvPr/>
        </p:nvSpPr>
        <p:spPr>
          <a:xfrm rot="5400000">
            <a:off x="7386054" y="3634751"/>
            <a:ext cx="455296" cy="759565"/>
          </a:xfrm>
          <a:prstGeom prst="arc">
            <a:avLst/>
          </a:prstGeom>
          <a:ln w="190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0" name="Picture 4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8012" y="3525282"/>
            <a:ext cx="531495" cy="19812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L2 S</a:t>
            </a:r>
            <a:fld id="{40E39B3E-C87B-4733-AA7D-3387836CB72D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83590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4581524" y="2571750"/>
            <a:ext cx="4562475" cy="1260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err="1" smtClean="0"/>
              <a:t>Bivector</a:t>
            </a:r>
            <a:r>
              <a:rPr lang="en-GB" dirty="0" smtClean="0"/>
              <a:t> products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0" y="1311275"/>
            <a:ext cx="4572000" cy="38322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386535" y="1605280"/>
            <a:ext cx="416178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accent4"/>
                </a:solidFill>
              </a:rPr>
              <a:t>The product of a vector and a </a:t>
            </a:r>
            <a:r>
              <a:rPr lang="en-GB" sz="2000" dirty="0" err="1" smtClean="0">
                <a:solidFill>
                  <a:schemeClr val="accent4"/>
                </a:solidFill>
              </a:rPr>
              <a:t>bivector</a:t>
            </a:r>
            <a:r>
              <a:rPr lang="en-GB" sz="2000" dirty="0" smtClean="0">
                <a:solidFill>
                  <a:schemeClr val="accent4"/>
                </a:solidFill>
              </a:rPr>
              <a:t> can contain two different terms.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7115" y="1605280"/>
            <a:ext cx="2341245" cy="74485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4899" y="2796775"/>
            <a:ext cx="3735705" cy="7391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6535" y="2818550"/>
            <a:ext cx="3960440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>
                <a:solidFill>
                  <a:schemeClr val="accent4"/>
                </a:solidFill>
              </a:rPr>
              <a:t>The product of two perpendicular bivectors results in a third bivector.</a:t>
            </a:r>
          </a:p>
          <a:p>
            <a:endParaRPr lang="en-GB" sz="2000" dirty="0" smtClean="0">
              <a:solidFill>
                <a:schemeClr val="tx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6536" y="3966905"/>
            <a:ext cx="3960440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>
                <a:solidFill>
                  <a:schemeClr val="accent4"/>
                </a:solidFill>
              </a:rPr>
              <a:t>Now </a:t>
            </a:r>
            <a:r>
              <a:rPr lang="en-GB" sz="2000" dirty="0" smtClean="0">
                <a:solidFill>
                  <a:schemeClr val="accent4"/>
                </a:solidFill>
              </a:rPr>
              <a:t>define </a:t>
            </a:r>
            <a:r>
              <a:rPr lang="en-GB" sz="2000" i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sz="2000" i="1" dirty="0" smtClean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j </a:t>
            </a:r>
            <a:r>
              <a:rPr lang="en-GB" sz="2000" dirty="0" smtClean="0">
                <a:solidFill>
                  <a:schemeClr val="accent4"/>
                </a:solidFill>
              </a:rPr>
              <a:t>and </a:t>
            </a:r>
            <a:r>
              <a:rPr lang="en-GB" sz="2000" i="1" dirty="0" smtClean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GB" sz="2000" i="1" dirty="0" smtClean="0">
                <a:solidFill>
                  <a:schemeClr val="accent4"/>
                </a:solidFill>
              </a:rPr>
              <a:t>. </a:t>
            </a:r>
            <a:r>
              <a:rPr lang="en-GB" sz="2000" dirty="0" smtClean="0">
                <a:solidFill>
                  <a:schemeClr val="accent4"/>
                </a:solidFill>
              </a:rPr>
              <a:t> We </a:t>
            </a:r>
            <a:r>
              <a:rPr lang="en-GB" sz="2000" dirty="0">
                <a:solidFill>
                  <a:schemeClr val="accent4"/>
                </a:solidFill>
              </a:rPr>
              <a:t>have discovered the quaternion algebra buried in 3 (not 4) dimensions</a:t>
            </a:r>
            <a:endParaRPr lang="en-GB" sz="2000" dirty="0" smtClean="0">
              <a:solidFill>
                <a:schemeClr val="tx2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608" y="4557680"/>
            <a:ext cx="3042285" cy="35433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L2 S</a:t>
            </a:r>
            <a:fld id="{40E39B3E-C87B-4733-AA7D-3387836CB72D}" type="slidenum">
              <a:rPr lang="en-GB" smtClean="0"/>
              <a:pPr/>
              <a:t>3</a:t>
            </a:fld>
            <a:endParaRPr lang="en-GB" dirty="0"/>
          </a:p>
        </p:txBody>
      </p:sp>
      <p:pic>
        <p:nvPicPr>
          <p:cNvPr id="12" name="Picture 1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8672" y="4056915"/>
            <a:ext cx="4288155" cy="28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247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Unification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0" y="1716088"/>
            <a:ext cx="9144000" cy="17113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971600" y="2031690"/>
            <a:ext cx="69307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2800" dirty="0" smtClean="0">
                <a:solidFill>
                  <a:schemeClr val="bg1"/>
                </a:solidFill>
              </a:rPr>
              <a:t>Quaternions arise </a:t>
            </a:r>
            <a:r>
              <a:rPr lang="en-GB" sz="2800" dirty="0">
                <a:solidFill>
                  <a:schemeClr val="bg1"/>
                </a:solidFill>
              </a:rPr>
              <a:t>naturally in the geometric algebra of </a:t>
            </a:r>
            <a:r>
              <a:rPr lang="en-GB" sz="2800" dirty="0" smtClean="0">
                <a:solidFill>
                  <a:schemeClr val="bg1"/>
                </a:solidFill>
              </a:rPr>
              <a:t>space.</a:t>
            </a:r>
            <a:endParaRPr lang="en-GB" sz="2800" dirty="0">
              <a:solidFill>
                <a:schemeClr val="bg1"/>
              </a:solidFill>
            </a:endParaRPr>
          </a:p>
          <a:p>
            <a:pPr algn="ctr"/>
            <a:endParaRPr lang="en-GB" sz="2800" dirty="0" smtClean="0">
              <a:solidFill>
                <a:schemeClr val="tx2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L2 S</a:t>
            </a:r>
            <a:fld id="{40E39B3E-C87B-4733-AA7D-3387836CB72D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6459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>
          <a:xfrm>
            <a:off x="7010400" y="6465"/>
            <a:ext cx="2133600" cy="273843"/>
          </a:xfrm>
        </p:spPr>
        <p:txBody>
          <a:bodyPr/>
          <a:lstStyle/>
          <a:p>
            <a:r>
              <a:rPr lang="en-GB" dirty="0" smtClean="0"/>
              <a:t>L2 S</a:t>
            </a:r>
            <a:fld id="{40E39B3E-C87B-4733-AA7D-3387836CB72D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The directed volume element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0" y="1311910"/>
            <a:ext cx="9144000" cy="12604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5" name="Group 4"/>
          <p:cNvGrpSpPr/>
          <p:nvPr/>
        </p:nvGrpSpPr>
        <p:grpSpPr>
          <a:xfrm>
            <a:off x="7734237" y="161955"/>
            <a:ext cx="1005840" cy="981479"/>
            <a:chOff x="7122160" y="1178560"/>
            <a:chExt cx="1219200" cy="1189672"/>
          </a:xfrm>
        </p:grpSpPr>
        <p:cxnSp>
          <p:nvCxnSpPr>
            <p:cNvPr id="6" name="Straight Arrow Connector 5"/>
            <p:cNvCxnSpPr/>
            <p:nvPr/>
          </p:nvCxnSpPr>
          <p:spPr>
            <a:xfrm flipV="1">
              <a:off x="7548880" y="1178560"/>
              <a:ext cx="0" cy="764024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>
              <a:off x="7548880" y="1942584"/>
              <a:ext cx="792480" cy="0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 flipH="1">
              <a:off x="7122160" y="1941512"/>
              <a:ext cx="426720" cy="426720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Picture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2470" y="768379"/>
            <a:ext cx="238125" cy="19431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250" y="37180"/>
            <a:ext cx="257175" cy="19431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7315" y="888465"/>
            <a:ext cx="247650" cy="19812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6895" y="1718627"/>
            <a:ext cx="1360170" cy="2590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1540" y="2849038"/>
            <a:ext cx="209493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 smtClean="0"/>
              <a:t>Has negative square</a:t>
            </a:r>
          </a:p>
        </p:txBody>
      </p:sp>
      <p:pic>
        <p:nvPicPr>
          <p:cNvPr id="14" name="Picture 1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862" y="3426845"/>
            <a:ext cx="2520315" cy="81153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041650" y="2572385"/>
            <a:ext cx="3060700" cy="257111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/>
          <p:cNvSpPr txBox="1"/>
          <p:nvPr/>
        </p:nvSpPr>
        <p:spPr>
          <a:xfrm>
            <a:off x="3356865" y="2849038"/>
            <a:ext cx="247527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/>
              <a:t>Commutes with vectors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195" y="2849037"/>
            <a:ext cx="256669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/>
              <a:t>Swaps lines and planes</a:t>
            </a:r>
          </a:p>
        </p:txBody>
      </p:sp>
      <p:pic>
        <p:nvPicPr>
          <p:cNvPr id="18" name="Picture 1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3426845"/>
            <a:ext cx="2743200" cy="120777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9639" y="3426845"/>
            <a:ext cx="1653540" cy="73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88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3D Basis</a:t>
            </a:r>
            <a:endParaRPr lang="en-GB" dirty="0"/>
          </a:p>
        </p:txBody>
      </p:sp>
      <p:sp>
        <p:nvSpPr>
          <p:cNvPr id="4" name="Oval 3"/>
          <p:cNvSpPr/>
          <p:nvPr/>
        </p:nvSpPr>
        <p:spPr>
          <a:xfrm>
            <a:off x="1151620" y="1614357"/>
            <a:ext cx="135015" cy="13501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3311860" y="1434053"/>
            <a:ext cx="495622" cy="495622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/>
          <p:cNvGrpSpPr/>
          <p:nvPr/>
        </p:nvGrpSpPr>
        <p:grpSpPr>
          <a:xfrm>
            <a:off x="5382090" y="1344327"/>
            <a:ext cx="765085" cy="687363"/>
            <a:chOff x="3941930" y="1524347"/>
            <a:chExt cx="765085" cy="687363"/>
          </a:xfrm>
        </p:grpSpPr>
        <p:cxnSp>
          <p:nvCxnSpPr>
            <p:cNvPr id="8" name="Straight Arrow Connector 7"/>
            <p:cNvCxnSpPr/>
            <p:nvPr/>
          </p:nvCxnSpPr>
          <p:spPr>
            <a:xfrm>
              <a:off x="3941930" y="2211710"/>
              <a:ext cx="765085" cy="0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 flipV="1">
              <a:off x="3941930" y="1524347"/>
              <a:ext cx="0" cy="675075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7436590" y="1191125"/>
            <a:ext cx="1005840" cy="981479"/>
            <a:chOff x="7122160" y="1178560"/>
            <a:chExt cx="1219200" cy="1189672"/>
          </a:xfrm>
        </p:grpSpPr>
        <p:cxnSp>
          <p:nvCxnSpPr>
            <p:cNvPr id="12" name="Straight Arrow Connector 11"/>
            <p:cNvCxnSpPr/>
            <p:nvPr/>
          </p:nvCxnSpPr>
          <p:spPr>
            <a:xfrm flipV="1">
              <a:off x="7548880" y="1178560"/>
              <a:ext cx="0" cy="764024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7548880" y="1942584"/>
              <a:ext cx="792480" cy="0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 flipH="1">
              <a:off x="7122160" y="1941512"/>
              <a:ext cx="426720" cy="426720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736376" y="2316237"/>
            <a:ext cx="820289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000" dirty="0" smtClean="0"/>
              <a:t>Grade 0</a:t>
            </a:r>
          </a:p>
          <a:p>
            <a:pPr algn="ctr"/>
            <a:r>
              <a:rPr lang="en-GB" sz="2000" dirty="0" smtClean="0"/>
              <a:t>1 Scalar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5459" y="2316237"/>
            <a:ext cx="963021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000" dirty="0" smtClean="0"/>
              <a:t>Grade 1</a:t>
            </a:r>
          </a:p>
          <a:p>
            <a:pPr algn="ctr"/>
            <a:r>
              <a:rPr lang="en-GB" sz="2000" dirty="0" smtClean="0"/>
              <a:t>3 Vectors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3250" y="2316237"/>
            <a:ext cx="1833643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000" dirty="0" smtClean="0"/>
              <a:t>Grade 2</a:t>
            </a:r>
          </a:p>
          <a:p>
            <a:pPr algn="ctr"/>
            <a:r>
              <a:rPr lang="en-GB" sz="2000" dirty="0" smtClean="0"/>
              <a:t>3 Plane / bivector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7483" y="2316237"/>
            <a:ext cx="2093778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000" dirty="0" smtClean="0"/>
              <a:t>Grade 3</a:t>
            </a:r>
          </a:p>
          <a:p>
            <a:pPr algn="ctr"/>
            <a:r>
              <a:rPr lang="en-GB" sz="2000" dirty="0" smtClean="0"/>
              <a:t>1 Volume / </a:t>
            </a:r>
            <a:r>
              <a:rPr lang="en-GB" sz="2000" dirty="0" err="1" smtClean="0"/>
              <a:t>trivector</a:t>
            </a:r>
            <a:endParaRPr lang="en-GB" sz="2000" dirty="0" smtClean="0"/>
          </a:p>
        </p:txBody>
      </p:sp>
      <p:sp>
        <p:nvSpPr>
          <p:cNvPr id="20" name="Rectangle 19"/>
          <p:cNvSpPr/>
          <p:nvPr/>
        </p:nvSpPr>
        <p:spPr>
          <a:xfrm>
            <a:off x="0" y="3832225"/>
            <a:ext cx="9144000" cy="13112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407" y="3214053"/>
            <a:ext cx="91440" cy="21336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3606" y="3158808"/>
            <a:ext cx="466725" cy="26860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2060" y="3165475"/>
            <a:ext cx="1003935" cy="31051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2300" y="3184312"/>
            <a:ext cx="1318260" cy="2286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16605" y="3988680"/>
            <a:ext cx="7380820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A linear space of dimension 8</a:t>
            </a:r>
          </a:p>
          <a:p>
            <a:r>
              <a:rPr lang="en-GB" sz="2000" dirty="0" smtClean="0">
                <a:solidFill>
                  <a:schemeClr val="bg1"/>
                </a:solidFill>
              </a:rPr>
              <a:t>Note the appearance of the binomial coefficients - this is general</a:t>
            </a:r>
          </a:p>
          <a:p>
            <a:r>
              <a:rPr lang="en-GB" sz="2000" dirty="0" smtClean="0">
                <a:solidFill>
                  <a:schemeClr val="bg1"/>
                </a:solidFill>
              </a:rPr>
              <a:t>General elements of this space are called </a:t>
            </a:r>
            <a:r>
              <a:rPr lang="en-GB" sz="2000" dirty="0" err="1" smtClean="0">
                <a:solidFill>
                  <a:schemeClr val="bg1"/>
                </a:solidFill>
              </a:rPr>
              <a:t>multivectors</a:t>
            </a:r>
            <a:endParaRPr lang="en-GB" sz="2000" dirty="0" smtClean="0">
              <a:solidFill>
                <a:schemeClr val="bg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L2 S</a:t>
            </a:r>
            <a:fld id="{40E39B3E-C87B-4733-AA7D-3387836CB72D}" type="slidenum">
              <a:rPr lang="en-GB" smtClean="0"/>
              <a:pPr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2992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Products in 3D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6925" y="1311275"/>
            <a:ext cx="1537335" cy="914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7225" y="1327797"/>
            <a:ext cx="1531620" cy="914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590" y="1671650"/>
            <a:ext cx="2165985" cy="22669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2537450"/>
            <a:ext cx="6400800" cy="7543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3832225"/>
            <a:ext cx="9144000" cy="13112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TextBox 10"/>
          <p:cNvSpPr txBox="1"/>
          <p:nvPr/>
        </p:nvSpPr>
        <p:spPr>
          <a:xfrm>
            <a:off x="478771" y="4116437"/>
            <a:ext cx="5218354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/>
              <a:t>We recover the cross product from duality:</a:t>
            </a:r>
          </a:p>
          <a:p>
            <a:r>
              <a:rPr lang="en-GB" sz="2000" dirty="0" smtClean="0"/>
              <a:t>Can only do this in 3D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34260" y="4116437"/>
            <a:ext cx="2423105" cy="5255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0660" y="4236935"/>
            <a:ext cx="2011680" cy="226695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L2 S</a:t>
            </a:r>
            <a:fld id="{40E39B3E-C87B-4733-AA7D-3387836CB72D}" type="slidenum">
              <a:rPr lang="en-GB" smtClean="0"/>
              <a:pPr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9314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Unification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0" y="1716088"/>
            <a:ext cx="9144000" cy="17113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971600" y="2031690"/>
            <a:ext cx="69307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2800" dirty="0" smtClean="0">
                <a:solidFill>
                  <a:schemeClr val="bg1"/>
                </a:solidFill>
              </a:rPr>
              <a:t>The cross product is a disguised from of the outer product in three dimensions.</a:t>
            </a:r>
            <a:endParaRPr lang="en-GB" sz="2800" dirty="0">
              <a:solidFill>
                <a:schemeClr val="bg1"/>
              </a:solidFill>
            </a:endParaRPr>
          </a:p>
          <a:p>
            <a:pPr algn="ctr"/>
            <a:endParaRPr lang="en-GB" sz="2800" dirty="0" smtClean="0">
              <a:solidFill>
                <a:schemeClr val="tx2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L2 S</a:t>
            </a:r>
            <a:fld id="{40E39B3E-C87B-4733-AA7D-3387836CB72D}" type="slidenum">
              <a:rPr lang="en-GB" smtClean="0"/>
              <a:pPr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1806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Vectors and bivectors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570" y="1723080"/>
            <a:ext cx="1556385" cy="2476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570" y="2218135"/>
            <a:ext cx="1312545" cy="308610"/>
          </a:xfrm>
          <a:prstGeom prst="rect">
            <a:avLst/>
          </a:prstGeom>
        </p:spPr>
      </p:pic>
      <p:sp>
        <p:nvSpPr>
          <p:cNvPr id="6" name="Freeform 5"/>
          <p:cNvSpPr/>
          <p:nvPr/>
        </p:nvSpPr>
        <p:spPr>
          <a:xfrm>
            <a:off x="4590515" y="1806665"/>
            <a:ext cx="2681785" cy="1023582"/>
          </a:xfrm>
          <a:custGeom>
            <a:avLst/>
            <a:gdLst>
              <a:gd name="connsiteX0" fmla="*/ 0 w 2681785"/>
              <a:gd name="connsiteY0" fmla="*/ 1023582 h 1023582"/>
              <a:gd name="connsiteX1" fmla="*/ 2224585 w 2681785"/>
              <a:gd name="connsiteY1" fmla="*/ 1023582 h 1023582"/>
              <a:gd name="connsiteX2" fmla="*/ 2681785 w 2681785"/>
              <a:gd name="connsiteY2" fmla="*/ 0 h 1023582"/>
              <a:gd name="connsiteX3" fmla="*/ 532263 w 2681785"/>
              <a:gd name="connsiteY3" fmla="*/ 0 h 1023582"/>
              <a:gd name="connsiteX4" fmla="*/ 0 w 2681785"/>
              <a:gd name="connsiteY4" fmla="*/ 1023582 h 1023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81785" h="1023582">
                <a:moveTo>
                  <a:pt x="0" y="1023582"/>
                </a:moveTo>
                <a:lnTo>
                  <a:pt x="2224585" y="1023582"/>
                </a:lnTo>
                <a:lnTo>
                  <a:pt x="2681785" y="0"/>
                </a:lnTo>
                <a:lnTo>
                  <a:pt x="532263" y="0"/>
                </a:lnTo>
                <a:lnTo>
                  <a:pt x="0" y="1023582"/>
                </a:lnTo>
                <a:close/>
              </a:path>
            </a:pathLst>
          </a:custGeom>
          <a:solidFill>
            <a:schemeClr val="accent4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5867887" y="1446625"/>
            <a:ext cx="954363" cy="938681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5867887" y="2208497"/>
            <a:ext cx="954363" cy="17680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5867887" y="1446625"/>
            <a:ext cx="0" cy="938681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 flipV="1">
            <a:off x="5517105" y="2031690"/>
            <a:ext cx="350782" cy="35361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6822250" y="1446625"/>
            <a:ext cx="0" cy="761872"/>
          </a:xfrm>
          <a:prstGeom prst="line">
            <a:avLst/>
          </a:prstGeom>
          <a:ln w="1905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2250" y="1266605"/>
            <a:ext cx="146685" cy="14287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210" y="2362739"/>
            <a:ext cx="259080" cy="22479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8054" y="1210420"/>
            <a:ext cx="306705" cy="18669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7085" y="1915965"/>
            <a:ext cx="144780" cy="21907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015" y="2587529"/>
            <a:ext cx="190500" cy="2057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06515" y="1603415"/>
            <a:ext cx="2340260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tx2"/>
                </a:solidFill>
              </a:rPr>
              <a:t>Decompose vector into terms into and normal to the plane</a:t>
            </a:r>
          </a:p>
        </p:txBody>
      </p:sp>
      <p:pic>
        <p:nvPicPr>
          <p:cNvPr id="27" name="Picture 26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950" y="3381840"/>
            <a:ext cx="4962525" cy="37528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012160" y="3381840"/>
            <a:ext cx="234026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tx2"/>
                </a:solidFill>
              </a:rPr>
              <a:t>A </a:t>
            </a:r>
            <a:r>
              <a:rPr lang="en-GB" sz="2000" dirty="0" smtClean="0">
                <a:solidFill>
                  <a:schemeClr val="accent1"/>
                </a:solidFill>
              </a:rPr>
              <a:t>vector</a:t>
            </a:r>
            <a:r>
              <a:rPr lang="en-GB" sz="2000" dirty="0" smtClean="0">
                <a:solidFill>
                  <a:schemeClr val="tx2"/>
                </a:solidFill>
              </a:rPr>
              <a:t> lying in the plane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950" y="4153350"/>
            <a:ext cx="3547110" cy="3086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02265" y="4153350"/>
            <a:ext cx="395520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tx2"/>
                </a:solidFill>
              </a:rPr>
              <a:t>Product of three orthogonal vectors, so a </a:t>
            </a:r>
            <a:r>
              <a:rPr lang="en-GB" sz="2000" dirty="0" err="1" smtClean="0">
                <a:solidFill>
                  <a:schemeClr val="accent1"/>
                </a:solidFill>
              </a:rPr>
              <a:t>trivector</a:t>
            </a:r>
            <a:endParaRPr lang="en-GB" sz="2000" dirty="0" smtClean="0">
              <a:solidFill>
                <a:schemeClr val="accent1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L2 S</a:t>
            </a:r>
            <a:fld id="{40E39B3E-C87B-4733-AA7D-3387836CB72D}" type="slidenum">
              <a:rPr lang="en-GB" smtClean="0"/>
              <a:pPr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0345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572000" y="3111810"/>
            <a:ext cx="4572000" cy="64459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Vectors and bivectors</a:t>
            </a: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457201" y="1176595"/>
            <a:ext cx="424981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tx2"/>
                </a:solidFill>
              </a:rPr>
              <a:t>Write the combined product: </a:t>
            </a: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6925" y="1225708"/>
            <a:ext cx="2268855" cy="209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46875" y="1768918"/>
            <a:ext cx="171019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accent1"/>
                </a:solidFill>
              </a:rPr>
              <a:t>Lowest grade</a:t>
            </a:r>
          </a:p>
        </p:txBody>
      </p:sp>
      <p:cxnSp>
        <p:nvCxnSpPr>
          <p:cNvPr id="8" name="Straight Arrow Connector 7"/>
          <p:cNvCxnSpPr>
            <a:stCxn id="6" idx="0"/>
          </p:cNvCxnSpPr>
          <p:nvPr/>
        </p:nvCxnSpPr>
        <p:spPr>
          <a:xfrm flipV="1">
            <a:off x="4301970" y="1581641"/>
            <a:ext cx="585065" cy="187277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32140" y="1768918"/>
            <a:ext cx="143616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accent1"/>
                </a:solidFill>
              </a:rPr>
              <a:t>Highest grade</a:t>
            </a:r>
          </a:p>
        </p:txBody>
      </p:sp>
      <p:cxnSp>
        <p:nvCxnSpPr>
          <p:cNvPr id="11" name="Straight Arrow Connector 10"/>
          <p:cNvCxnSpPr>
            <a:stCxn id="9" idx="0"/>
          </p:cNvCxnSpPr>
          <p:nvPr/>
        </p:nvCxnSpPr>
        <p:spPr>
          <a:xfrm flipH="1" flipV="1">
            <a:off x="5832141" y="1581641"/>
            <a:ext cx="718080" cy="187277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2571750"/>
            <a:ext cx="4572000" cy="25717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4" name="Picture 1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70" y="2691612"/>
            <a:ext cx="4290060" cy="37528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1510" y="3209078"/>
            <a:ext cx="429006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tx2"/>
                </a:solidFill>
              </a:rPr>
              <a:t>Inner product is antisymmetric, so </a:t>
            </a:r>
            <a:r>
              <a:rPr lang="en-GB" sz="2000" dirty="0" smtClean="0">
                <a:solidFill>
                  <a:schemeClr val="accent1"/>
                </a:solidFill>
              </a:rPr>
              <a:t>define</a:t>
            </a:r>
          </a:p>
        </p:txBody>
      </p:sp>
      <p:pic>
        <p:nvPicPr>
          <p:cNvPr id="19" name="Picture 1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590" y="3756400"/>
            <a:ext cx="2455545" cy="39052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51520" y="4371950"/>
            <a:ext cx="417951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tx2"/>
                </a:solidFill>
              </a:rPr>
              <a:t>This always returns a vector</a:t>
            </a:r>
          </a:p>
        </p:txBody>
      </p:sp>
      <p:pic>
        <p:nvPicPr>
          <p:cNvPr id="22" name="Picture 2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3430" y="3281825"/>
            <a:ext cx="3669030" cy="28003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247075" y="2751770"/>
            <a:ext cx="308129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tx2"/>
                </a:solidFill>
              </a:rPr>
              <a:t>With a bit of work, prove that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31352" y="3857625"/>
            <a:ext cx="3771118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tx2"/>
                </a:solidFill>
              </a:rPr>
              <a:t>A very useful result. Generalises the vector triple product.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L2 S</a:t>
            </a:r>
            <a:fld id="{40E39B3E-C87B-4733-AA7D-3387836CB72D}" type="slidenum">
              <a:rPr lang="en-GB" smtClean="0"/>
              <a:pPr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4917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Freeform 58"/>
          <p:cNvSpPr/>
          <p:nvPr/>
        </p:nvSpPr>
        <p:spPr>
          <a:xfrm>
            <a:off x="5285433" y="3969099"/>
            <a:ext cx="1763486" cy="763675"/>
          </a:xfrm>
          <a:custGeom>
            <a:avLst/>
            <a:gdLst>
              <a:gd name="connsiteX0" fmla="*/ 0 w 1763486"/>
              <a:gd name="connsiteY0" fmla="*/ 758650 h 763675"/>
              <a:gd name="connsiteX1" fmla="*/ 316523 w 1763486"/>
              <a:gd name="connsiteY1" fmla="*/ 0 h 763675"/>
              <a:gd name="connsiteX2" fmla="*/ 1763486 w 1763486"/>
              <a:gd name="connsiteY2" fmla="*/ 5024 h 763675"/>
              <a:gd name="connsiteX3" fmla="*/ 1446963 w 1763486"/>
              <a:gd name="connsiteY3" fmla="*/ 763675 h 763675"/>
              <a:gd name="connsiteX4" fmla="*/ 0 w 1763486"/>
              <a:gd name="connsiteY4" fmla="*/ 758650 h 763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3486" h="763675">
                <a:moveTo>
                  <a:pt x="0" y="758650"/>
                </a:moveTo>
                <a:lnTo>
                  <a:pt x="316523" y="0"/>
                </a:lnTo>
                <a:lnTo>
                  <a:pt x="1763486" y="5024"/>
                </a:lnTo>
                <a:lnTo>
                  <a:pt x="1446963" y="763675"/>
                </a:lnTo>
                <a:lnTo>
                  <a:pt x="0" y="75865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Vectors and bivectors</a:t>
            </a: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971600" y="951570"/>
            <a:ext cx="279030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tx2"/>
                </a:solidFill>
              </a:rPr>
              <a:t>Symmetric component of product gives a </a:t>
            </a:r>
            <a:r>
              <a:rPr lang="en-GB" sz="2000" dirty="0" err="1" smtClean="0">
                <a:solidFill>
                  <a:schemeClr val="accent1"/>
                </a:solidFill>
              </a:rPr>
              <a:t>trivector</a:t>
            </a:r>
            <a:r>
              <a:rPr lang="en-GB" sz="2000" dirty="0" smtClean="0">
                <a:solidFill>
                  <a:schemeClr val="tx2"/>
                </a:solidFill>
              </a:rPr>
              <a:t>: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940" y="1086585"/>
            <a:ext cx="3604260" cy="39052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1896674"/>
            <a:ext cx="4572000" cy="3246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466797" y="2121699"/>
            <a:ext cx="324036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Can defined the outer product of three vectors</a:t>
            </a:r>
          </a:p>
        </p:txBody>
      </p:sp>
      <p:pic>
        <p:nvPicPr>
          <p:cNvPr id="17" name="Picture 1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869" y="2886785"/>
            <a:ext cx="3590925" cy="7543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66797" y="3832224"/>
            <a:ext cx="355539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Vector part does not contribute</a:t>
            </a:r>
          </a:p>
        </p:txBody>
      </p:sp>
      <p:pic>
        <p:nvPicPr>
          <p:cNvPr id="19" name="Picture 1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458" y="4371950"/>
            <a:ext cx="4055745" cy="28003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157065" y="2173963"/>
            <a:ext cx="330648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tx2"/>
                </a:solidFill>
              </a:rPr>
              <a:t>The outer product is associative</a:t>
            </a:r>
          </a:p>
        </p:txBody>
      </p:sp>
      <p:pic>
        <p:nvPicPr>
          <p:cNvPr id="23" name="Picture 2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6240" y="2746767"/>
            <a:ext cx="4286250" cy="280035"/>
          </a:xfrm>
          <a:prstGeom prst="rect">
            <a:avLst/>
          </a:prstGeom>
        </p:spPr>
      </p:pic>
      <p:cxnSp>
        <p:nvCxnSpPr>
          <p:cNvPr id="25" name="Straight Arrow Connector 24"/>
          <p:cNvCxnSpPr/>
          <p:nvPr/>
        </p:nvCxnSpPr>
        <p:spPr>
          <a:xfrm>
            <a:off x="5292080" y="4731990"/>
            <a:ext cx="1440160" cy="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5292080" y="3966905"/>
            <a:ext cx="315035" cy="765085"/>
          </a:xfrm>
          <a:prstGeom prst="line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6732240" y="3966905"/>
            <a:ext cx="315035" cy="765085"/>
          </a:xfrm>
          <a:prstGeom prst="line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5607115" y="3966905"/>
            <a:ext cx="1440160" cy="0"/>
          </a:xfrm>
          <a:prstGeom prst="line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5607115" y="3246825"/>
            <a:ext cx="1125125" cy="720080"/>
          </a:xfrm>
          <a:prstGeom prst="line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7047275" y="3246825"/>
            <a:ext cx="1125125" cy="720080"/>
          </a:xfrm>
          <a:prstGeom prst="line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6732240" y="3246825"/>
            <a:ext cx="1440160" cy="0"/>
          </a:xfrm>
          <a:prstGeom prst="line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7857365" y="3263975"/>
            <a:ext cx="315035" cy="747935"/>
          </a:xfrm>
          <a:prstGeom prst="line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V="1">
            <a:off x="6732240" y="4011910"/>
            <a:ext cx="1125125" cy="720080"/>
          </a:xfrm>
          <a:prstGeom prst="line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V="1">
            <a:off x="6417205" y="3246825"/>
            <a:ext cx="315035" cy="765085"/>
          </a:xfrm>
          <a:prstGeom prst="line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V="1">
            <a:off x="5292080" y="4011910"/>
            <a:ext cx="1125125" cy="720080"/>
          </a:xfrm>
          <a:prstGeom prst="line">
            <a:avLst/>
          </a:prstGeom>
          <a:ln w="1905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6417205" y="4011910"/>
            <a:ext cx="1440160" cy="0"/>
          </a:xfrm>
          <a:prstGeom prst="line">
            <a:avLst/>
          </a:prstGeom>
          <a:ln w="1905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H="1">
            <a:off x="7048919" y="4011910"/>
            <a:ext cx="808446" cy="0"/>
          </a:xfrm>
          <a:prstGeom prst="line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Picture 6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880" y="4188044"/>
            <a:ext cx="152400" cy="150495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862" y="3649948"/>
            <a:ext cx="146685" cy="226695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5507" y="3552792"/>
            <a:ext cx="127635" cy="150495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L2 S</a:t>
            </a:r>
            <a:fld id="{40E39B3E-C87B-4733-AA7D-3387836CB72D}" type="slidenum">
              <a:rPr lang="en-GB" smtClean="0"/>
              <a:pPr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911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6"/>
          <p:cNvSpPr/>
          <p:nvPr/>
        </p:nvSpPr>
        <p:spPr>
          <a:xfrm>
            <a:off x="6998376" y="1536635"/>
            <a:ext cx="1753738" cy="730155"/>
          </a:xfrm>
          <a:custGeom>
            <a:avLst/>
            <a:gdLst>
              <a:gd name="connsiteX0" fmla="*/ 0 w 1753738"/>
              <a:gd name="connsiteY0" fmla="*/ 730155 h 730155"/>
              <a:gd name="connsiteX1" fmla="*/ 750627 w 1753738"/>
              <a:gd name="connsiteY1" fmla="*/ 6824 h 730155"/>
              <a:gd name="connsiteX2" fmla="*/ 1753738 w 1753738"/>
              <a:gd name="connsiteY2" fmla="*/ 0 h 730155"/>
              <a:gd name="connsiteX3" fmla="*/ 1050878 w 1753738"/>
              <a:gd name="connsiteY3" fmla="*/ 723331 h 730155"/>
              <a:gd name="connsiteX4" fmla="*/ 0 w 1753738"/>
              <a:gd name="connsiteY4" fmla="*/ 730155 h 730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3738" h="730155">
                <a:moveTo>
                  <a:pt x="0" y="730155"/>
                </a:moveTo>
                <a:lnTo>
                  <a:pt x="750627" y="6824"/>
                </a:lnTo>
                <a:lnTo>
                  <a:pt x="1753738" y="0"/>
                </a:lnTo>
                <a:lnTo>
                  <a:pt x="1050878" y="723331"/>
                </a:lnTo>
                <a:lnTo>
                  <a:pt x="0" y="73015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Duality</a:t>
            </a: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611560" y="1131590"/>
            <a:ext cx="39154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tx2"/>
                </a:solidFill>
              </a:rPr>
              <a:t>Seen that the </a:t>
            </a:r>
            <a:r>
              <a:rPr lang="en-GB" sz="2000" dirty="0" err="1" smtClean="0">
                <a:solidFill>
                  <a:schemeClr val="tx2"/>
                </a:solidFill>
              </a:rPr>
              <a:t>pseudoscalar</a:t>
            </a:r>
            <a:r>
              <a:rPr lang="en-GB" sz="2000" dirty="0" smtClean="0">
                <a:solidFill>
                  <a:schemeClr val="tx2"/>
                </a:solidFill>
              </a:rPr>
              <a:t> interchanges planes and vectors in 3D</a:t>
            </a: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7045" y="1072653"/>
            <a:ext cx="1562100" cy="733425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 flipV="1">
            <a:off x="7002270" y="1545857"/>
            <a:ext cx="720080" cy="720080"/>
          </a:xfrm>
          <a:prstGeom prst="line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037385" y="1545857"/>
            <a:ext cx="720080" cy="720080"/>
          </a:xfrm>
          <a:prstGeom prst="line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7002270" y="2265937"/>
            <a:ext cx="1035115" cy="0"/>
          </a:xfrm>
          <a:prstGeom prst="line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7722350" y="1545857"/>
            <a:ext cx="1035115" cy="0"/>
          </a:xfrm>
          <a:prstGeom prst="line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7947375" y="933060"/>
            <a:ext cx="0" cy="100862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564" y="933060"/>
            <a:ext cx="146685" cy="22669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3249" y="2044603"/>
            <a:ext cx="291465" cy="22669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01570" y="2181222"/>
            <a:ext cx="414046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tx2"/>
                </a:solidFill>
              </a:rPr>
              <a:t>Can use this in 3D to understand product of a vector and a bivector</a:t>
            </a:r>
          </a:p>
        </p:txBody>
      </p:sp>
      <p:pic>
        <p:nvPicPr>
          <p:cNvPr id="23" name="Picture 2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5085" y="2375650"/>
            <a:ext cx="883920" cy="226695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625" y="3146810"/>
            <a:ext cx="4619625" cy="28003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71600" y="3921900"/>
            <a:ext cx="295606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accent1"/>
                </a:solidFill>
              </a:rPr>
              <a:t>Symmetric</a:t>
            </a:r>
            <a:r>
              <a:rPr lang="en-GB" sz="2000" dirty="0" smtClean="0">
                <a:solidFill>
                  <a:schemeClr val="tx2"/>
                </a:solidFill>
              </a:rPr>
              <a:t> part is a </a:t>
            </a:r>
            <a:r>
              <a:rPr lang="en-GB" sz="2000" dirty="0" err="1" smtClean="0">
                <a:solidFill>
                  <a:schemeClr val="tx2"/>
                </a:solidFill>
              </a:rPr>
              <a:t>trivector</a:t>
            </a:r>
            <a:endParaRPr lang="en-GB" sz="2000" dirty="0" smtClean="0">
              <a:solidFill>
                <a:schemeClr val="tx2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533070" y="3921900"/>
            <a:ext cx="313438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accent1"/>
                </a:solidFill>
              </a:rPr>
              <a:t>Antisymmetric</a:t>
            </a:r>
            <a:r>
              <a:rPr lang="en-GB" sz="2000" dirty="0" smtClean="0">
                <a:solidFill>
                  <a:schemeClr val="tx2"/>
                </a:solidFill>
              </a:rPr>
              <a:t> part is a vector</a:t>
            </a:r>
          </a:p>
        </p:txBody>
      </p:sp>
      <p:cxnSp>
        <p:nvCxnSpPr>
          <p:cNvPr id="30" name="Straight Arrow Connector 29"/>
          <p:cNvCxnSpPr>
            <a:stCxn id="27" idx="0"/>
          </p:cNvCxnSpPr>
          <p:nvPr/>
        </p:nvCxnSpPr>
        <p:spPr>
          <a:xfrm flipV="1">
            <a:off x="2449633" y="3516855"/>
            <a:ext cx="1942347" cy="40504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8" idx="0"/>
          </p:cNvCxnSpPr>
          <p:nvPr/>
        </p:nvCxnSpPr>
        <p:spPr>
          <a:xfrm flipH="1" flipV="1">
            <a:off x="5419005" y="3516855"/>
            <a:ext cx="1681258" cy="40504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530" y="4371950"/>
            <a:ext cx="3838575" cy="39052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0974" y="4371949"/>
            <a:ext cx="3838575" cy="390525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L2 S</a:t>
            </a:r>
            <a:fld id="{40E39B3E-C87B-4733-AA7D-3387836CB72D}" type="slidenum">
              <a:rPr lang="en-GB" smtClean="0"/>
              <a:pPr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9602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/>
          <p:cNvSpPr/>
          <p:nvPr/>
        </p:nvSpPr>
        <p:spPr>
          <a:xfrm>
            <a:off x="7871440" y="4479110"/>
            <a:ext cx="976035" cy="4779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Reflections</a:t>
            </a:r>
            <a:endParaRPr lang="en-GB" dirty="0"/>
          </a:p>
        </p:txBody>
      </p:sp>
      <p:sp>
        <p:nvSpPr>
          <p:cNvPr id="4" name="Freeform 3"/>
          <p:cNvSpPr/>
          <p:nvPr/>
        </p:nvSpPr>
        <p:spPr>
          <a:xfrm>
            <a:off x="5967155" y="1201517"/>
            <a:ext cx="2611120" cy="751840"/>
          </a:xfrm>
          <a:custGeom>
            <a:avLst/>
            <a:gdLst>
              <a:gd name="connsiteX0" fmla="*/ 71120 w 2611120"/>
              <a:gd name="connsiteY0" fmla="*/ 660400 h 751840"/>
              <a:gd name="connsiteX1" fmla="*/ 731520 w 2611120"/>
              <a:gd name="connsiteY1" fmla="*/ 0 h 751840"/>
              <a:gd name="connsiteX2" fmla="*/ 2611120 w 2611120"/>
              <a:gd name="connsiteY2" fmla="*/ 0 h 751840"/>
              <a:gd name="connsiteX3" fmla="*/ 1859280 w 2611120"/>
              <a:gd name="connsiteY3" fmla="*/ 751840 h 751840"/>
              <a:gd name="connsiteX4" fmla="*/ 0 w 2611120"/>
              <a:gd name="connsiteY4" fmla="*/ 751840 h 751840"/>
              <a:gd name="connsiteX5" fmla="*/ 71120 w 2611120"/>
              <a:gd name="connsiteY5" fmla="*/ 660400 h 751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1120" h="751840">
                <a:moveTo>
                  <a:pt x="71120" y="660400"/>
                </a:moveTo>
                <a:lnTo>
                  <a:pt x="731520" y="0"/>
                </a:lnTo>
                <a:lnTo>
                  <a:pt x="2611120" y="0"/>
                </a:lnTo>
                <a:lnTo>
                  <a:pt x="1859280" y="751840"/>
                </a:lnTo>
                <a:lnTo>
                  <a:pt x="0" y="751840"/>
                </a:lnTo>
                <a:lnTo>
                  <a:pt x="71120" y="6604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6251260" y="785852"/>
            <a:ext cx="810090" cy="810090"/>
          </a:xfrm>
          <a:prstGeom prst="straightConnector1">
            <a:avLst/>
          </a:prstGeom>
          <a:ln w="19050">
            <a:solidFill>
              <a:schemeClr val="accent3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7061350" y="794582"/>
            <a:ext cx="810090" cy="810090"/>
          </a:xfrm>
          <a:prstGeom prst="straightConnector1">
            <a:avLst/>
          </a:prstGeom>
          <a:ln w="19050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7061350" y="749577"/>
            <a:ext cx="0" cy="827860"/>
          </a:xfrm>
          <a:prstGeom prst="straightConnector1">
            <a:avLst/>
          </a:prstGeom>
          <a:ln w="19050">
            <a:solidFill>
              <a:schemeClr val="tx2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6251260" y="785852"/>
            <a:ext cx="540060" cy="540060"/>
          </a:xfrm>
          <a:prstGeom prst="straightConnector1">
            <a:avLst/>
          </a:prstGeom>
          <a:ln w="19050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8860" y="909514"/>
            <a:ext cx="152400" cy="15049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3210" y="871413"/>
            <a:ext cx="146685" cy="226695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2292" y="490562"/>
            <a:ext cx="158115" cy="150495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0" y="1311275"/>
            <a:ext cx="4572000" cy="38322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TextBox 24"/>
          <p:cNvSpPr txBox="1"/>
          <p:nvPr/>
        </p:nvSpPr>
        <p:spPr>
          <a:xfrm>
            <a:off x="251520" y="1605280"/>
            <a:ext cx="3825425" cy="30777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accent4"/>
                </a:solidFill>
              </a:rPr>
              <a:t>See the power of the geometric product when looking at operations.</a:t>
            </a:r>
          </a:p>
          <a:p>
            <a:endParaRPr lang="en-GB" sz="2000" dirty="0">
              <a:solidFill>
                <a:schemeClr val="accent4"/>
              </a:solidFill>
            </a:endParaRPr>
          </a:p>
          <a:p>
            <a:r>
              <a:rPr lang="en-GB" sz="2000" dirty="0" smtClean="0">
                <a:solidFill>
                  <a:schemeClr val="accent4"/>
                </a:solidFill>
              </a:rPr>
              <a:t>Decompose </a:t>
            </a:r>
            <a:r>
              <a:rPr lang="en-GB" sz="2000" b="1" i="1" dirty="0" smtClean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GB" sz="2000" dirty="0" smtClean="0">
                <a:solidFill>
                  <a:schemeClr val="accent4"/>
                </a:solidFill>
              </a:rPr>
              <a:t> into components into and out of the plane.</a:t>
            </a:r>
          </a:p>
          <a:p>
            <a:endParaRPr lang="en-GB" sz="2000" dirty="0">
              <a:solidFill>
                <a:schemeClr val="accent4"/>
              </a:solidFill>
            </a:endParaRPr>
          </a:p>
          <a:p>
            <a:r>
              <a:rPr lang="en-GB" sz="2000" dirty="0" smtClean="0">
                <a:solidFill>
                  <a:schemeClr val="accent4"/>
                </a:solidFill>
              </a:rPr>
              <a:t>Form the reflected vector</a:t>
            </a:r>
          </a:p>
          <a:p>
            <a:endParaRPr lang="en-GB" sz="2000" dirty="0">
              <a:solidFill>
                <a:schemeClr val="accent4"/>
              </a:solidFill>
            </a:endParaRPr>
          </a:p>
          <a:p>
            <a:r>
              <a:rPr lang="en-GB" sz="2000" dirty="0" smtClean="0">
                <a:solidFill>
                  <a:schemeClr val="accent4"/>
                </a:solidFill>
              </a:rPr>
              <a:t>Now re-express in terms of the geometric product.</a:t>
            </a:r>
          </a:p>
        </p:txBody>
      </p:sp>
      <p:pic>
        <p:nvPicPr>
          <p:cNvPr id="26" name="Picture 2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9612" y="2346725"/>
            <a:ext cx="2186940" cy="77343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5835" y="3523615"/>
            <a:ext cx="1554480" cy="308610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0457" y="4101920"/>
            <a:ext cx="3785235" cy="75438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L2 S</a:t>
            </a:r>
            <a:fld id="{40E39B3E-C87B-4733-AA7D-3387836CB72D}" type="slidenum">
              <a:rPr lang="en-GB" smtClean="0"/>
              <a:pPr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853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5842080" y="3173965"/>
            <a:ext cx="1595340" cy="47790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5832140" y="2318870"/>
            <a:ext cx="1335250" cy="47790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0" y="1311275"/>
            <a:ext cx="4572000" cy="38322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Rotations</a:t>
            </a: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431540" y="1619051"/>
            <a:ext cx="3780420" cy="30777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Two reflections generate a rotation.</a:t>
            </a:r>
          </a:p>
          <a:p>
            <a:endParaRPr lang="en-GB" sz="2000" dirty="0">
              <a:solidFill>
                <a:schemeClr val="bg1"/>
              </a:solidFill>
            </a:endParaRPr>
          </a:p>
          <a:p>
            <a:r>
              <a:rPr lang="en-GB" sz="2000" dirty="0" smtClean="0">
                <a:solidFill>
                  <a:schemeClr val="bg1"/>
                </a:solidFill>
              </a:rPr>
              <a:t>Define a </a:t>
            </a:r>
            <a:r>
              <a:rPr lang="en-GB" sz="2000" i="1" dirty="0" smtClean="0">
                <a:solidFill>
                  <a:schemeClr val="bg1"/>
                </a:solidFill>
              </a:rPr>
              <a:t>rotor</a:t>
            </a:r>
            <a:r>
              <a:rPr lang="en-GB" sz="2000" dirty="0" smtClean="0">
                <a:solidFill>
                  <a:schemeClr val="bg1"/>
                </a:solidFill>
              </a:rPr>
              <a:t> </a:t>
            </a:r>
            <a:r>
              <a:rPr lang="en-GB" sz="2000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GB" sz="2000" dirty="0" smtClean="0">
                <a:solidFill>
                  <a:schemeClr val="bg1"/>
                </a:solidFill>
              </a:rPr>
              <a:t>. This is formed from a geometric product!</a:t>
            </a:r>
          </a:p>
          <a:p>
            <a:endParaRPr lang="en-GB" sz="2000" dirty="0">
              <a:solidFill>
                <a:schemeClr val="bg1"/>
              </a:solidFill>
            </a:endParaRPr>
          </a:p>
          <a:p>
            <a:r>
              <a:rPr lang="en-GB" sz="2000" dirty="0" smtClean="0">
                <a:solidFill>
                  <a:schemeClr val="bg1"/>
                </a:solidFill>
              </a:rPr>
              <a:t>Rotations now formed by </a:t>
            </a:r>
          </a:p>
          <a:p>
            <a:endParaRPr lang="en-GB" sz="2000" dirty="0">
              <a:solidFill>
                <a:schemeClr val="bg1"/>
              </a:solidFill>
            </a:endParaRPr>
          </a:p>
          <a:p>
            <a:r>
              <a:rPr lang="en-GB" sz="2000" dirty="0" smtClean="0">
                <a:solidFill>
                  <a:schemeClr val="bg1"/>
                </a:solidFill>
              </a:rPr>
              <a:t>This works for higher grade objects as well. Will prove this later.</a:t>
            </a:r>
          </a:p>
          <a:p>
            <a:endParaRPr lang="en-GB" sz="2000" dirty="0" smtClean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8735" y="1340175"/>
            <a:ext cx="2413635" cy="6915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255" y="2453048"/>
            <a:ext cx="1024890" cy="20955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832140" y="4101920"/>
            <a:ext cx="1595340" cy="47790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7585" y="3275757"/>
            <a:ext cx="1259205" cy="27432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862" y="4204664"/>
            <a:ext cx="1316355" cy="272415"/>
          </a:xfrm>
          <a:prstGeom prst="rect">
            <a:avLst/>
          </a:prstGeom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L2 S</a:t>
            </a:r>
            <a:fld id="{40E39B3E-C87B-4733-AA7D-3387836CB72D}" type="slidenum">
              <a:rPr lang="en-GB" smtClean="0"/>
              <a:pPr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2891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1711413"/>
            <a:ext cx="3041649" cy="34320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Rotors in 3D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L2 S</a:t>
            </a:r>
            <a:fld id="{40E39B3E-C87B-4733-AA7D-3387836CB72D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3041649" y="2249457"/>
            <a:ext cx="3060701" cy="6270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251519" y="2412051"/>
            <a:ext cx="2520281" cy="27699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/>
              <a:t>Rotors are even grade, so built out of a scalar and the three bivectors. </a:t>
            </a:r>
          </a:p>
          <a:p>
            <a:endParaRPr lang="en-GB" sz="2000" dirty="0"/>
          </a:p>
          <a:p>
            <a:r>
              <a:rPr lang="en-GB" sz="2000" dirty="0" smtClean="0"/>
              <a:t>These are the terms that map directly to quaternions.</a:t>
            </a:r>
          </a:p>
          <a:p>
            <a:endParaRPr lang="en-GB" sz="2000" dirty="0"/>
          </a:p>
          <a:p>
            <a:endParaRPr lang="en-GB" sz="20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3266855" y="1834244"/>
            <a:ext cx="2655295" cy="30777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tx2"/>
                </a:solidFill>
              </a:rPr>
              <a:t>Rotors are normalised.</a:t>
            </a:r>
          </a:p>
          <a:p>
            <a:endParaRPr lang="en-GB" sz="2000" dirty="0">
              <a:solidFill>
                <a:schemeClr val="tx2"/>
              </a:solidFill>
            </a:endParaRPr>
          </a:p>
          <a:p>
            <a:endParaRPr lang="en-GB" sz="2000" dirty="0" smtClean="0">
              <a:solidFill>
                <a:schemeClr val="tx2"/>
              </a:solidFill>
            </a:endParaRPr>
          </a:p>
          <a:p>
            <a:endParaRPr lang="en-GB" sz="2000" dirty="0">
              <a:solidFill>
                <a:schemeClr val="tx2"/>
              </a:solidFill>
            </a:endParaRPr>
          </a:p>
          <a:p>
            <a:r>
              <a:rPr lang="en-GB" sz="2000" dirty="0" smtClean="0">
                <a:solidFill>
                  <a:schemeClr val="tx2"/>
                </a:solidFill>
              </a:rPr>
              <a:t>Reduces the degrees of freedom from 4 to 3.</a:t>
            </a:r>
          </a:p>
          <a:p>
            <a:endParaRPr lang="en-GB" sz="2000" dirty="0">
              <a:solidFill>
                <a:schemeClr val="tx2"/>
              </a:solidFill>
            </a:endParaRPr>
          </a:p>
          <a:p>
            <a:r>
              <a:rPr lang="en-GB" sz="2000" dirty="0" smtClean="0">
                <a:solidFill>
                  <a:schemeClr val="tx2"/>
                </a:solidFill>
              </a:rPr>
              <a:t>This is precisely the definition of a unit quaternion. 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2350" y="1716088"/>
            <a:ext cx="3041650" cy="34274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6375864" y="1858928"/>
            <a:ext cx="2494621" cy="24622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/>
              <a:t>Rotors are elements of a 4-dimensional space normalised to 1. </a:t>
            </a:r>
          </a:p>
          <a:p>
            <a:endParaRPr lang="en-GB" sz="2000" dirty="0"/>
          </a:p>
          <a:p>
            <a:r>
              <a:rPr lang="en-GB" sz="2000" dirty="0" smtClean="0"/>
              <a:t>They live on a 3-sphere. </a:t>
            </a:r>
          </a:p>
          <a:p>
            <a:endParaRPr lang="en-GB" sz="2000" dirty="0" smtClean="0"/>
          </a:p>
          <a:p>
            <a:r>
              <a:rPr lang="en-GB" sz="2000" dirty="0" smtClean="0"/>
              <a:t>This is the GROUP MANIFOLD.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2226" y="1858928"/>
            <a:ext cx="1639524" cy="44279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825" y="1993943"/>
            <a:ext cx="1024890" cy="20955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6885" y="2436735"/>
            <a:ext cx="224409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232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1716088"/>
            <a:ext cx="9144000" cy="211613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Exponential form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L2 S</a:t>
            </a:r>
            <a:fld id="{40E39B3E-C87B-4733-AA7D-3387836CB72D}" type="slidenum">
              <a:rPr lang="en-GB" smtClean="0"/>
              <a:pPr/>
              <a:t>16</a:t>
            </a:fld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190" y="1311610"/>
            <a:ext cx="3093720" cy="2114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1822355"/>
            <a:ext cx="4935855" cy="1874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090" y="2256715"/>
            <a:ext cx="231459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/>
              <a:t>Use the following useful, general result.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3832225"/>
            <a:ext cx="9144000" cy="13112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327240" y="4244193"/>
            <a:ext cx="2147191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Polar decomposition</a:t>
            </a:r>
          </a:p>
        </p:txBody>
      </p:sp>
      <p:pic>
        <p:nvPicPr>
          <p:cNvPr id="16" name="Picture 1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1790" y="4159452"/>
            <a:ext cx="3177540" cy="339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773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Exponential form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L2 S</a:t>
            </a:r>
            <a:fld id="{40E39B3E-C87B-4733-AA7D-3387836CB72D}" type="slidenum">
              <a:rPr lang="en-GB" smtClean="0"/>
              <a:pPr/>
              <a:t>17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341529" y="1311610"/>
            <a:ext cx="3600401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tx2"/>
                </a:solidFill>
              </a:rPr>
              <a:t>Sequence of two reflections gives a rotation through twice the angle between the vectors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1980" y="1055850"/>
            <a:ext cx="4048125" cy="12458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1540" y="4116437"/>
            <a:ext cx="315035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tx2"/>
                </a:solidFill>
              </a:rPr>
              <a:t>Also need to check orientation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2571750"/>
            <a:ext cx="9144000" cy="12604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TextBox 8"/>
          <p:cNvSpPr txBox="1"/>
          <p:nvPr/>
        </p:nvSpPr>
        <p:spPr>
          <a:xfrm>
            <a:off x="701570" y="2728540"/>
            <a:ext cx="2160240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Useful result when vector </a:t>
            </a:r>
            <a:r>
              <a:rPr lang="en-GB" sz="2000" i="1" dirty="0" smtClean="0">
                <a:solidFill>
                  <a:schemeClr val="bg1"/>
                </a:solidFill>
              </a:rPr>
              <a:t>a</a:t>
            </a:r>
            <a:r>
              <a:rPr lang="en-GB" sz="2000" dirty="0" smtClean="0">
                <a:solidFill>
                  <a:schemeClr val="bg1"/>
                </a:solidFill>
              </a:rPr>
              <a:t> lies in the plane </a:t>
            </a:r>
            <a:r>
              <a:rPr lang="en-GB" sz="2000" i="1" dirty="0" smtClean="0">
                <a:solidFill>
                  <a:schemeClr val="bg1"/>
                </a:solidFill>
              </a:rPr>
              <a:t>B</a:t>
            </a:r>
            <a:endParaRPr lang="en-GB" sz="2000" dirty="0" smtClean="0">
              <a:solidFill>
                <a:schemeClr val="bg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6865" y="2686035"/>
            <a:ext cx="4356735" cy="96583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1780" y="4255620"/>
            <a:ext cx="6278880" cy="337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4321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1311910"/>
            <a:ext cx="9144000" cy="12604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Rotors in 3D</a:t>
            </a:r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454499" y="4056915"/>
            <a:ext cx="5467651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 smtClean="0"/>
              <a:t>Can work in terms of Euler angles, but best avoided: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L2 S</a:t>
            </a:r>
            <a:fld id="{40E39B3E-C87B-4733-AA7D-3387836CB72D}" type="slidenum">
              <a:rPr lang="en-GB" smtClean="0"/>
              <a:pPr/>
              <a:t>18</a:t>
            </a:fld>
            <a:endParaRPr lang="en-GB" dirty="0"/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1581640"/>
            <a:ext cx="1960245" cy="28194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2082561"/>
            <a:ext cx="2244090" cy="2819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1547" y="1543893"/>
            <a:ext cx="670574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The rotor for a rotation through |</a:t>
            </a:r>
            <a:r>
              <a:rPr lang="en-GB" sz="2000" i="1" dirty="0" smtClean="0">
                <a:solidFill>
                  <a:schemeClr val="bg1"/>
                </a:solidFill>
              </a:rPr>
              <a:t>B</a:t>
            </a:r>
            <a:r>
              <a:rPr lang="en-GB" sz="2000" dirty="0" smtClean="0">
                <a:solidFill>
                  <a:schemeClr val="bg1"/>
                </a:solidFill>
              </a:rPr>
              <a:t>| with handedness of </a:t>
            </a:r>
            <a:r>
              <a:rPr lang="en-GB" sz="2000" i="1" dirty="0" smtClean="0">
                <a:solidFill>
                  <a:schemeClr val="bg1"/>
                </a:solidFill>
              </a:rPr>
              <a:t>B</a:t>
            </a:r>
            <a:r>
              <a:rPr lang="en-GB" sz="2000" dirty="0" smtClean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6965" y="2031689"/>
            <a:ext cx="297033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In terms of an axis: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99" y="2863555"/>
            <a:ext cx="2475275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/>
              <a:t>Decompose a vector into terms in and out of the plane</a:t>
            </a:r>
          </a:p>
        </p:txBody>
      </p:sp>
      <p:pic>
        <p:nvPicPr>
          <p:cNvPr id="14" name="Picture 1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96" y="3137577"/>
            <a:ext cx="4238625" cy="37528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6765" y="4551970"/>
            <a:ext cx="4010025" cy="293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343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Unification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0" y="1716655"/>
            <a:ext cx="9144000" cy="17113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971600" y="2032257"/>
            <a:ext cx="693077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endParaRPr lang="en-GB" sz="2800" dirty="0" smtClean="0">
              <a:solidFill>
                <a:schemeClr val="tx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51620" y="1897810"/>
            <a:ext cx="4047301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400" dirty="0" smtClean="0">
                <a:solidFill>
                  <a:schemeClr val="bg1"/>
                </a:solidFill>
              </a:rPr>
              <a:t>Every rotor can be written as</a:t>
            </a:r>
          </a:p>
        </p:txBody>
      </p:sp>
      <p:pic>
        <p:nvPicPr>
          <p:cNvPr id="10" name="Picture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5610" y="1975910"/>
            <a:ext cx="2211705" cy="2819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51620" y="2463144"/>
            <a:ext cx="566417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400" dirty="0" smtClean="0">
                <a:solidFill>
                  <a:schemeClr val="bg1"/>
                </a:solidFill>
              </a:rPr>
              <a:t>Rotations of any object, of any grade, in any space of any signature can be written as</a:t>
            </a:r>
          </a:p>
        </p:txBody>
      </p:sp>
      <p:pic>
        <p:nvPicPr>
          <p:cNvPr id="12" name="Picture 1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5995" y="2840530"/>
            <a:ext cx="1316355" cy="272415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L2 S</a:t>
            </a:r>
            <a:fld id="{40E39B3E-C87B-4733-AA7D-3387836CB72D}" type="slidenum">
              <a:rPr lang="en-GB" smtClean="0"/>
              <a:pPr/>
              <a:t>19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6935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Unification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0" y="1715520"/>
            <a:ext cx="9144000" cy="17113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971600" y="2031122"/>
            <a:ext cx="693077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endParaRPr lang="en-GB" sz="2800" dirty="0" smtClean="0">
              <a:solidFill>
                <a:schemeClr val="tx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6545" y="1941680"/>
            <a:ext cx="8370930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2400" dirty="0" smtClean="0">
                <a:solidFill>
                  <a:schemeClr val="bg1"/>
                </a:solidFill>
              </a:rPr>
              <a:t>Every finite Lie group can be realised as a group of rotors.</a:t>
            </a:r>
          </a:p>
          <a:p>
            <a:pPr algn="ctr">
              <a:lnSpc>
                <a:spcPct val="150000"/>
              </a:lnSpc>
            </a:pPr>
            <a:r>
              <a:rPr lang="en-GB" sz="2400" dirty="0" smtClean="0">
                <a:solidFill>
                  <a:schemeClr val="bg1"/>
                </a:solidFill>
              </a:rPr>
              <a:t>Every Lie algebra can be realised as a set of bivectors.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L2 S</a:t>
            </a:r>
            <a:fld id="{40E39B3E-C87B-4733-AA7D-3387836CB72D}" type="slidenum">
              <a:rPr lang="en-GB" smtClean="0"/>
              <a:pPr/>
              <a:t>20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2511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Resources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0" y="1311274"/>
            <a:ext cx="9144000" cy="3832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791580" y="1867345"/>
            <a:ext cx="3240360" cy="29546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geometry.mrao.cam.ac.uk</a:t>
            </a:r>
            <a:b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</a:br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chris.doran@arm.com</a:t>
            </a:r>
          </a:p>
          <a:p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cjld1@cam.ac.uk</a:t>
            </a:r>
          </a:p>
          <a:p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@</a:t>
            </a:r>
            <a:r>
              <a:rPr lang="en-GB" sz="2400" dirty="0" err="1" smtClean="0">
                <a:solidFill>
                  <a:schemeClr val="bg1"/>
                </a:solidFill>
                <a:latin typeface="Calibri Light" panose="020F0302020204030204" pitchFamily="34" charset="0"/>
              </a:rPr>
              <a:t>chrisjldoran</a:t>
            </a:r>
            <a:endParaRPr lang="en-GB" sz="2400" dirty="0" smtClean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#</a:t>
            </a:r>
            <a:r>
              <a:rPr lang="en-GB" sz="2400" dirty="0" err="1" smtClean="0">
                <a:solidFill>
                  <a:schemeClr val="bg1"/>
                </a:solidFill>
                <a:latin typeface="Calibri Light" panose="020F0302020204030204" pitchFamily="34" charset="0"/>
              </a:rPr>
              <a:t>geometricalgebra</a:t>
            </a:r>
            <a:endParaRPr lang="en-GB" sz="2400" dirty="0" smtClean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r>
              <a:rPr lang="en-GB" sz="2400" dirty="0">
                <a:solidFill>
                  <a:schemeClr val="bg1"/>
                </a:solidFill>
                <a:latin typeface="Calibri Light" panose="020F0302020204030204" pitchFamily="34" charset="0"/>
              </a:rPr>
              <a:t>github.com/</a:t>
            </a:r>
            <a:r>
              <a:rPr lang="en-GB" sz="2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ga</a:t>
            </a:r>
            <a:endParaRPr lang="en-GB" sz="2400" dirty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/>
            </a:r>
            <a:b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</a:br>
            <a:endParaRPr lang="en-GB" sz="2400" dirty="0" smtClean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7" name="Picture 6" descr="cov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8665" y="825550"/>
            <a:ext cx="3015335" cy="4317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L2 S</a:t>
            </a:r>
            <a:fld id="{40E39B3E-C87B-4733-AA7D-3387836CB72D}" type="slidenum">
              <a:rPr lang="en-GB" smtClean="0"/>
              <a:pPr/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094931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5.75"/>
  <p:tag name="ORIGINALWIDTH" val="515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e}{\bm{e}}&#10;\newcommand{\bl}{\bm{l}}&#10;\newcommand{\bn}{\bm{n}}&#10;\newcommand{\bx}{\bm{x}}&#10;\newcommand{\dt}{\! \cdot \!}&#10;\newcommand{\wdg}{\! \wedge \!}&#10;\newcommand{\crs}{\! \times \!}&#10;\newcommand{\scp}{\! \ast \!}&#10;\newcommand{\half}{{\textstyle \frac{1}{2}}}&#10;&#10;\definecolor{myGrey}{RGB}{62,62,64}&#10;\color{myGrey}&#10;&#10;\begin{document}&#10;\begin{align*}&#10;\{ \be_1, \be_2, \be_3 \}&#10;\end{align*}&#10;\end{document}"/>
  <p:tag name="IGUANATEXSIZE" val="2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8.13662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e}{\bm{e}}&#10;\newcommand{\bl}{\bm{l}}&#10;\newcommand{\bn}{\bm{n}}&#10;\newcommand{\bx}{\bm{x}}&#10;\newcommand{\dt}{\! \cdot \!}&#10;\newcommand{\wdg}{\! \wedge \!}&#10;\newcommand{\crs}{\! \times \!}&#10;\newcommand{\scp}{\! \ast \!}&#10;\newcommand{\half}{{\textstyle \frac{1}{2}}}&#10;&#10;\definecolor{myGrey}{RGB}{62,62,64}&#10;\color{myGrey}&#10;&#10;\begin{document}&#10;\begin{align*}&#10;\be_1 \be_3 = - \be_3 \be_1 \quad \ldots&#10;\end{align*}&#10;\end{document}"/>
  <p:tag name="IGUANATEXSIZE" val="2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6.5"/>
  <p:tag name="ORIGINALWIDTH" val="93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e}{\bm{e}}&#10;\newcommand{\bl}{\bm{l}}&#10;\newcommand{\bn}{\bm{n}}&#10;\newcommand{\bx}{\bm{x}}&#10;\newcommand{\dt}{\! \cdot \!}&#10;\newcommand{\wdg}{\! \wedge \!}&#10;\newcommand{\crs}{\! \times \!}&#10;\newcommand{\scp}{\! \ast \!}&#10;\newcommand{\half}{{\textstyle \frac{1}{2}}}&#10;&#10;\definecolor{myGrey}{RGB}{62,62,64}&#10;\color{myGrey}&#10;&#10;\begin{document}&#10;\begin{align*}&#10;\be_1&#10;\end{align*}&#10;\end{document}"/>
  <p:tag name="IGUANATEXSIZE" val="2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6.5"/>
  <p:tag name="ORIGINALWIDTH" val="101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e}{\bm{e}}&#10;\newcommand{\bl}{\bm{l}}&#10;\newcommand{\bn}{\bm{n}}&#10;\newcommand{\bx}{\bm{x}}&#10;\newcommand{\dt}{\! \cdot \!}&#10;\newcommand{\wdg}{\! \wedge \!}&#10;\newcommand{\crs}{\! \times \!}&#10;\newcommand{\scp}{\! \ast \!}&#10;\newcommand{\half}{{\textstyle \frac{1}{2}}}&#10;&#10;\definecolor{myGrey}{RGB}{62,62,64}&#10;\color{myGrey}&#10;&#10;\begin{document}&#10;\begin{align*}&#10;\be_2&#10;\end{align*}&#10;\end{document}"/>
  <p:tag name="IGUANATEXSIZE" val="2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8"/>
  <p:tag name="ORIGINALWIDTH" val="97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e}{\bm{e}}&#10;\newcommand{\bl}{\bm{l}}&#10;\newcommand{\bn}{\bm{n}}&#10;\newcommand{\bx}{\bm{x}}&#10;\newcommand{\dt}{\! \cdot \!}&#10;\newcommand{\wdg}{\! \wedge \!}&#10;\newcommand{\crs}{\! \times \!}&#10;\newcommand{\scp}{\! \ast \!}&#10;\newcommand{\half}{{\textstyle \frac{1}{2}}}&#10;&#10;\definecolor{myGrey}{RGB}{62,62,64}&#10;\color{myGrey}&#10;&#10;\begin{document}&#10;\begin{align*}&#10;\be_3&#10;\end{align*}&#10;\end{document}"/>
  <p:tag name="IGUANATEXSIZE" val="2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6.5"/>
  <p:tag name="ORIGINALWIDTH" val="216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e}{\bm{e}}&#10;\newcommand{\bl}{\bm{l}}&#10;\newcommand{\bn}{\bm{n}}&#10;\newcommand{\bx}{\bm{x}}&#10;\newcommand{\dt}{\! \cdot \!}&#10;\newcommand{\wdg}{\! \wedge \!}&#10;\newcommand{\crs}{\! \times \!}&#10;\newcommand{\scp}{\! \ast \!}&#10;\newcommand{\half}{{\textstyle \frac{1}{2}}}&#10;&#10;\definecolor{myGrey}{RGB}{62,62,64}&#10;\color{myGrey}&#10;&#10;\begin{document}&#10;\begin{align*}&#10;\be_1 \be_2&#10;\end{align*}&#10;\end{document}"/>
  <p:tag name="IGUANATEXSIZE" val="2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8"/>
  <p:tag name="ORIGINALWIDTH" val="213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e}{\bm{e}}&#10;\newcommand{\bl}{\bm{l}}&#10;\newcommand{\bn}{\bm{n}}&#10;\newcommand{\bx}{\bm{x}}&#10;\newcommand{\dt}{\! \cdot \!}&#10;\newcommand{\wdg}{\! \wedge \!}&#10;\newcommand{\crs}{\! \times \!}&#10;\newcommand{\scp}{\! \ast \!}&#10;\newcommand{\half}{{\textstyle \frac{1}{2}}}&#10;&#10;\definecolor{myGrey}{RGB}{62,62,64}&#10;\color{myGrey}&#10;&#10;\begin{document}&#10;\begin{align*}&#10;\be_2 \be_3&#10;\end{align*}&#10;\end{document}"/>
  <p:tag name="IGUANATEXSIZE" val="2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8"/>
  <p:tag name="ORIGINALWIDTH" val="209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e}{\bm{e}}&#10;\newcommand{\bl}{\bm{l}}&#10;\newcommand{\bn}{\bm{n}}&#10;\newcommand{\bx}{\bm{x}}&#10;\newcommand{\dt}{\! \cdot \!}&#10;\newcommand{\wdg}{\! \wedge \!}&#10;\newcommand{\crs}{\! \times \!}&#10;\newcommand{\scp}{\! \ast \!}&#10;\newcommand{\half}{{\textstyle \frac{1}{2}}}&#10;&#10;\definecolor{myGrey}{RGB}{62,62,64}&#10;\color{myGrey}&#10;&#10;\begin{document}&#10;\begin{align*}&#10;\be_3 \be_1&#10;\end{align*}&#10;\end{document}"/>
  <p:tag name="IGUANATEXSIZE" val="2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29.0643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e}{\bm{e}}&#10;\newcommand{\bl}{\bm{l}}&#10;\newcommand{\bn}{\bm{n}}&#10;\newcommand{\bx}{\bm{x}}&#10;\newcommand{\dt}{\! \cdot \!}&#10;\newcommand{\wdg}{\! \wedge \!}&#10;\newcommand{\crs}{\! \times \!}&#10;\newcommand{\scp}{\! \ast \!}&#10;\newcommand{\half}{{\textstyle \frac{1}{2}}}&#10;&#10;\definecolor{myGrey}{RGB}{62,62,64}&#10;\color{myGrey}&#10;&#10;\begin{document}&#10;\begin{align*}&#10;\be_1 (\be_1 \be_2) &amp;= \be_2 \\&#10;\be_1 (\be_2 \be_3) &amp;= \be_1 \be_2 \be_3 &#10;\end{align*}&#10;\end{document}"/>
  <p:tag name="IGUANATEXSIZE" val="2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42.4579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e}{\bm{e}}&#10;\newcommand{\bl}{\bm{l}}&#10;\newcommand{\bn}{\bm{n}}&#10;\newcommand{\bx}{\bm{x}}&#10;\newcommand{\dt}{\! \cdot \!}&#10;\newcommand{\wdg}{\! \wedge \!}&#10;\newcommand{\crs}{\! \times \!}&#10;\newcommand{\scp}{\! \ast \!}&#10;\newcommand{\half}{{\textstyle \frac{1}{2}}}&#10;&#10;\definecolor{myGrey}{RGB}{62,62,64}&#10;\color{myGrey}&#10;&#10;\begin{document}&#10;\begin{align*}&#10;(\be_1 \be_2) (\be_2 \be_3) &amp;= \be_1 \be_2 \be_2 \be_3 \\&#10;&amp;= \be_1 \be_3 = - \be_3 \be_1&#10;\end{align*}&#10;\end{document}"/>
  <p:tag name="IGUANATEXSIZE" val="2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3.85725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e}{\bm{e}}&#10;\newcommand{\bl}{\bm{l}}&#10;\newcommand{\bn}{\bm{n}}&#10;\newcommand{\bx}{\bm{x}}&#10;\newcommand{\dt}{\! \cdot \!}&#10;\newcommand{\wdg}{\! \wedge \!}&#10;\newcommand{\crs}{\! \times \!}&#10;\newcommand{\scp}{\! \ast \!}&#10;\newcommand{\half}{{\textstyle \frac{1}{2}}}&#10;&#10;\definecolor{myGrey}{RGB}{62,62,64}&#10;\color{myGrey}&#10;&#10;\begin{document}&#10;\begin{align*}&#10;i^2 = j^2 = k^2 = ijk = -1&#10;\end{align*}&#10;\end{document}"/>
  <p:tag name="IGUANATEXSIZE" val="2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7.33898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i = - \be_2 \be_3, \;j=-\be_3 \be_1, \; k = - \be_1 \be_2&#10;\end{align*}&#10;\end{document}"/>
  <p:tag name="IGUANATEXSIZE" val="2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6.5"/>
  <p:tag name="ORIGINALWIDTH" val="93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e}{\bm{e}}&#10;\newcommand{\bl}{\bm{l}}&#10;\newcommand{\bn}{\bm{n}}&#10;\newcommand{\bx}{\bm{x}}&#10;\newcommand{\dt}{\! \cdot \!}&#10;\newcommand{\wdg}{\! \wedge \!}&#10;\newcommand{\crs}{\! \times \!}&#10;\newcommand{\scp}{\! \ast \!}&#10;\newcommand{\half}{{\textstyle \frac{1}{2}}}&#10;&#10;\definecolor{myGrey}{RGB}{62,62,64}&#10;\color{myGrey}&#10;&#10;\begin{document}&#10;\begin{align*}&#10;\be_1&#10;\end{align*}&#10;\end{document}"/>
  <p:tag name="IGUANATEXSIZE" val="2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6.5"/>
  <p:tag name="ORIGINALWIDTH" val="101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e}{\bm{e}}&#10;\newcommand{\bl}{\bm{l}}&#10;\newcommand{\bn}{\bm{n}}&#10;\newcommand{\bx}{\bm{x}}&#10;\newcommand{\dt}{\! \cdot \!}&#10;\newcommand{\wdg}{\! \wedge \!}&#10;\newcommand{\crs}{\! \times \!}&#10;\newcommand{\scp}{\! \ast \!}&#10;\newcommand{\half}{{\textstyle \frac{1}{2}}}&#10;&#10;\definecolor{myGrey}{RGB}{62,62,64}&#10;\color{myGrey}&#10;&#10;\begin{document}&#10;\begin{align*}&#10;\be_2&#10;\end{align*}&#10;\end{document}"/>
  <p:tag name="IGUANATEXSIZE" val="2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8"/>
  <p:tag name="ORIGINALWIDTH" val="97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e}{\bm{e}}&#10;\newcommand{\bl}{\bm{l}}&#10;\newcommand{\bn}{\bm{n}}&#10;\newcommand{\bx}{\bm{x}}&#10;\newcommand{\dt}{\! \cdot \!}&#10;\newcommand{\wdg}{\! \wedge \!}&#10;\newcommand{\crs}{\! \times \!}&#10;\newcommand{\scp}{\! \ast \!}&#10;\newcommand{\half}{{\textstyle \frac{1}{2}}}&#10;&#10;\definecolor{myGrey}{RGB}{62,62,64}&#10;\color{myGrey}&#10;&#10;\begin{document}&#10;\begin{align*}&#10;\be_3&#10;\end{align*}&#10;\end{document}"/>
  <p:tag name="IGUANATEXSIZE" val="2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2"/>
  <p:tag name="ORIGINALWIDTH" val="535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e}{\bm{e}}&#10;\newcommand{\bl}{\bm{l}}&#10;\newcommand{\bn}{\bm{n}}&#10;\newcommand{\bx}{\bm{x}}&#10;\newcommand{\dt}{\! \cdot \!}&#10;\newcommand{\wdg}{\! \wedge \!}&#10;\newcommand{\crs}{\! \times \!}&#10;\newcommand{\scp}{\! \ast \!}&#10;\newcommand{\half}{{\textstyle \frac{1}{2}}}&#10;&#10;\definecolor{myGrey}{RGB}{62,62,64}&#10;\color{white}&#10;&#10;\begin{document}&#10;\begin{align*}&#10;I = \be_1 \be_2 \be_3&#10;\end{align*}&#10;\end{document}"/>
  <p:tag name="IGUANATEXSIZE" val="2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31.8368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e}{\bm{e}}&#10;\newcommand{\bl}{\bm{l}}&#10;\newcommand{\bn}{\bm{n}}&#10;\newcommand{\bx}{\bm{x}}&#10;\newcommand{\dt}{\! \cdot \!}&#10;\newcommand{\wdg}{\! \wedge \!}&#10;\newcommand{\crs}{\! \times \!}&#10;\newcommand{\scp}{\! \ast \!}&#10;\newcommand{\half}{{\textstyle \frac{1}{2}}}&#10;&#10;\definecolor{myGrey}{RGB}{62,62,64}&#10;\color{myGrey}&#10;&#10;\begin{document}&#10;\begin{align*}&#10;I^2 &amp;= \be_1 \be_2 \be_3 \be_1 \be_2 \be_3 \\&#10;&amp;= \be_1 \be_2 \be_1 \be_2 = -1&#10;\end{align*}&#10;\end{document}"/>
  <p:tag name="IGUANATEXSIZE" val="2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17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e}{\bm{e}}&#10;\newcommand{\bl}{\bm{l}}&#10;\newcommand{\bn}{\bm{n}}&#10;\newcommand{\bx}{\bm{x}}&#10;\newcommand{\dt}{\! \cdot \!}&#10;\newcommand{\wdg}{\! \wedge \!}&#10;\newcommand{\crs}{\! \times \!}&#10;\newcommand{\scp}{\! \ast \!}&#10;\newcommand{\half}{{\textstyle \frac{1}{2}}}&#10;&#10;\definecolor{myGrey}{RGB}{62,62,64}&#10;\color{myGrey}&#10;&#10;\begin{document}&#10;\begin{align*}&#10;\be_1 I &amp;= \be_1 \be_1 \be_2 \be_3 \\&#10;&amp;= - \be_1 \be_2 \be_1 \be_3 \\ &#10;&amp;= \be_1 \be_2 \be_3 \be_1 = I \be_1 &#10;\end{align*}&#10;\end{document}"/>
  <p:tag name="IGUANATEXSIZE" val="2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88.75"/>
  <p:tag name="ORIGINALWIDTH" val="651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e}{\bm{e}}&#10;\newcommand{\bl}{\bm{l}}&#10;\newcommand{\bn}{\bm{n}}&#10;\newcommand{\bx}{\bm{x}}&#10;\newcommand{\dt}{\! \cdot \!}&#10;\newcommand{\wdg}{\! \wedge \!}&#10;\newcommand{\crs}{\! \times \!}&#10;\newcommand{\scp}{\! \ast \!}&#10;\newcommand{\half}{{\textstyle \frac{1}{2}}}&#10;&#10;\definecolor{myGrey}{RGB}{62,62,64}&#10;\color{myGrey}&#10;&#10;\begin{document}&#10;\begin{align*}&#10;I \be_1 &amp;= \be_2 \be_3 \\&#10;I \be_2 \be_3 &amp;= -\be_1 &#10;\end{align*}&#10;\end{document}"/>
  <p:tag name="IGUANATEXSIZE" val="2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4"/>
  <p:tag name="ORIGINALWIDTH" val="36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&#10;\definecolor{myGrey}{RGB}{62,62,64}&#10;\color{myGrey}&#10;&#10;\begin{document}&#10;\begin{align*}&#10;1&#10;\end{align*}&#10;\end{document}"/>
  <p:tag name="IGUANATEXSIZE" val="2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5.75"/>
  <p:tag name="ORIGINALWIDTH" val="183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&#10;\definecolor{myGrey}{RGB}{62,62,64}&#10;\color{myGrey}&#10;&#10;\begin{document}&#10;\begin{align*}&#10; \{\be_i \}&#10;\end{align*}&#10;\end{document}"/>
  <p:tag name="IGUANATEXSIZE" val="2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2.25"/>
  <p:tag name="ORIGINALWIDTH" val="395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&#10;\definecolor{myGrey}{RGB}{62,62,64}&#10;\color{myGrey}&#10;&#10;\begin{document}&#10;\begin{align*}&#10;\{\be_i \wdg \be_j \} &#10;\end{align*}&#10;\end{document}"/>
  <p:tag name="IGUANATEXSIZE" val="2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0"/>
  <p:tag name="ORIGINALWIDTH" val="519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&#10;\definecolor{myGrey}{RGB}{62,62,64}&#10;\color{myGrey}&#10;&#10;\begin{document}&#10;\begin{align*}&#10;\be_1 \wdg \be_2 \wdg \be_3&#10;\end{align*}&#10;\end{document}"/>
  <p:tag name="IGUANATEXSIZE" val="2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60"/>
  <p:tag name="ORIGINALWIDTH" val="605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&#10;\definecolor{myGrey}{RGB}{62,62,64}&#10;\color{myGrey}&#10;&#10;\begin{document}&#10;\begin{align*}&#10;\ba = \sum_{i=1}^3 a_i \be_i&#10;\end{align*}&#10;\end{document}"/>
  <p:tag name="IGUANATEXSIZE" val="2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60"/>
  <p:tag name="ORIGINALWIDTH" val="603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&#10;\definecolor{myGrey}{RGB}{62,62,64}&#10;\color{myGrey}&#10;&#10;\begin{document}&#10;\begin{align*}&#10;\bb = \sum_{i=1}^3 b_i \be_i&#10;\end{align*}&#10;\end{document}"/>
  <p:tag name="IGUANATEXSIZE" val="2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5.35622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&#10;\definecolor{myGrey}{RGB}{62,62,64}&#10;\color{myGrey}&#10;&#10;\begin{document}&#10;\begin{align*}&#10;\ba \bb = \ba \dt \bb + \ba \wdg \bb&#10;\end{align*}&#10;\end{document}"/>
  <p:tag name="IGUANATEXSIZE" val="2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4.85716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&#10;\definecolor{myGrey}{RGB}{62,62,64}&#10;\color{myGrey}&#10;&#10;\begin{document}&#10;\begin{align*}&#10;\ba \wdg \bb  =&amp; (a_2 b_3 - b_3 a_2) \blde_2 \wdg \blde_3 + (a_3 b_1 -&#10;a_1 b_3) \blde_3 \wdg \blde_1 \\&#10;&amp; + (a_1 b_2 - a_2 b_1) \blde_1 \wdg&#10;\blde_2&#10;\end{align*}&#10;\end{document}"/>
  <p:tag name="IGUANATEXSIZE" val="2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1.13638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e}{\bm{e}}&#10;\newcommand{\bl}{\bm{l}}&#10;\newcommand{\bn}{\bm{n}}&#10;\newcommand{\bx}{\bm{x}}&#10;\newcommand{\dt}{\! \cdot \!}&#10;\newcommand{\wdg}{\! \wedge \!}&#10;\newcommand{\crs}{\! \times \!}&#10;\newcommand{\scp}{\! \ast \!}&#10;\newcommand{\half}{{\textstyle \frac{1}{2}}}&#10;&#10;\definecolor{myGrey}{RGB}{62,62,64}&#10;\color{myGrey}&#10;&#10;\begin{document}&#10;\begin{align*}&#10;\ba \times \bb = -I \ba \wdg \bb&#10;\end{align*}&#10;\end{document}"/>
  <p:tag name="IGUANATEXSIZE" val="2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7.5"/>
  <p:tag name="ORIGINALWIDTH" val="612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&#10;\definecolor{myGrey}{RGB}{62,62,64}&#10;\color{myGrey}&#10;&#10;\begin{document}&#10;\begin{align*}&#10;\ba = \ba_{\parallel} + \ba_{\perp}&#10;\end{align*}&#10;\end{document}"/>
  <p:tag name="IGUANATEXSIZE" val="2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1.5"/>
  <p:tag name="ORIGINALWIDTH" val="516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&#10;\definecolor{myGrey}{RGB}{62,62,64}&#10;\color{myGrey}&#10;&#10;\begin{document}&#10;\begin{align*}&#10;B = \ba_{\parallel} \wdg \bb&#10;\end{align*}&#10;\end{document}"/>
  <p:tag name="IGUANATEXSIZE" val="2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6.25"/>
  <p:tag name="ORIGINALWIDTH" val="57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&#10;\definecolor{myGrey}{RGB}{62,62,64}&#10;\color{myGrey}&#10;&#10;\begin{document}&#10;\begin{align*}&#10;a&#10;\end{align*}&#10;\end{document}"/>
  <p:tag name="IGUANATEXSIZE" val="2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8.5"/>
  <p:tag name="ORIGINALWIDTH" val="102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&#10;\definecolor{myGrey}{RGB}{62,62,64}&#10;\color{myGrey}&#10;&#10;\begin{document}&#10;\begin{align*}&#10;a_\parallel&#10;\end{align*}&#10;\end{document}"/>
  <p:tag name="IGUANATEXSIZE" val="2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3.5"/>
  <p:tag name="ORIGINALWIDTH" val="120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&#10;\definecolor{myGrey}{RGB}{62,62,64}&#10;\color{myGrey}&#10;&#10;\begin{document}&#10;\begin{align*}&#10;a_\perp&#10;\end{align*}&#10;\end{document}"/>
  <p:tag name="IGUANATEXSIZE" val="2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6.25"/>
  <p:tag name="ORIGINALWIDTH" val="57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&#10;\definecolor{myGrey}{RGB}{62,62,64}&#10;\color{myGrey}&#10;&#10;\begin{document}&#10;\begin{align*}&#10;b&#10;\end{align*}&#10;\end{document}"/>
  <p:tag name="IGUANATEXSIZE" val="2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1"/>
  <p:tag name="ORIGINALWIDTH" val="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&#10;\definecolor{myGrey}{RGB}{62,62,64}&#10;\color{myGrey}&#10;&#10;\begin{document}&#10;\begin{align*}&#10;B&#10;\end{align*}&#10;\end{document}"/>
  <p:tag name="IGUANATEXSIZE" val="2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4.44913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&#10;\definecolor{myGrey}{RGB}{62,62,64}&#10;\color{myGrey}&#10;&#10;\begin{document}&#10;\begin{align*}&#10;\ba_{\parallel} B = \ba_{\parallel} (\ba_{\parallel} \wdg \bb) =&#10;\ba_{\parallel} (\ba_{\parallel} \bb) = (\ba_{\parallel})^2 \bb&#10;\end{align*}&#10;\end{document}"/>
  <p:tag name="IGUANATEXSIZE" val="2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2.64228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&#10;\definecolor{myGrey}{RGB}{62,62,64}&#10;\color{myGrey}&#10;&#10;\begin{document}&#10;\begin{align*}&#10;\ba_{\perp} B =  \ba_{\perp} ( \ba_{\parallel} \wdg \bb ) =  \ba_{\perp}&#10;\ba_{\parallel}  \bb &#10;\end{align*}&#10;\end{document}"/>
  <p:tag name="IGUANATEXSIZE" val="2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6.49874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&#10;\definecolor{myGrey}{RGB}{62,62,64}&#10;\color{myGrey}&#10;&#10;\begin{document}&#10;\begin{align*}&#10;\ba B = \ba \dt B + \ba \wdg B &#10;\end{align*}&#10;\end{document}"/>
  <p:tag name="IGUANATEXSIZE" val="2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2.98402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&#10;\definecolor{myGrey}{RGB}{62,62,64}&#10;\color{myGrey}&#10;&#10;\begin{document}&#10;\begin{align*}&#10;\ba \dt B = {\ba_{\parallel}}^2 \bb = - (\ba_{\parallel} \bb)&#10;\ba_{\parallel} = - B \dt \ba&#10;\end{align*}&#10;\end{document}"/>
  <p:tag name="IGUANATEXSIZE" val="2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4.5074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\newcommand{\half}{{\textstyle \frac{1}{2}}}&#10;&#10;\definecolor{myGrey}{RGB}{62,62,64}&#10;\color{myGrey}&#10;&#10;\begin{document}&#10;\begin{align*}&#10;\ba \dt B = \half (\ba B - B \ba)&#10;\end{align*}&#10;\end{document}"/>
  <p:tag name="IGUANATEXSIZE" val="2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4.95331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\newcommand{\half}{{\textstyle \frac{1}{2}}}&#10;&#10;\definecolor{myGrey}{RGB}{62,62,64}&#10;\color{myGrey}&#10;&#10;\begin{document}&#10;\begin{align*}&#10;\ba \dt (\bb \wdg \bc) =(\ba\dt \bb)\bc - (\ba\dt\bc) \bb&#10;\end{align*}&#10;\end{document}"/>
  <p:tag name="IGUANATEXSIZE" val="2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8.01268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\newcommand{\half}{{\textstyle \frac{1}{2}}}&#10;&#10;\definecolor{myGrey}{RGB}{62,62,64}&#10;\color{myGrey}&#10;&#10;\begin{document}&#10;\begin{align*}&#10;\ba \wdg B = \half (\ba B + B \ba) =    B \wdg \ba&#10;\end{align*}&#10;\end{document}"/>
  <p:tag name="IGUANATEXSIZE" val="2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51.2573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\newcommand{\half}{{\textstyle \frac{1}{2}}}&#10;&#10;\definecolor{myGrey}{RGB}{62,62,64}&#10;\color{white}&#10;&#10;\begin{document}&#10;\begin{align*}&#10;\ba \wdg (\bb \wdg \bc) &#10;&amp;= \langle \ba  (\bb \wdg \bc) \rangle_3 \\&#10;&amp;= \langle \ba (\bb\bc - \bb \dt \bc) \rangle_3&#10;\end{align*}&#10;\end{document}"/>
  <p:tag name="IGUANATEXSIZE" val="2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9.71346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&#10;\definecolor{myGrey}{RGB}{62,62,64}&#10;\color{white}&#10;&#10;\begin{document}&#10;\begin{align*}&#10;\ba \wdg (\bb \wdg \bc) = \la \ba (\bb \bc) \ra_3 = \la \ba \bb \bc &#10;\ra_3&#10;\end{align*}&#10;\end{document}"/>
  <p:tag name="IGUANATEXSIZE" val="2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7.04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&#10;\definecolor{myGrey}{RGB}{62,62,64}&#10;\color{myGrey}&#10;&#10;\begin{document}&#10;\begin{align*}&#10;(\ba \wdg \bb) \wdg \bc =  \ba \wdg(\bb  \wdg \bc) &#10;= \ba \wdg \bb  \wdg \bc&#10;\end{align*}&#10;\end{document}"/>
  <p:tag name="IGUANATEXSIZE" val="2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9.25"/>
  <p:tag name="ORIGINALWIDTH" val="6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&#10;\definecolor{myGrey}{RGB}{62,62,64}&#10;\color{myGrey}&#10;&#10;\begin{document}&#10;\begin{align*}&#10;\ba&#10;\end{align*}&#10;\end{document}"/>
  <p:tag name="IGUANATEXSIZE" val="2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9.25"/>
  <p:tag name="ORIGINALWIDTH" val="57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&#10;\definecolor{myGrey}{RGB}{62,62,64}&#10;\color{myGrey}&#10;&#10;\begin{document}&#10;\begin{align*}&#10;\bb&#10;\end{align*}&#10;\end{document}"/>
  <p:tag name="IGUANATEXSIZE" val="2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9.25"/>
  <p:tag name="ORIGINALWIDTH" val="50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&#10;\definecolor{myGrey}{RGB}{62,62,64}&#10;\color{myGrey}&#10;&#10;\begin{document}&#10;\begin{align*}&#10;\bc&#10;\end{align*}&#10;\end{document}"/>
  <p:tag name="IGUANATEXSIZE" val="2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88.75"/>
  <p:tag name="ORIGINALWIDTH" val="61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&#10;\definecolor{myGrey}{RGB}{62,62,64}&#10;\color{myGrey}&#10;&#10;\begin{document}&#10;\begin{align*}&#10;\blde_1 \blde_2 &amp;= I \blde_3 \\&#10;I \be_1 \be_2 &amp;= - \be_3&#10;\end{align*}&#10;\end{document}"/>
  <p:tag name="IGUANATEXSIZE" val="2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9.25"/>
  <p:tag name="ORIGINALWIDTH" val="57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&#10;\definecolor{myGrey}{RGB}{62,62,64}&#10;\color{myGrey}&#10;&#10;\begin{document}&#10;\begin{align*}&#10;\bb&#10;\end{align*}&#10;\end{document}"/>
  <p:tag name="IGUANATEXSIZE" val="2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9.25"/>
  <p:tag name="ORIGINALWIDTH" val="114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&#10;\definecolor{myGrey}{RGB}{62,62,64}&#10;\color{myGrey}&#10;&#10;\begin{document}&#10;\begin{align*}&#10;I\bb&#10;\end{align*}&#10;\end{document}"/>
  <p:tag name="IGUANATEXSIZE" val="2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9.25"/>
  <p:tag name="ORIGINALWIDTH" val="348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&#10;\definecolor{myGrey}{RGB}{62,62,64}&#10;\color{myGrey}&#10;&#10;\begin{document}&#10;\begin{align*}&#10;B = I \bb&#10;\end{align*}&#10;\end{document}"/>
  <p:tag name="IGUANATEXSIZE" val="2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3.64536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&#10;\definecolor{myGrey}{RGB}{62,62,64}&#10;\color{myGrey}&#10;&#10;\begin{document}&#10;\begin{align*}&#10;\ba B = \ba (I \bb) =I \ba \bb = I(\ba \dt \bb + \ba \wdg \bb)&#10;\end{align*}&#10;\end{document}"/>
  <p:tag name="IGUANATEXSIZE" val="2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3.25063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&#10;\definecolor{myGrey}{RGB}{62,62,64}&#10;\color{myGrey}&#10;&#10;\begin{document}&#10;\begin{align*}&#10;\ba \wdg B = I (\ba \dt \bb) = \half(\ba B + B \ba)&#10;\end{align*}&#10;\end{document}"/>
  <p:tag name="IGUANATEXSIZE" val="2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3.25063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&#10;\definecolor{myGrey}{RGB}{62,62,64}&#10;\color{myGrey}&#10;&#10;\begin{document}&#10;\begin{align*}&#10;\ba \dt B = I (\ba \wdg \bb )= \half(\ba B - B \ba)&#10;\end{align*}&#10;\end{document}"/>
  <p:tag name="IGUANATEXSIZE" val="2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9.25"/>
  <p:tag name="ORIGINALWIDTH" val="6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e}{\bm{e}}&#10;\newcommand{\bl}{\bm{l}}&#10;\newcommand{\bn}{\bm{n}}&#10;\newcommand{\bx}{\bm{x}}&#10;\newcommand{\dt}{\! \cdot \!}&#10;\newcommand{\wdg}{\! \wedge \!}&#10;\newcommand{\crs}{\! \times \!}&#10;\newcommand{\scp}{\! \ast \!}&#10;\newcommand{\half}{{\textstyle \frac{1}{2}}}&#10;&#10;\definecolor{myGrey}{RGB}{62,62,64}&#10;\color{myGrey}&#10;&#10;\begin{document}&#10;\begin{align*}&#10;\ba&#10;\end{align*}&#10;\end{document}"/>
  <p:tag name="IGUANATEXSIZE" val="2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9.25"/>
  <p:tag name="ORIGINALWIDTH" val="57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e}{\bm{e}}&#10;\newcommand{\bl}{\bm{l}}&#10;\newcommand{\bn}{\bm{n}}&#10;\newcommand{\bx}{\bm{x}}&#10;\newcommand{\dt}{\! \cdot \!}&#10;\newcommand{\wdg}{\! \wedge \!}&#10;\newcommand{\crs}{\! \times \!}&#10;\newcommand{\scp}{\! \ast \!}&#10;\newcommand{\half}{{\textstyle \frac{1}{2}}}&#10;&#10;\definecolor{myGrey}{RGB}{62,62,64}&#10;\color{myGrey}&#10;&#10;\begin{document}&#10;\begin{align*}&#10;\bb&#10;\end{align*}&#10;\end{document}"/>
  <p:tag name="IGUANATEXSIZE" val="2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9.25"/>
  <p:tag name="ORIGINALWIDTH" val="62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e}{\bm{e}}&#10;\newcommand{\bl}{\bm{l}}&#10;\newcommand{\bn}{\bm{n}}&#10;\newcommand{\bx}{\bm{x}}&#10;\newcommand{\dt}{\! \cdot \!}&#10;\newcommand{\wdg}{\! \wedge \!}&#10;\newcommand{\crs}{\! \times \!}&#10;\newcommand{\scp}{\! \ast \!}&#10;\newcommand{\half}{{\textstyle \frac{1}{2}}}&#10;&#10;\definecolor{myGrey}{RGB}{62,62,64}&#10;\color{myGrey}&#10;&#10;\begin{document}&#10;\begin{align*}&#10;\bn&#10;\end{align*}&#10;\end{document}"/>
  <p:tag name="IGUANATEXSIZE" val="2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54.6342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e}{\bm{e}}&#10;\newcommand{\bl}{\bm{l}}&#10;\newcommand{\bn}{\bm{n}}&#10;\newcommand{\bx}{\bm{x}}&#10;\newcommand{\dt}{\! \cdot \!}&#10;\newcommand{\wdg}{\! \wedge \!}&#10;\newcommand{\crs}{\! \times \!}&#10;\newcommand{\scp}{\! \ast \!}&#10;\newcommand{\half}{{\textstyle \frac{1}{2}}}&#10;&#10;\definecolor{myGrey}{RGB}{62,62,64}&#10;\color{myGrey}&#10;&#10;\begin{document}&#10;\begin{align*}&#10;\ba_\perp &amp;= (\ba \dt \bn) \bn \\&#10;\ba_\parallel &amp;= \ba -  (\ba \dt \bn) \bn&#10;\end{align*}&#10;\end{document}"/>
  <p:tag name="IGUANATEXSIZE" val="2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1.5"/>
  <p:tag name="ORIGINALWIDTH" val="612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e}{\bm{e}}&#10;\newcommand{\bl}{\bm{l}}&#10;\newcommand{\bn}{\bm{n}}&#10;\newcommand{\bx}{\bm{x}}&#10;\newcommand{\dt}{\! \cdot \!}&#10;\newcommand{\wdg}{\! \wedge \!}&#10;\newcommand{\crs}{\! \times \!}&#10;\newcommand{\scp}{\! \ast \!}&#10;\newcommand{\half}{{\textstyle \frac{1}{2}}}&#10;&#10;\definecolor{myGrey}{RGB}{62,62,64}&#10;\color{myGrey}&#10;&#10;\begin{document}&#10;\begin{align*}&#10;\bb = \ba_\parallel - \ba_\perp&#10;\end{align*}&#10;\end{document}"/>
  <p:tag name="IGUANATEXSIZE" val="2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43.4927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e}{\bm{e}}&#10;\newcommand{\bl}{\bm{l}}&#10;\newcommand{\bn}{\bm{n}}&#10;\newcommand{\bx}{\bm{x}}&#10;\newcommand{\dt}{\! \cdot \!}&#10;\newcommand{\wdg}{\! \wedge \!}&#10;\newcommand{\crs}{\! \times \!}&#10;\newcommand{\scp}{\! \ast \!}&#10;\newcommand{\half}{{\textstyle \frac{1}{2}}}&#10;&#10;\definecolor{myGrey}{RGB}{62,62,64}&#10;\color{myGrey}&#10;&#10;\begin{document}&#10;\begin{align*}&#10;\bb &amp;= \ba - 2 (\ba \dt \bn) \bn \\&#10;&amp;= \ba - (\ba \bn + \bn \ba) \bn = - \bn \ba \bn &#10;\end{align*}&#10;\end{document}"/>
  <p:tag name="IGUANATEXSIZE" val="2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06.2825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e}{\bm{e}}&#10;\newcommand{\bl}{\bm{l}}&#10;\newcommand{\bldm}{\bm{m}}&#10;\newcommand{\bn}{\bm{n}}&#10;\newcommand{\bx}{\bm{x}}&#10;\newcommand{\dt}{\! \cdot \!}&#10;\newcommand{\wdg}{\! \wedge \!}&#10;\newcommand{\crs}{\! \times \!}&#10;\newcommand{\scp}{\! \ast \!}&#10;\newcommand{\half}{{\textstyle \frac{1}{2}}}&#10;&#10;\definecolor{myGrey}{RGB}{62,62,64}&#10;\color{myGrey}&#10;&#10;\begin{document}&#10;\begin{align*}&#10;\ba &amp;\mapsto - \bldm (-\bn \ba \bn) \bldm \\&#10;&amp;= \bldm \bn \ba \bn \bldm&#10;\end{align*}&#10;\end{document}"/>
  <p:tag name="IGUANATEXSIZE" val="2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2.5"/>
  <p:tag name="ORIGINALWIDTH" val="403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e}{\bm{e}}&#10;\newcommand{\bl}{\bm{l}}&#10;\newcommand{\bldm}{\bm{m}}&#10;\newcommand{\bn}{\bm{n}}&#10;\newcommand{\bx}{\bm{x}}&#10;\newcommand{\dt}{\! \cdot \!}&#10;\newcommand{\wdg}{\! \wedge \!}&#10;\newcommand{\crs}{\! \times \!}&#10;\newcommand{\scp}{\! \ast \!}&#10;\newcommand{\half}{{\textstyle \frac{1}{2}}}&#10;&#10;\definecolor{myGrey}{RGB}{62,62,64}&#10;\color{myGrey}&#10;&#10;\begin{document}&#10;\begin{align*}&#10;R = \bldm \bn&#10;\end{align*}&#10;\end{document}"/>
  <p:tag name="IGUANATEXSIZE" val="2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8"/>
  <p:tag name="ORIGINALWIDTH" val="495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&#10;\definecolor{myGrey}{RGB}{62,62,64}&#10;\color{myGrey}&#10;&#10;\begin{document}&#10;\begin{align*}&#10;\ba \mapsto R \ba \Rrev&#10;\end{align*}&#10;\end{document}"/>
  <p:tag name="IGUANATEXSIZE" val="2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7.25"/>
  <p:tag name="ORIGINALWIDTH" val="518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&#10;\definecolor{myGrey}{RGB}{62,62,64}&#10;\color{myGrey}&#10;&#10;\begin{document}&#10;\begin{align*}&#10;A \mapsto R A \Rrev&#10;\end{align*}&#10;\end{document}"/>
  <p:tag name="IGUANATEXSIZE" val="2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2.5"/>
  <p:tag name="ORIGINALWIDTH" val="403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e}{\bm{e}}&#10;\newcommand{\bl}{\bm{l}}&#10;\newcommand{\bldm}{\bm{m}}&#10;\newcommand{\bn}{\bm{n}}&#10;\newcommand{\bx}{\bm{x}}&#10;\newcommand{\dt}{\! \cdot \!}&#10;\newcommand{\wdg}{\! \wedge \!}&#10;\newcommand{\crs}{\! \times \!}&#10;\newcommand{\scp}{\! \ast \!}&#10;\newcommand{\half}{{\textstyle \frac{1}{2}}}&#10;&#10;\definecolor{myGrey}{RGB}{62,62,64}&#10;\color{myGrey}&#10;&#10;\begin{document}&#10;\begin{align*}&#10;R = \bldm \bn&#10;\end{align*}&#10;\end{document}"/>
  <p:tag name="IGUANATEXSIZE" val="2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8.01354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&#10;\definecolor{myGrey}{RGB}{62,62,64}&#10;\color{white}&#10;&#10;\begin{document}&#10;\begin{align*}&#10;R \Rrev = \bldm \bn \bn \bldm = 1&#10;\end{align*}&#10;\end{document}"/>
  <p:tag name="IGUANATEXSIZE" val="2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9.21181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&#10;\definecolor{myGrey}{RGB}{62,62,64}&#10;\color{myGrey}&#10;&#10;\begin{document}&#10;\begin{align*}&#10;R = \bldm \bn = \cos \theta + \bldm \wdg \bn&#10;\end{align*}&#10;\end{document}"/>
  <p:tag name="IGUANATEXSIZE" val="2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73.4388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&#10;\definecolor{myGrey}{RGB}{62,62,64}&#10;\color{myGrey}&#10;&#10;\begin{document}&#10;\begin{align*}&#10;(a \wdg  b)^2 &#10;&amp;= (ab - a \dt b)(a \dt b -ba) \\&#10;&amp;= -a^2 b^2 + a\dt b (ab + ba - a \dt b) \\&#10;&amp;= (a \dt b)^2 - a^2 b^2 \\&#10;&amp;= - a^2 b^2 \sin^2 \theta  &#10;\end{align*}&#10;\end{document}"/>
  <p:tag name="IGUANATEXSIZE" val="2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6.83456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&#10;\definecolor{myGrey}{RGB}{62,62,64}&#10;\color{white}&#10;&#10;\begin{document}&#10;\begin{align*}&#10;R = \cos \theta + \sin \theta \hat{B} = e^{\theta \hat{B}}&#10;\end{align*}&#10;\end{document}"/>
  <p:tag name="IGUANATEXSIZE" val="2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21.5905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&#10;\definecolor{myGrey}{RGB}{62,62,64}&#10;\color{myGrey}&#10;&#10;\begin{document}&#10;\begin{align*}&#10;m \dt m' &amp;= \la m (mnmmn) \ra \\&#10;&amp;= \la mn mn \ra \\&#10;&amp;= \cos^2 \theta - \sin^2 \theta = \cos 2\theta&#10;\end{align*}&#10;\end{document}"/>
  <p:tag name="IGUANATEXSIZE" val="2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59.6152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&#10;\definecolor{myGrey}{RGB}{62,62,64}&#10;\color{white}&#10;&#10;\begin{document}&#10;\begin{align*}&#10;e^{\theta \hat{B}} a &#10;&amp;= (\cos \theta + \sin \theta \hat{B}) a \\&#10;&amp;= a (\cos \theta - \sin \theta \hat{B}) = a e^{-\theta \hat{B}} &#10;\end{align*}&#10;\end{document}"/>
  <p:tag name="IGUANATEXSIZE" val="2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8.66504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&#10;\definecolor{myGrey}{RGB}{62,62,64}&#10;\color{myGrey}&#10;&#10;\begin{document}&#10;\begin{align*}&#10;e^{\theta e_1 e_2/2} e_1  e^{-\theta e_1 e_2/2} &#10;= e^{\theta e_1 e_2} e_1 = \cos \theta e_1 - \sin \theta e_2&#10;\end{align*}&#10;\end{document}"/>
  <p:tag name="IGUANATEXSIZE" val="2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3.5568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e}{\bm{e}}&#10;\newcommand{\bl}{\bm{l}}&#10;\newcommand{\bldm}{\bm{m}}&#10;\newcommand{\bn}{\bm{n}}&#10;\newcommand{\bx}{\bm{x}}&#10;\newcommand{\dt}{\! \cdot \!}&#10;\newcommand{\wdg}{\! \wedge \!}&#10;\newcommand{\crs}{\! \times \!}&#10;\newcommand{\scp}{\! \ast \!}&#10;\newcommand{\half}{{\textstyle \frac{1}{2}}}&#10;&#10;\definecolor{myGrey}{RGB}{62,62,64}&#10;\color{white}&#10;&#10;\begin{document}&#10;\begin{align*}&#10;R = \exp(-B/2)&#10;\end{align*}&#10;\end{document}"/>
  <p:tag name="IGUANATEXSIZE" val="2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0.45843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e}{\bm{e}}&#10;\newcommand{\bl}{\bm{l}}&#10;\newcommand{\bldm}{\bm{m}}&#10;\newcommand{\bn}{\bm{n}}&#10;\newcommand{\bx}{\bm{x}}&#10;\newcommand{\dt}{\! \cdot \!}&#10;\newcommand{\wdg}{\! \wedge \!}&#10;\newcommand{\crs}{\! \times \!}&#10;\newcommand{\scp}{\! \ast \!}&#10;\newcommand{\half}{{\textstyle \frac{1}{2}}}&#10;&#10;\definecolor{myGrey}{RGB}{62,62,64}&#10;\color{white}&#10;&#10;\begin{document}&#10;\begin{align*}&#10;R = \exp (-\theta I \bn /2)&#10;\end{align*}&#10;\end{document}"/>
  <p:tag name="IGUANATEXSIZE" val="2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3.74835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&#10;\definecolor{myGrey}{RGB}{62,62,64}&#10;\color{myGrey}&#10;&#10;\begin{document}&#10;\begin{align*}&#10;e^{-B/2} (a_\parallel +a_\perp) e^{B/2} = a_\parallel e^B + a_\perp&#10;\end{align*}&#10;\end{document}"/>
  <p:tag name="IGUANATEXSIZE" val="2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2.67457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&#10;\definecolor{myGrey}{RGB}{62,62,64}&#10;\color{myGrey}&#10;&#10;\begin{document}&#10;\begin{align*}&#10;R = &#10;e^{-\be_1\be_2 \phi/2} &#10;e^{-\be_2\be_3 \theta/2}&#10;e^{-\be_1\be_2 \psi/2}&#10;\end{align*}&#10;\end{document}"/>
  <p:tag name="IGUANATEXSIZE" val="2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1.78291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&#10;\definecolor{myGrey}{RGB}{62,62,64}&#10;\color{white}&#10;&#10;\begin{document}&#10;\begin{align*}&#10;R = \pm \exp(-B/2)&#10;\end{align*}&#10;\end{document}"/>
  <p:tag name="IGUANATEXSIZE" val="2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7.25"/>
  <p:tag name="ORIGINALWIDTH" val="518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&#10;\definecolor{myGrey}{RGB}{62,62,64}&#10;\color{white}&#10;&#10;\begin{document}&#10;\begin{align*}&#10;A \mapsto R A \Rrev&#10;\end{align*}&#10;\end{document}"/>
  <p:tag name="IGUANATEXSIZE" val="20"/>
</p:tagLst>
</file>

<file path=ppt/theme/theme1.xml><?xml version="1.0" encoding="utf-8"?>
<a:theme xmlns:a="http://schemas.openxmlformats.org/drawingml/2006/main" name="Office Theme">
  <a:themeElements>
    <a:clrScheme name="Geometric Algebra">
      <a:dk1>
        <a:srgbClr val="3E3E40"/>
      </a:dk1>
      <a:lt1>
        <a:sysClr val="window" lastClr="FFFFFF"/>
      </a:lt1>
      <a:dk2>
        <a:srgbClr val="8C8C8C"/>
      </a:dk2>
      <a:lt2>
        <a:srgbClr val="35AFA9"/>
      </a:lt2>
      <a:accent1>
        <a:srgbClr val="007997"/>
      </a:accent1>
      <a:accent2>
        <a:srgbClr val="85E8BA"/>
      </a:accent2>
      <a:accent3>
        <a:srgbClr val="004983"/>
      </a:accent3>
      <a:accent4>
        <a:srgbClr val="F4F4F4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20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2315</TotalTime>
  <Words>649</Words>
  <Application>Microsoft Office PowerPoint</Application>
  <PresentationFormat>On-screen Show (16:9)</PresentationFormat>
  <Paragraphs>134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Geometric Algebra</vt:lpstr>
      <vt:lpstr>Three dimensions</vt:lpstr>
      <vt:lpstr>Bivector products</vt:lpstr>
      <vt:lpstr>Unification</vt:lpstr>
      <vt:lpstr>The directed volume element</vt:lpstr>
      <vt:lpstr>3D Basis</vt:lpstr>
      <vt:lpstr>Products in 3D</vt:lpstr>
      <vt:lpstr>Unification</vt:lpstr>
      <vt:lpstr>Vectors and bivectors</vt:lpstr>
      <vt:lpstr>Vectors and bivectors</vt:lpstr>
      <vt:lpstr>Vectors and bivectors</vt:lpstr>
      <vt:lpstr>Duality</vt:lpstr>
      <vt:lpstr>Reflections</vt:lpstr>
      <vt:lpstr>Rotations</vt:lpstr>
      <vt:lpstr>Rotors in 3D</vt:lpstr>
      <vt:lpstr>Exponential form</vt:lpstr>
      <vt:lpstr>Exponential form</vt:lpstr>
      <vt:lpstr>Rotors in 3D</vt:lpstr>
      <vt:lpstr>Unification</vt:lpstr>
      <vt:lpstr>Unification</vt:lpstr>
      <vt:lpstr>Resources</vt:lpstr>
    </vt:vector>
  </TitlesOfParts>
  <Company>Arm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Chris Doran</dc:creator>
  <cp:lastModifiedBy>Chris Doran</cp:lastModifiedBy>
  <cp:revision>152</cp:revision>
  <dcterms:created xsi:type="dcterms:W3CDTF">2015-03-03T13:28:34Z</dcterms:created>
  <dcterms:modified xsi:type="dcterms:W3CDTF">2015-10-14T15:35:35Z</dcterms:modified>
</cp:coreProperties>
</file>