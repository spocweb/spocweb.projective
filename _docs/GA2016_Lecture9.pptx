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6" r:id="rId10"/>
    <p:sldId id="295" r:id="rId11"/>
    <p:sldId id="297" r:id="rId12"/>
    <p:sldId id="298" r:id="rId13"/>
    <p:sldId id="299" r:id="rId14"/>
    <p:sldId id="301" r:id="rId15"/>
    <p:sldId id="300" r:id="rId16"/>
    <p:sldId id="302" r:id="rId17"/>
    <p:sldId id="304" r:id="rId18"/>
    <p:sldId id="286" r:id="rId19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6" autoAdjust="0"/>
    <p:restoredTop sz="96198" autoAdjust="0"/>
  </p:normalViewPr>
  <p:slideViewPr>
    <p:cSldViewPr snapToObjects="1">
      <p:cViewPr>
        <p:scale>
          <a:sx n="130" d="100"/>
          <a:sy n="130" d="100"/>
        </p:scale>
        <p:origin x="-876" y="-456"/>
      </p:cViewPr>
      <p:guideLst>
        <p:guide orient="horz" pos="826"/>
        <p:guide orient="horz" pos="2414"/>
        <p:guide orient="horz" pos="1592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8" d="100"/>
          <a:sy n="68" d="100"/>
        </p:scale>
        <p:origin x="-2957" y="-77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263D-BE7B-41CB-A452-A64594516A32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19049-0C35-4A94-BC87-3EE767BE1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16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08/11/2016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08/11/2016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08/11/2016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08/11/2016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08/11/2016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08/11/2016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L8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8.xml"/><Relationship Id="rId7" Type="http://schemas.openxmlformats.org/officeDocument/2006/relationships/image" Target="../media/image7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1.png"/><Relationship Id="rId5" Type="http://schemas.openxmlformats.org/officeDocument/2006/relationships/tags" Target="../tags/tag10.xml"/><Relationship Id="rId10" Type="http://schemas.openxmlformats.org/officeDocument/2006/relationships/image" Target="../media/image10.png"/><Relationship Id="rId4" Type="http://schemas.openxmlformats.org/officeDocument/2006/relationships/tags" Target="../tags/tag9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3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5" Type="http://schemas.openxmlformats.org/officeDocument/2006/relationships/tags" Target="../tags/tag15.xml"/><Relationship Id="rId10" Type="http://schemas.openxmlformats.org/officeDocument/2006/relationships/image" Target="../media/image15.png"/><Relationship Id="rId4" Type="http://schemas.openxmlformats.org/officeDocument/2006/relationships/tags" Target="../tags/tag14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2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21.png"/><Relationship Id="rId2" Type="http://schemas.openxmlformats.org/officeDocument/2006/relationships/tags" Target="../tags/tag17.xml"/><Relationship Id="rId16" Type="http://schemas.openxmlformats.org/officeDocument/2006/relationships/image" Target="../media/image25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20.png"/><Relationship Id="rId5" Type="http://schemas.openxmlformats.org/officeDocument/2006/relationships/tags" Target="../tags/tag20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tags" Target="../tags/tag19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tags" Target="../tags/tag25.xml"/><Relationship Id="rId16" Type="http://schemas.openxmlformats.org/officeDocument/2006/relationships/image" Target="../media/image34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29.png"/><Relationship Id="rId5" Type="http://schemas.openxmlformats.org/officeDocument/2006/relationships/tags" Target="../tags/tag28.xml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tags" Target="../tags/tag27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2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41.png"/><Relationship Id="rId2" Type="http://schemas.openxmlformats.org/officeDocument/2006/relationships/tags" Target="../tags/tag33.xml"/><Relationship Id="rId16" Type="http://schemas.openxmlformats.org/officeDocument/2006/relationships/image" Target="../media/image45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40.png"/><Relationship Id="rId5" Type="http://schemas.openxmlformats.org/officeDocument/2006/relationships/tags" Target="../tags/tag36.xml"/><Relationship Id="rId15" Type="http://schemas.openxmlformats.org/officeDocument/2006/relationships/image" Target="../media/image44.png"/><Relationship Id="rId10" Type="http://schemas.openxmlformats.org/officeDocument/2006/relationships/image" Target="../media/image39.jpeg"/><Relationship Id="rId4" Type="http://schemas.openxmlformats.org/officeDocument/2006/relationships/tags" Target="../tags/tag35.xml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50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49.png"/><Relationship Id="rId5" Type="http://schemas.openxmlformats.org/officeDocument/2006/relationships/tags" Target="../tags/tag43.xml"/><Relationship Id="rId10" Type="http://schemas.openxmlformats.org/officeDocument/2006/relationships/image" Target="../media/image48.png"/><Relationship Id="rId4" Type="http://schemas.openxmlformats.org/officeDocument/2006/relationships/tags" Target="../tags/tag42.xml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56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/>
              <a:t>9</a:t>
            </a:r>
            <a:r>
              <a:rPr lang="en-GB" sz="2000" dirty="0" smtClean="0"/>
              <a:t>. Unification</a:t>
            </a:r>
            <a:endParaRPr lang="en-GB" sz="2000" dirty="0" smtClean="0"/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Euclidean geometry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311276"/>
            <a:ext cx="9144000" cy="2116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440" y="1581640"/>
            <a:ext cx="3027263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Represent the Euclidean point </a:t>
            </a:r>
            <a:r>
              <a:rPr lang="en-GB" sz="2000" i="1" dirty="0" smtClean="0">
                <a:solidFill>
                  <a:schemeClr val="bg1"/>
                </a:solidFill>
              </a:rPr>
              <a:t>x</a:t>
            </a:r>
            <a:r>
              <a:rPr lang="en-GB" sz="2000" dirty="0" smtClean="0">
                <a:solidFill>
                  <a:schemeClr val="bg1"/>
                </a:solidFill>
              </a:rPr>
              <a:t> by null vectors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046" y="1683480"/>
            <a:ext cx="2549804" cy="3051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517" y="2438202"/>
            <a:ext cx="2662733" cy="673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2086" y="2516581"/>
            <a:ext cx="3060340" cy="100027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Distance is given by the inner product</a:t>
            </a:r>
          </a:p>
          <a:p>
            <a:pPr>
              <a:spcAft>
                <a:spcPts val="600"/>
              </a:spcAft>
            </a:pPr>
            <a:endParaRPr lang="en-GB" sz="2000" dirty="0" smtClean="0"/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85" y="3741880"/>
            <a:ext cx="3132277" cy="667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91980" y="3876895"/>
            <a:ext cx="4294821" cy="6924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Read off the Euclidean vector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D</a:t>
            </a:r>
            <a:r>
              <a:rPr lang="en-GB" sz="2000" dirty="0" smtClean="0"/>
              <a:t>epends on the concept of the origin</a:t>
            </a:r>
          </a:p>
        </p:txBody>
      </p:sp>
    </p:spTree>
    <p:extLst>
      <p:ext uri="{BB962C8B-B14F-4D97-AF65-F5344CB8AC3E}">
        <p14:creationId xmlns:p14="http://schemas.microsoft.com/office/powerpoint/2010/main" val="1736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Spherical geometry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1176595"/>
            <a:ext cx="328536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Suppose instead we form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70" y="1041580"/>
            <a:ext cx="1662227" cy="667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43641" y="1832796"/>
            <a:ext cx="437881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Unit vector in an n+1 dimensional space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481990" y="1536635"/>
            <a:ext cx="180020" cy="29616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2527300"/>
            <a:ext cx="4572000" cy="261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341530" y="2886785"/>
            <a:ext cx="3825425" cy="200054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Instead of plotting points in Euclidean space, we can plot them on a sphere</a:t>
            </a:r>
          </a:p>
          <a:p>
            <a:pPr>
              <a:spcAft>
                <a:spcPts val="600"/>
              </a:spcAft>
            </a:pPr>
            <a:endParaRPr lang="en-GB" sz="20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No need to pick out a preferred origin any more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527300"/>
            <a:ext cx="4572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050" y="2976795"/>
            <a:ext cx="2950007" cy="115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8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Spherical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6515" y="1311275"/>
            <a:ext cx="23402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Spherical distance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693" y="933060"/>
            <a:ext cx="4241749" cy="869747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022050" y="1851670"/>
            <a:ext cx="1350150" cy="0"/>
          </a:xfrm>
          <a:prstGeom prst="line">
            <a:avLst/>
          </a:prstGeom>
          <a:ln w="1905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63572" y="1941680"/>
            <a:ext cx="3543843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Same pattern as Euclidean 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527300"/>
            <a:ext cx="4572000" cy="261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515" y="2721282"/>
            <a:ext cx="40504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‘Straight’ lines are now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14" y="3291830"/>
            <a:ext cx="2272436" cy="2892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6515" y="3832225"/>
            <a:ext cx="4050450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The     term now becomes essentially redundant and drops out of calculations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527300"/>
            <a:ext cx="4572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4763572" y="2721282"/>
            <a:ext cx="3993893" cy="100027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Invariance group are the set of rotors satisfying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Generators satisfy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5" y="3876895"/>
            <a:ext cx="146609" cy="20604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932" y="3021800"/>
            <a:ext cx="1141171" cy="28529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932" y="3854198"/>
            <a:ext cx="1044092" cy="2258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63572" y="4371950"/>
            <a:ext cx="4218918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Left with standard rotors in a Euclidean space. Just rotate the unit sphere</a:t>
            </a:r>
          </a:p>
        </p:txBody>
      </p:sp>
    </p:spTree>
    <p:extLst>
      <p:ext uri="{BB962C8B-B14F-4D97-AF65-F5344CB8AC3E}">
        <p14:creationId xmlns:p14="http://schemas.microsoft.com/office/powerpoint/2010/main" val="40121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436985" y="2661760"/>
            <a:ext cx="1575175" cy="5400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C:\Users\chrdor01\Desktop\Captur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60" y="295581"/>
            <a:ext cx="2801105" cy="254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non-Euclidean geometry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6515" y="1157721"/>
            <a:ext cx="5850650" cy="138499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Historically arrived at by replacing the parallel postulate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‘Straight’ lines become d-lines. Intersect the unit circle at 90</a:t>
            </a:r>
            <a:r>
              <a:rPr lang="en-GB" sz="2000" baseline="30000" dirty="0" smtClean="0"/>
              <a:t>o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Model this in our conformal framework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65" y="2749061"/>
            <a:ext cx="1398727" cy="2654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06515" y="2751770"/>
            <a:ext cx="13501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Unit circle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890" y="2751770"/>
            <a:ext cx="18002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d-lines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792729"/>
            <a:ext cx="1155040" cy="2258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6515" y="3516855"/>
            <a:ext cx="32403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d-line between </a:t>
            </a:r>
            <a:r>
              <a:rPr lang="en-GB" sz="2000" i="1" dirty="0">
                <a:solidFill>
                  <a:schemeClr val="bg1"/>
                </a:solidFill>
              </a:rPr>
              <a:t>X</a:t>
            </a:r>
            <a:r>
              <a:rPr lang="en-GB" sz="2000" dirty="0" smtClean="0">
                <a:solidFill>
                  <a:schemeClr val="bg1"/>
                </a:solidFill>
              </a:rPr>
              <a:t> and </a:t>
            </a:r>
            <a:r>
              <a:rPr lang="en-GB" sz="2000" i="1" dirty="0">
                <a:solidFill>
                  <a:schemeClr val="bg1"/>
                </a:solidFill>
              </a:rPr>
              <a:t>Y</a:t>
            </a:r>
            <a:r>
              <a:rPr lang="en-GB" sz="2000" dirty="0" smtClean="0">
                <a:solidFill>
                  <a:schemeClr val="bg1"/>
                </a:solidFill>
              </a:rPr>
              <a:t> is 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4" y="3966905"/>
            <a:ext cx="1695907" cy="21991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261" y="4426885"/>
            <a:ext cx="897484" cy="30510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7200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887035" y="3516855"/>
            <a:ext cx="432751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Translation along a d-line generated by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12" y="3966905"/>
            <a:ext cx="2228850" cy="30510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87035" y="4424562"/>
            <a:ext cx="405045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Rotor generates hyperbolic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146390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hrdor01\Desktop\Capture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216" y="141480"/>
            <a:ext cx="2610290" cy="254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non-Euclidean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430" y="996575"/>
            <a:ext cx="925655" cy="6257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88" y="1086585"/>
            <a:ext cx="2524049" cy="352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566" y="1716088"/>
            <a:ext cx="441049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Generator of translation along the d-line. Use this to define distance.</a:t>
            </a: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flipV="1">
            <a:off x="2861811" y="1356616"/>
            <a:ext cx="135014" cy="3594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6566" y="2526745"/>
            <a:ext cx="25652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Write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914" y="2552525"/>
            <a:ext cx="3047086" cy="289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53" y="3036430"/>
            <a:ext cx="1909877" cy="2912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2039" y="3036430"/>
            <a:ext cx="4005445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Boost factor from special relativity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2039" y="2481740"/>
            <a:ext cx="2362761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/>
              <a:t>Unit time-like </a:t>
            </a:r>
            <a:r>
              <a:rPr lang="en-GB" sz="2000" dirty="0" smtClean="0"/>
              <a:t>vectors</a:t>
            </a:r>
            <a:endParaRPr lang="en-GB" sz="2000" dirty="0"/>
          </a:p>
        </p:txBody>
      </p:sp>
      <p:sp>
        <p:nvSpPr>
          <p:cNvPr id="18" name="Rectangle 17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62" y="3479261"/>
            <a:ext cx="3092653" cy="66766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26" y="4244346"/>
            <a:ext cx="3324454" cy="66766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572000" y="3427413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396" y="3606865"/>
            <a:ext cx="4423104" cy="8337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52020" y="4596975"/>
            <a:ext cx="40504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Distance in non-Euclidean geometry</a:t>
            </a:r>
          </a:p>
        </p:txBody>
      </p:sp>
    </p:spTree>
    <p:extLst>
      <p:ext uri="{BB962C8B-B14F-4D97-AF65-F5344CB8AC3E}">
        <p14:creationId xmlns:p14="http://schemas.microsoft.com/office/powerpoint/2010/main" val="325906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non-Euclidean distance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15" y="1410180"/>
            <a:ext cx="5351221" cy="891540"/>
          </a:xfrm>
          <a:prstGeom prst="rect">
            <a:avLst/>
          </a:prstGeom>
        </p:spPr>
      </p:pic>
      <p:pic>
        <p:nvPicPr>
          <p:cNvPr id="6" name="Picture 4" descr="http://www.ac-noumea.nc/maths/polyhedr/img_art/CircleLimit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351" y="1311610"/>
            <a:ext cx="3335159" cy="333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0" y="2527300"/>
            <a:ext cx="4572000" cy="261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6535" y="2706765"/>
            <a:ext cx="3510390" cy="200054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Distance expands as you get near to the boundary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Circle represents a set of points at infinity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This is the Poincare disk view of non-Euclidean geometry</a:t>
            </a:r>
          </a:p>
        </p:txBody>
      </p:sp>
    </p:spTree>
    <p:extLst>
      <p:ext uri="{BB962C8B-B14F-4D97-AF65-F5344CB8AC3E}">
        <p14:creationId xmlns:p14="http://schemas.microsoft.com/office/powerpoint/2010/main" val="400988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non-Euclidean circles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1026" name="Picture 2" descr="C:\Users\chrdor01\Desktop\Capture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8" y="231490"/>
            <a:ext cx="2994501" cy="283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45" y="1131590"/>
            <a:ext cx="3732581" cy="6716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45" y="2139086"/>
            <a:ext cx="2995574" cy="36057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71600" y="2616755"/>
            <a:ext cx="1980220" cy="0"/>
          </a:xfrm>
          <a:prstGeom prst="line">
            <a:avLst/>
          </a:prstGeom>
          <a:ln w="1905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483" y="2753751"/>
            <a:ext cx="851916" cy="225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580" y="2751770"/>
            <a:ext cx="1230325" cy="2278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86935" y="2451252"/>
            <a:ext cx="2565286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Formula unchanged from the Euclidean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545" y="3336835"/>
            <a:ext cx="2970330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Still have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685" y="3336835"/>
            <a:ext cx="2121865" cy="27340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21950" y="3291830"/>
            <a:ext cx="2295256" cy="30777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Non-Euclidean circle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476544" y="3966905"/>
            <a:ext cx="391543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Definition of the centre is not so obvious. Euclidean centre is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660" y="4686153"/>
            <a:ext cx="1147115" cy="2258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87035" y="3966905"/>
            <a:ext cx="36454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Reverse the logic above and define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646" y="4326945"/>
            <a:ext cx="1456182" cy="22387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565" y="4628936"/>
            <a:ext cx="2296211" cy="30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3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716087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pic>
        <p:nvPicPr>
          <p:cNvPr id="4" name="Picture 2" descr="http://upload.wikimedia.org/wikipedia/commons/9/97/Felix_Christian_Kle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180" y="199458"/>
            <a:ext cx="2348820" cy="322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6525" y="1941680"/>
            <a:ext cx="6255695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Conformal GA unifies Euclidean, projective, spherical, and hyperbolic geometries in a single compact framework.</a:t>
            </a:r>
          </a:p>
        </p:txBody>
      </p:sp>
    </p:spTree>
    <p:extLst>
      <p:ext uri="{BB962C8B-B14F-4D97-AF65-F5344CB8AC3E}">
        <p14:creationId xmlns:p14="http://schemas.microsoft.com/office/powerpoint/2010/main" val="306466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5652120" y="3003393"/>
            <a:ext cx="3150349" cy="8171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3041650" y="3018228"/>
            <a:ext cx="2115235" cy="8022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206515" y="3014555"/>
            <a:ext cx="2115235" cy="80227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041830" y="1806665"/>
            <a:ext cx="2115055" cy="802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206515" y="1806665"/>
            <a:ext cx="2115235" cy="802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Geometries and Klein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L8 S</a:t>
            </a:r>
            <a:fld id="{40E39B3E-C87B-4733-AA7D-3387836CB72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21550" y="996575"/>
            <a:ext cx="441049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Understand geometries in terms of the underlying transformation groups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9" y="2203897"/>
            <a:ext cx="1686001" cy="227838"/>
          </a:xfrm>
          <a:prstGeom prst="rect">
            <a:avLst/>
          </a:prstGeom>
        </p:spPr>
      </p:pic>
      <p:pic>
        <p:nvPicPr>
          <p:cNvPr id="2052" name="Picture 4" descr="http://ecx.images-amazon.com/images/I/41rpnapcnfL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678" y="0"/>
            <a:ext cx="1871413" cy="243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06515" y="1806665"/>
            <a:ext cx="211599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/>
              <a:t>Euclidean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1650" y="1806665"/>
            <a:ext cx="22054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/>
              <a:t>Affine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855" y="2242378"/>
            <a:ext cx="1660245" cy="2357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6515" y="3013987"/>
            <a:ext cx="21152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/>
              <a:t>Projective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77" y="3426957"/>
            <a:ext cx="1523543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41650" y="3013987"/>
            <a:ext cx="21152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/>
              <a:t>Conformal 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828" y="3419032"/>
            <a:ext cx="2989632" cy="28529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570" y="3422995"/>
            <a:ext cx="1428445" cy="2813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52120" y="3013987"/>
            <a:ext cx="3150349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/>
              <a:t>Mobius /</a:t>
            </a:r>
            <a:r>
              <a:rPr lang="en-GB" sz="2000" dirty="0" err="1" smtClean="0"/>
              <a:t>Inversive</a:t>
            </a:r>
            <a:endParaRPr lang="en-GB" sz="2000" dirty="0" smtClean="0"/>
          </a:p>
        </p:txBody>
      </p:sp>
      <p:sp>
        <p:nvSpPr>
          <p:cNvPr id="26" name="Rectangle 25"/>
          <p:cNvSpPr/>
          <p:nvPr/>
        </p:nvSpPr>
        <p:spPr>
          <a:xfrm>
            <a:off x="206514" y="4154738"/>
            <a:ext cx="2115235" cy="802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206514" y="4199188"/>
            <a:ext cx="211599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/>
              <a:t>Spherical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36" y="4497123"/>
            <a:ext cx="1331366" cy="285293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039449" y="4172924"/>
            <a:ext cx="2115055" cy="802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3039449" y="4199188"/>
            <a:ext cx="211505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/>
              <a:t>non-Euclidean</a:t>
            </a:r>
          </a:p>
        </p:txBody>
      </p:sp>
      <p:pic>
        <p:nvPicPr>
          <p:cNvPr id="28" name="Picture 2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296" y="4536707"/>
            <a:ext cx="1121359" cy="28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6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926595" y="4097949"/>
            <a:ext cx="2790310" cy="94907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09" y="283577"/>
            <a:ext cx="8229600" cy="65314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Geometries and Klein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Oval 4"/>
          <p:cNvSpPr/>
          <p:nvPr/>
        </p:nvSpPr>
        <p:spPr>
          <a:xfrm>
            <a:off x="71500" y="1302174"/>
            <a:ext cx="4635515" cy="198965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736684" y="2974616"/>
            <a:ext cx="182980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Projective</a:t>
            </a:r>
          </a:p>
        </p:txBody>
      </p:sp>
      <p:sp>
        <p:nvSpPr>
          <p:cNvPr id="7" name="Oval 6"/>
          <p:cNvSpPr/>
          <p:nvPr/>
        </p:nvSpPr>
        <p:spPr>
          <a:xfrm>
            <a:off x="746575" y="1619386"/>
            <a:ext cx="3578292" cy="127685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916705" y="2562313"/>
            <a:ext cx="199245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Affine</a:t>
            </a:r>
          </a:p>
        </p:txBody>
      </p:sp>
      <p:sp>
        <p:nvSpPr>
          <p:cNvPr id="9" name="Oval 8"/>
          <p:cNvSpPr/>
          <p:nvPr/>
        </p:nvSpPr>
        <p:spPr>
          <a:xfrm>
            <a:off x="1376644" y="1799406"/>
            <a:ext cx="2114445" cy="7132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916705" y="2067258"/>
            <a:ext cx="130119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Euclidean</a:t>
            </a:r>
          </a:p>
        </p:txBody>
      </p:sp>
      <p:sp>
        <p:nvSpPr>
          <p:cNvPr id="13" name="Oval 12"/>
          <p:cNvSpPr/>
          <p:nvPr/>
        </p:nvSpPr>
        <p:spPr>
          <a:xfrm>
            <a:off x="5157065" y="1428115"/>
            <a:ext cx="3646819" cy="289157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6147175" y="3831890"/>
            <a:ext cx="13525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Conformal</a:t>
            </a:r>
          </a:p>
        </p:txBody>
      </p:sp>
      <p:sp>
        <p:nvSpPr>
          <p:cNvPr id="15" name="Oval 14"/>
          <p:cNvSpPr/>
          <p:nvPr/>
        </p:nvSpPr>
        <p:spPr>
          <a:xfrm>
            <a:off x="5510709" y="2394476"/>
            <a:ext cx="1236913" cy="12080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5607115" y="2841780"/>
            <a:ext cx="114050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Spherical</a:t>
            </a:r>
          </a:p>
        </p:txBody>
      </p:sp>
      <p:sp>
        <p:nvSpPr>
          <p:cNvPr id="17" name="Oval 16"/>
          <p:cNvSpPr/>
          <p:nvPr/>
        </p:nvSpPr>
        <p:spPr>
          <a:xfrm>
            <a:off x="6615528" y="1491630"/>
            <a:ext cx="1151827" cy="12223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6642230" y="1896675"/>
            <a:ext cx="1275662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Euclidean</a:t>
            </a:r>
          </a:p>
        </p:txBody>
      </p:sp>
      <p:sp>
        <p:nvSpPr>
          <p:cNvPr id="19" name="Oval 18"/>
          <p:cNvSpPr/>
          <p:nvPr/>
        </p:nvSpPr>
        <p:spPr>
          <a:xfrm>
            <a:off x="7235695" y="2815505"/>
            <a:ext cx="1116725" cy="10875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7227295" y="2976795"/>
            <a:ext cx="1080119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non-Euclidean</a:t>
            </a:r>
          </a:p>
        </p:txBody>
      </p:sp>
      <p:sp>
        <p:nvSpPr>
          <p:cNvPr id="23" name="Oval 22"/>
          <p:cNvSpPr/>
          <p:nvPr/>
        </p:nvSpPr>
        <p:spPr>
          <a:xfrm>
            <a:off x="1466655" y="3602509"/>
            <a:ext cx="2790310" cy="1129481"/>
          </a:xfrm>
          <a:prstGeom prst="ellipse">
            <a:avLst/>
          </a:prstGeom>
          <a:solidFill>
            <a:schemeClr val="tx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1826695" y="4191930"/>
            <a:ext cx="1530170" cy="4500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GB" dirty="0">
                <a:solidFill>
                  <a:schemeClr val="bg1"/>
                </a:solidFill>
              </a:rPr>
              <a:t>Euclidean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780" y="3749138"/>
            <a:ext cx="139515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Conformal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1630" y="4641980"/>
            <a:ext cx="2205245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Affine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500" y="996575"/>
            <a:ext cx="22502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Projective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2050" y="996575"/>
            <a:ext cx="24776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Conformal viewpoint</a:t>
            </a:r>
          </a:p>
        </p:txBody>
      </p:sp>
    </p:spTree>
    <p:extLst>
      <p:ext uri="{BB962C8B-B14F-4D97-AF65-F5344CB8AC3E}">
        <p14:creationId xmlns:p14="http://schemas.microsoft.com/office/powerpoint/2010/main" val="1196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Groups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L8 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86535" y="1048838"/>
            <a:ext cx="7380820" cy="107721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Have seen that we can perform dilations with rotors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Every linear transformation is rotation + dilation + rotation via SVD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Trick is to double size of space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25" y="2256715"/>
            <a:ext cx="6562896" cy="324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6535" y="2751770"/>
            <a:ext cx="21602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Null basis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705" y="2781970"/>
            <a:ext cx="3576066" cy="2912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386535" y="3561860"/>
            <a:ext cx="373121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Define bivector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48" y="4137076"/>
            <a:ext cx="1646377" cy="7171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1" y="4266812"/>
            <a:ext cx="1735531" cy="2813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0" y="3427412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4932040" y="3561860"/>
            <a:ext cx="36004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Construct group from constraint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876" y="4000610"/>
            <a:ext cx="1327404" cy="2813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32040" y="4461960"/>
            <a:ext cx="387043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Keeps null spaces separate. Within null space give general linear group.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330" y="1472551"/>
            <a:ext cx="1313372" cy="22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4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L8 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716088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66555" y="1958809"/>
            <a:ext cx="5726059" cy="110799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 smtClean="0">
                <a:solidFill>
                  <a:schemeClr val="bg1"/>
                </a:solidFill>
              </a:rPr>
              <a:t>Every matrix group can be realised as a rotor group in some suitable space. There is often more than one way to do this.</a:t>
            </a:r>
          </a:p>
        </p:txBody>
      </p:sp>
      <p:pic>
        <p:nvPicPr>
          <p:cNvPr id="3074" name="Picture 2" descr="https://upload.wikimedia.org/wikipedia/en/e/e8/Elie_Carta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194" y="0"/>
            <a:ext cx="2655805" cy="342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62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Design of mathematics</a:t>
            </a:r>
            <a:endParaRPr lang="en-GB" dirty="0"/>
          </a:p>
        </p:txBody>
      </p:sp>
      <p:pic>
        <p:nvPicPr>
          <p:cNvPr id="1026" name="Picture 2" descr="http://static-content.springer.com/lookinside/art%3A10.1007%2FBF01883780/000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2" t="10637" r="18019" b="14125"/>
          <a:stretch/>
        </p:blipFill>
        <p:spPr bwMode="auto">
          <a:xfrm>
            <a:off x="6821488" y="0"/>
            <a:ext cx="2357120" cy="413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311275"/>
            <a:ext cx="6821488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41530" y="1716088"/>
            <a:ext cx="2217338" cy="276998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Coordinate geometry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Complex analysis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Vector calculus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Tensor analysis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Matrix algebra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Lie groups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Lie algebras</a:t>
            </a:r>
          </a:p>
          <a:p>
            <a:r>
              <a:rPr lang="en-GB" sz="2000" dirty="0" err="1" smtClean="0">
                <a:solidFill>
                  <a:schemeClr val="bg1"/>
                </a:solidFill>
              </a:rPr>
              <a:t>Spinors</a:t>
            </a:r>
            <a:endParaRPr lang="en-GB" sz="2000" dirty="0" smtClean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Gauge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890" y="1716087"/>
            <a:ext cx="1999137" cy="276998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Grassmann algebra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Differential forms</a:t>
            </a:r>
          </a:p>
          <a:p>
            <a:r>
              <a:rPr lang="en-GB" sz="2000" dirty="0" err="1" smtClean="0">
                <a:solidFill>
                  <a:schemeClr val="bg1"/>
                </a:solidFill>
              </a:rPr>
              <a:t>Berezin</a:t>
            </a:r>
            <a:r>
              <a:rPr lang="en-GB" sz="2000" dirty="0" smtClean="0">
                <a:solidFill>
                  <a:schemeClr val="bg1"/>
                </a:solidFill>
              </a:rPr>
              <a:t> calculus</a:t>
            </a:r>
          </a:p>
          <a:p>
            <a:r>
              <a:rPr lang="en-GB" sz="2000" dirty="0" err="1" smtClean="0">
                <a:solidFill>
                  <a:schemeClr val="bg1"/>
                </a:solidFill>
              </a:rPr>
              <a:t>Twistors</a:t>
            </a:r>
            <a:endParaRPr lang="en-GB" sz="2000" dirty="0" smtClean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Quaternions</a:t>
            </a:r>
          </a:p>
          <a:p>
            <a:r>
              <a:rPr lang="en-GB" sz="2000" dirty="0" err="1" smtClean="0">
                <a:solidFill>
                  <a:schemeClr val="bg1"/>
                </a:solidFill>
              </a:rPr>
              <a:t>Octonions</a:t>
            </a:r>
            <a:endParaRPr lang="en-GB" sz="2000" dirty="0" smtClean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Pauli operators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Dirac theory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Gravity…</a:t>
            </a:r>
          </a:p>
        </p:txBody>
      </p:sp>
    </p:spTree>
    <p:extLst>
      <p:ext uri="{BB962C8B-B14F-4D97-AF65-F5344CB8AC3E}">
        <p14:creationId xmlns:p14="http://schemas.microsoft.com/office/powerpoint/2010/main" val="80424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Spinors and </a:t>
            </a:r>
            <a:r>
              <a:rPr lang="en-GB" dirty="0" err="1" smtClean="0"/>
              <a:t>twistors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176595"/>
            <a:ext cx="9144000" cy="13507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50" y="1266605"/>
            <a:ext cx="5670630" cy="7224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054" y="2166705"/>
            <a:ext cx="2841041" cy="3169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2527300"/>
            <a:ext cx="4572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41530" y="2796775"/>
            <a:ext cx="3915435" cy="138499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Spin matrices act on 2-component </a:t>
            </a:r>
            <a:r>
              <a:rPr lang="en-GB" sz="2000" dirty="0" err="1" smtClean="0"/>
              <a:t>wavefunctions</a:t>
            </a:r>
            <a:endParaRPr lang="en-GB" sz="2000" dirty="0" smtClean="0"/>
          </a:p>
          <a:p>
            <a:pPr>
              <a:spcAft>
                <a:spcPts val="600"/>
              </a:spcAft>
            </a:pPr>
            <a:r>
              <a:rPr lang="en-GB" sz="2000" dirty="0" smtClean="0"/>
              <a:t>These are spinors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Very similar to qubits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387" y="4371950"/>
            <a:ext cx="1299667" cy="2912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2030" y="2796775"/>
            <a:ext cx="4095455" cy="161582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Roger Penrose has put forward a philosophy that spinors are more fundamental than spacetime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Start with 2-spinors and build everything up from there</a:t>
            </a:r>
          </a:p>
        </p:txBody>
      </p:sp>
    </p:spTree>
    <p:extLst>
      <p:ext uri="{BB962C8B-B14F-4D97-AF65-F5344CB8AC3E}">
        <p14:creationId xmlns:p14="http://schemas.microsoft.com/office/powerpoint/2010/main" val="326377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 smtClean="0"/>
              <a:t>Twistors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L8 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7" t="2291" r="5833" b="4460"/>
          <a:stretch/>
        </p:blipFill>
        <p:spPr bwMode="auto">
          <a:xfrm rot="5400000">
            <a:off x="1615182" y="-618607"/>
            <a:ext cx="3330371" cy="6560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http://www.ethlife.ethz.ch/archive_articles/120330_Richard_R_Ernst_Lecture_fb/1203xx_Richard_R_Ernst_Lecture_l.jpg?hir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8" r="12980"/>
          <a:stretch/>
        </p:blipFill>
        <p:spPr bwMode="auto">
          <a:xfrm>
            <a:off x="6560737" y="-10176"/>
            <a:ext cx="2601774" cy="267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32240" y="3045026"/>
            <a:ext cx="2250250" cy="1461939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 smtClean="0"/>
              <a:t>Look at dimensionality of objects in </a:t>
            </a:r>
            <a:r>
              <a:rPr lang="en-GB" dirty="0" err="1" smtClean="0"/>
              <a:t>twistor</a:t>
            </a:r>
            <a:r>
              <a:rPr lang="en-GB" dirty="0" smtClean="0"/>
              <a:t> space</a:t>
            </a:r>
          </a:p>
          <a:p>
            <a:pPr>
              <a:spcAft>
                <a:spcPts val="600"/>
              </a:spcAft>
            </a:pPr>
            <a:r>
              <a:rPr lang="en-GB" dirty="0" smtClean="0"/>
              <a:t>Conformal GA of spacetime!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697125" y="3831890"/>
            <a:ext cx="108012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47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Forms and exterior calculus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L9 </a:t>
            </a:r>
            <a:r>
              <a:rPr lang="en-GB" dirty="0" smtClean="0"/>
              <a:t>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9" t="42937" r="12839" b="45250"/>
          <a:stretch>
            <a:fillRect/>
          </a:stretch>
        </p:blipFill>
        <p:spPr bwMode="auto">
          <a:xfrm>
            <a:off x="791480" y="3418340"/>
            <a:ext cx="72009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311275"/>
            <a:ext cx="9144000" cy="1216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7201" y="1356615"/>
            <a:ext cx="7490174" cy="100027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Working with just the exterior product, exterior differential and duality recovers the language of forms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Motivation is that this is the ‘non-metric’ part of the geometric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1" y="2751770"/>
            <a:ext cx="7875875" cy="6924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Interesting development to track is the subject of discrete exterior calculus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This has a discrete exterior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25" y="4506965"/>
            <a:ext cx="3645355" cy="315035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This is associative! Hard to 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2160" y="4356705"/>
            <a:ext cx="2160240" cy="615553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Challenge – can you do better?</a:t>
            </a:r>
          </a:p>
        </p:txBody>
      </p:sp>
    </p:spTree>
    <p:extLst>
      <p:ext uri="{BB962C8B-B14F-4D97-AF65-F5344CB8AC3E}">
        <p14:creationId xmlns:p14="http://schemas.microsoft.com/office/powerpoint/2010/main" val="326981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Resources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96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&#10;&#10;\definecolor{myGrey}{RGB}{62,62,64}&#10;\color{myGrey}&#10;\color{white}&#10;&#10;&#10;\begin{document}&#10;\begin{align*}&#10;X = - \nbar + 2x + x^2 n  &#10;\end{align*}&#10;\end{document}"/>
  <p:tag name="IGUANATEXSIZE" val="26"/>
  <p:tag name="IGUANATEXCURSOR" val="1976"/>
  <p:tag name="TRANSPARENCY" val="True"/>
  <p:tag name="FILENAME" val=""/>
  <p:tag name="INPUTTYPE" val="0"/>
  <p:tag name="LATEXENGINEID" val="0"/>
  <p:tag name="TEMPFOLDER" val="C:\Users\chrdor01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5"/>
  <p:tag name="ORIGINALWIDTH" val="100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&#10;\definecolor{myGrey}{RGB}{62,62,64}&#10;\color{myGrey}&#10;\color{white}&#10;&#10;&#10;\begin{document}&#10;\begin{align*}&#10;\frac{-2 X \dt Y}{X\dt n \, Y \dt n} = (\bx-\mb{y})^2&#10;\end{align*}&#10;\end{document}"/>
  <p:tag name="IGUANATEXSIZE" val="26"/>
  <p:tag name="IGUANATEXCURSOR" val="2004"/>
  <p:tag name="TRANSPARENCY" val="True"/>
  <p:tag name="FILENAME" val=""/>
  <p:tag name="INPUTTYPE" val="0"/>
  <p:tag name="LATEXENGINEID" val="0"/>
  <p:tag name="TEMPFOLDER" val="C:\Users\chrdor01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5"/>
  <p:tag name="ORIGINALWIDTH" val="118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\frac{-X}{X\dt n} = - \half \nbar + x + \half x^2 n  &#10;\end{align*}&#10;\end{document}"/>
  <p:tag name="IGUANATEXSIZE" val="26"/>
  <p:tag name="IGUANATEXCURSOR" val="2151"/>
  <p:tag name="TRANSPARENCY" val="True"/>
  <p:tag name="FILENAME" val=""/>
  <p:tag name="INPUTTYPE" val="0"/>
  <p:tag name="LATEXENGINEID" val="0"/>
  <p:tag name="TEMPFOLDER" val="C:\Users\chrdor01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5"/>
  <p:tag name="ORIGINALWIDTH" val="62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\frac{-X}{X\dt \ebar} = \hat{x} + \ebar   &#10;\end{align*}&#10;\end{document}"/>
  <p:tag name="IGUANATEXSIZE" val="26"/>
  <p:tag name="IGUANATEXCURSOR" val="2137"/>
  <p:tag name="TRANSPARENCY" val="True"/>
  <p:tag name="FILENAME" val=""/>
  <p:tag name="INPUTTYPE" val="0"/>
  <p:tag name="LATEXENGINEID" val="0"/>
  <p:tag name="TEMPFOLDER" val="C:\Users\chrdor01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7.25"/>
  <p:tag name="ORIGINALWIDTH" val="111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\frac{-X \dt Y}{X\dt \ebar \, Y \dt \ebar} &#10;&amp;= -(\hat{x} \dt \hat{y} - 1 )\\&#10;&amp;= 2 \sin^2(\theta/2)   &#10;\end{align*}&#10;\end{document}"/>
  <p:tag name="IGUANATEXSIZE" val="26"/>
  <p:tag name="IGUANATEXCURSOR" val="2172"/>
  <p:tag name="TRANSPARENCY" val="True"/>
  <p:tag name="FILENAME" val=""/>
  <p:tag name="INPUTTYPE" val="0"/>
  <p:tag name="LATEXENGINEID" val="0"/>
  <p:tag name="TEMPFOLDER" val="C:\Users\chrdor01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9.25"/>
  <p:tag name="ORIGINALWIDTH" val="160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d(\hat{x},\hat{y}) &#10;= 2 \sin^{-1} \left( \frac{- X\dt Y}{2 X\dt \ebar \, Y \dt \ebar }\right)^{1/2}&#10;\end{align*}&#10;\end{document}"/>
  <p:tag name="IGUANATEXSIZE" val="26"/>
  <p:tag name="IGUANATEXCURSOR" val="2147"/>
  <p:tag name="TRANSPARENCY" val="True"/>
  <p:tag name="FILENAME" val=""/>
  <p:tag name="INPUTTYPE" val="0"/>
  <p:tag name="LATEXENGINEID" val="0"/>
  <p:tag name="TEMPFOLDER" val="C:\Users\chrdor01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5"/>
  <p:tag name="ORIGINALWIDTH" val="860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X \wdg Y \wdg \ebar = \hat{x} \wdg \hat{y} \ebar&#10;\end{align*}&#10;\end{document}"/>
  <p:tag name="IGUANATEXSIZE" val="26"/>
  <p:tag name="IGUANATEXCURSOR" val="2145"/>
  <p:tag name="TRANSPARENCY" val="True"/>
  <p:tag name="FILENAME" val=""/>
  <p:tag name="INPUTTYPE" val="0"/>
  <p:tag name="LATEXENGINEID" val="0"/>
  <p:tag name="TEMPFOLDER" val="C:\Users\chrdor01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"/>
  <p:tag name="ORIGINALWIDTH" val="5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\ebar&#10;\end{align*}&#10;\end{document}"/>
  <p:tag name="IGUANATEXSIZE" val="26"/>
  <p:tag name="IGUANATEXCURSOR" val="2102"/>
  <p:tag name="TRANSPARENCY" val="True"/>
  <p:tag name="FILENAME" val=""/>
  <p:tag name="INPUTTYPE" val="0"/>
  <p:tag name="LATEXENGINEID" val="0"/>
  <p:tag name="TEMPFOLDER" val="C:\Users\chrdor01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43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R \ebar \Rrev = \ebar&#10;\end{align*}&#10;\end{document}"/>
  <p:tag name="IGUANATEXSIZE" val="26"/>
  <p:tag name="IGUANATEXCURSOR" val="2119"/>
  <p:tag name="TRANSPARENCY" val="True"/>
  <p:tag name="FILENAME" val=""/>
  <p:tag name="INPUTTYPE" val="0"/>
  <p:tag name="LATEXENGINEID" val="0"/>
  <p:tag name="TEMPFOLDER" val="C:\Users\chrdor01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39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 \dt \ebar = 0&#10;\end{align*}&#10;\end{document}"/>
  <p:tag name="IGUANATEXSIZE" val="26"/>
  <p:tag name="IGUANATEXCURSOR" val="2113"/>
  <p:tag name="TRANSPARENCY" val="True"/>
  <p:tag name="FILENAME" val=""/>
  <p:tag name="INPUTTYPE" val="0"/>
  <p:tag name="LATEXENGINEID" val="0"/>
  <p:tag name="TEMPFOLDER" val="C:\Users\chrdor01\te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0.5"/>
  <p:tag name="ORIGINALWIDTH" val="52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e_1e_2 \ebar = Ie&#10;\end{align*}&#10;\end{document}"/>
  <p:tag name="IGUANATEXSIZE" val="26"/>
  <p:tag name="IGUANATEXCURSOR" val="2115"/>
  <p:tag name="TRANSPARENCY" val="True"/>
  <p:tag name="FILENAME" val=""/>
  <p:tag name="INPUTTYPE" val="0"/>
  <p:tag name="LATEXENGINEID" val="0"/>
  <p:tag name="TEMPFOLDER" val="C:\Users\chrdor01\te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437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L \wdg e = 0&#10;\end{align*}&#10;\end{document}"/>
  <p:tag name="IGUANATEXSIZE" val="26"/>
  <p:tag name="IGUANATEXCURSOR" val="2110"/>
  <p:tag name="TRANSPARENCY" val="True"/>
  <p:tag name="FILENAME" val=""/>
  <p:tag name="INPUTTYPE" val="0"/>
  <p:tag name="LATEXENGINEID" val="0"/>
  <p:tag name="TEMPFOLDER" val="C:\Users\chrdor01\te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5"/>
  <p:tag name="ORIGINALWIDTH" val="64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L = X \wdg Y \wdg e&#10;\end{align*}&#10;\end{document}"/>
  <p:tag name="IGUANATEXSIZE" val="26"/>
  <p:tag name="IGUANATEXCURSOR" val="2109"/>
  <p:tag name="TRANSPARENCY" val="True"/>
  <p:tag name="FILENAME" val=""/>
  <p:tag name="INPUTTYPE" val="0"/>
  <p:tag name="LATEXENGINEID" val="0"/>
  <p:tag name="TEMPFOLDER" val="C:\Users\chrdor01\te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339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\color{white}&#10;&#10;&#10;\begin{document}&#10;\begin{align*}&#10;L^2 &gt; 0&#10;\end{align*}&#10;\end{document}"/>
  <p:tag name="IGUANATEXSIZE" val="26"/>
  <p:tag name="IGUANATEXCURSOR" val="2104"/>
  <p:tag name="TRANSPARENCY" val="True"/>
  <p:tag name="FILENAME" val=""/>
  <p:tag name="INPUTTYPE" val="0"/>
  <p:tag name="LATEXENGINEID" val="0"/>
  <p:tag name="TEMPFOLDER" val="C:\Users\chrdor01\te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84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 = L e \quad B^2 &gt;0&#10;\end{align*}&#10;\end{document}"/>
  <p:tag name="IGUANATEXSIZE" val="26"/>
  <p:tag name="IGUANATEXCURSOR" val="2118"/>
  <p:tag name="TRANSPARENCY" val="True"/>
  <p:tag name="FILENAME" val=""/>
  <p:tag name="INPUTTYPE" val="0"/>
  <p:tag name="LATEXENGINEID" val="0"/>
  <p:tag name="TEMPFOLDER" val="C:\Users\chrdor01\temp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0.75"/>
  <p:tag name="ORIGINALWIDTH" val="400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\hat{B} = \frac{B}{|B|}&#10;\end{align*}&#10;\end{document}"/>
  <p:tag name="IGUANATEXSIZE" val="26"/>
  <p:tag name="IGUANATEXCURSOR" val="2105"/>
  <p:tag name="TRANSPARENCY" val="True"/>
  <p:tag name="FILENAME" val=""/>
  <p:tag name="INPUTTYPE" val="0"/>
  <p:tag name="LATEXENGINEID" val="0"/>
  <p:tag name="TEMPFOLDER" val="C:\Users\chrdor01\te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5"/>
  <p:tag name="ORIGINALWIDTH" val="95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Y = \et{\alp \Bhat/2} X \et{-\alp \Bhat/2}&#10;\end{align*}&#10;\end{document}"/>
  <p:tag name="IGUANATEXSIZE" val="26"/>
  <p:tag name="IGUANATEXCURSOR" val="2168"/>
  <p:tag name="TRANSPARENCY" val="True"/>
  <p:tag name="FILENAME" val=""/>
  <p:tag name="INPUTTYPE" val="0"/>
  <p:tag name="LATEXENGINEID" val="0"/>
  <p:tag name="TEMPFOLDER" val="C:\Users\chrdor01\te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5"/>
  <p:tag name="ORIGINALWIDTH" val="1153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X = \hat{x} + e, \quad Y = \hat{y} + e&#10;\end{align*}&#10;\end{document}"/>
  <p:tag name="IGUANATEXSIZE" val="26"/>
  <p:tag name="IGUANATEXCURSOR" val="2164"/>
  <p:tag name="TRANSPARENCY" val="True"/>
  <p:tag name="FILENAME" val=""/>
  <p:tag name="INPUTTYPE" val="0"/>
  <p:tag name="LATEXENGINEID" val="0"/>
  <p:tag name="TEMPFOLDER" val="C:\Users\chrdor01\te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72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\hat{x} \dt \hat{y} = \cosh(\alpha)&#10;\end{align*}&#10;\end{document}"/>
  <p:tag name="IGUANATEXSIZE" val="26"/>
  <p:tag name="IGUANATEXCURSOR" val="2161"/>
  <p:tag name="TRANSPARENCY" val="True"/>
  <p:tag name="FILENAME" val=""/>
  <p:tag name="INPUTTYPE" val="0"/>
  <p:tag name="LATEXENGINEID" val="0"/>
  <p:tag name="TEMPFOLDER" val="C:\Users\chrdor01\te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5"/>
  <p:tag name="ORIGINALWIDTH" val="1170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\cosh (\alp) = 1 - \frac{X \dt Y}{X\dt e \, Y \dt e}&#10;\end{align*}&#10;\end{document}"/>
  <p:tag name="IGUANATEXSIZE" val="26"/>
  <p:tag name="IGUANATEXCURSOR" val="2177"/>
  <p:tag name="TRANSPARENCY" val="True"/>
  <p:tag name="FILENAME" val=""/>
  <p:tag name="INPUTTYPE" val="0"/>
  <p:tag name="LATEXENGINEID" val="0"/>
  <p:tag name="TEMPFOLDER" val="C:\Users\chrdor01\temp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5"/>
  <p:tag name="ORIGINALWIDTH" val="125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\sinh^2(\alp/2) = - \frac{X\dt Y}{2 X\dt e \, Y\dt e}&#10;\end{align*}&#10;\end{document}"/>
  <p:tag name="IGUANATEXSIZE" val="26"/>
  <p:tag name="IGUANATEXCURSOR" val="2179"/>
  <p:tag name="TRANSPARENCY" val="True"/>
  <p:tag name="FILENAME" val=""/>
  <p:tag name="INPUTTYPE" val="0"/>
  <p:tag name="LATEXENGINEID" val="0"/>
  <p:tag name="TEMPFOLDER" val="C:\Users\chrdor01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9.25"/>
  <p:tag name="ORIGINALWIDTH" val="174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\color{white}&#10;&#10;&#10;\begin{document}&#10;\begin{align*}&#10;d(x,y) = 2 \sinh^{-1}\left( - \frac{X\dt Y}{2 X\dt e \, Y\dt e}&#10;\right)^{1/2}&#10;\end{align*}&#10;\end{document}"/>
  <p:tag name="IGUANATEXSIZE" val="26"/>
  <p:tag name="IGUANATEXCURSOR" val="2077"/>
  <p:tag name="TRANSPARENCY" val="True"/>
  <p:tag name="FILENAME" val=""/>
  <p:tag name="INPUTTYPE" val="0"/>
  <p:tag name="LATEXENGINEID" val="0"/>
  <p:tag name="TEMPFOLDER" val="C:\Users\chrdor01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7.5"/>
  <p:tag name="ORIGINALWIDTH" val="202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d(x,y) =  2 \sinh^{-1}\left( \frac{|x-y|^2}{(1-x^2)(1-y^2)}&#10;\right)^{1/2}&#10;\end{align*}&#10;\end{document}"/>
  <p:tag name="IGUANATEXSIZE" val="26"/>
  <p:tag name="IGUANATEXCURSOR" val="2199"/>
  <p:tag name="TRANSPARENCY" val="True"/>
  <p:tag name="FILENAME" val=""/>
  <p:tag name="INPUTTYPE" val="0"/>
  <p:tag name="LATEXENGINEID" val="0"/>
  <p:tag name="TEMPFOLDER" val="C:\Users\chrdor01\te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4.25"/>
  <p:tag name="ORIGINALWIDTH" val="14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- \frac{X \dt C}{2 X \dt e \, C \dt e} = \mbox{constant} = \alp^2&#10;\end{align*}&#10;\end{document}"/>
  <p:tag name="IGUANATEXSIZE" val="26"/>
  <p:tag name="IGUANATEXCURSOR" val="2191"/>
  <p:tag name="TRANSPARENCY" val="True"/>
  <p:tag name="FILENAME" val=""/>
  <p:tag name="INPUTTYPE" val="0"/>
  <p:tag name="LATEXENGINEID" val="0"/>
  <p:tag name="TEMPFOLDER" val="C:\Users\chrdor01\te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6.5"/>
  <p:tag name="ORIGINALWIDTH" val="113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X \dt (C + 2 \alp^2 C \dt e \, e) = 0&#10;\end{align*}&#10;\end{document}"/>
  <p:tag name="IGUANATEXSIZE" val="26"/>
  <p:tag name="IGUANATEXCURSOR" val="2163"/>
  <p:tag name="TRANSPARENCY" val="True"/>
  <p:tag name="FILENAME" val=""/>
  <p:tag name="INPUTTYPE" val="0"/>
  <p:tag name="LATEXENGINEID" val="0"/>
  <p:tag name="TEMPFOLDER" val="C:\Users\chrdor01\temp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322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s = IS&#10;\end{align*}&#10;\end{document}"/>
  <p:tag name="IGUANATEXSIZE" val="26"/>
  <p:tag name="IGUANATEXCURSOR" val="2132"/>
  <p:tag name="TRANSPARENCY" val="True"/>
  <p:tag name="FILENAME" val=""/>
  <p:tag name="INPUTTYPE" val="0"/>
  <p:tag name="LATEXENGINEID" val="0"/>
  <p:tag name="TEMPFOLDER" val="C:\Users\chrdor01\te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46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X \wdg S = 0&#10;\end{align*}&#10;\end{document}"/>
  <p:tag name="IGUANATEXSIZE" val="26"/>
  <p:tag name="IGUANATEXCURSOR" val="2138"/>
  <p:tag name="TRANSPARENCY" val="True"/>
  <p:tag name="FILENAME" val=""/>
  <p:tag name="INPUTTYPE" val="0"/>
  <p:tag name="LATEXENGINEID" val="0"/>
  <p:tag name="TEMPFOLDER" val="C:\Users\chrdor01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5"/>
  <p:tag name="ORIGINALWIDTH" val="803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S = X_1 \wdg X_2 \wdg X_3&#10;\end{align*}&#10;\end{document}"/>
  <p:tag name="IGUANATEXSIZE" val="26"/>
  <p:tag name="IGUANATEXCURSOR" val="2151"/>
  <p:tag name="TRANSPARENCY" val="True"/>
  <p:tag name="FILENAME" val=""/>
  <p:tag name="INPUTTYPE" val="0"/>
  <p:tag name="LATEXENGINEID" val="0"/>
  <p:tag name="TEMPFOLDER" val="C:\Users\chrdor01\te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434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\color{white}&#10;&#10;&#10;\begin{document}&#10;\begin{align*}&#10;C = S n S&#10;\end{align*}&#10;\end{document}"/>
  <p:tag name="IGUANATEXSIZE" val="26"/>
  <p:tag name="IGUANATEXCURSOR" val="2134"/>
  <p:tag name="TRANSPARENCY" val="True"/>
  <p:tag name="FILENAME" val=""/>
  <p:tag name="INPUTTYPE" val="0"/>
  <p:tag name="LATEXENGINEID" val="0"/>
  <p:tag name="TEMPFOLDER" val="C:\Users\chrdor01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55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\color{white}&#10;&#10;&#10;\begin{document}&#10;\begin{align*}&#10;C = s + \lam e&#10;\end{align*}&#10;\end{document}"/>
  <p:tag name="IGUANATEXSIZE" val="26"/>
  <p:tag name="IGUANATEXCURSOR" val="2139"/>
  <p:tag name="TRANSPARENCY" val="True"/>
  <p:tag name="FILENAME" val=""/>
  <p:tag name="INPUTTYPE" val="0"/>
  <p:tag name="LATEXENGINEID" val="0"/>
  <p:tag name="TEMPFOLDER" val="C:\Users\chrdor01\temp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86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\color{white}&#10;&#10;&#10;\begin{document}&#10;\begin{align*}&#10;C^2=0 \quad \implies \lam&#10;\end{align*}&#10;\end{document}"/>
  <p:tag name="IGUANATEXSIZE" val="26"/>
  <p:tag name="IGUANATEXCURSOR" val="2150"/>
  <p:tag name="TRANSPARENCY" val="True"/>
  <p:tag name="FILENAME" val=""/>
  <p:tag name="INPUTTYPE" val="0"/>
  <p:tag name="LATEXENGINEID" val="0"/>
  <p:tag name="TEMPFOLDER" val="C:\Users\chrdor01\te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638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\bx \mapsto \mb{U}\bx + \ba&#10;\end{align*}&#10;\end{document}"/>
  <p:tag name="IGUANATEXSIZE" val="26"/>
  <p:tag name="IGUANATEXCURSOR" val="2153"/>
  <p:tag name="TRANSPARENCY" val="True"/>
  <p:tag name="FILENAME" val=""/>
  <p:tag name="INPUTTYPE" val="0"/>
  <p:tag name="LATEXENGINEID" val="0"/>
  <p:tag name="TEMPFOLDER" val="C:\Users\chrdor01\temp\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25"/>
  <p:tag name="ORIGINALWIDTH" val="62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\bx \mapsto \mb{A}\bx + \bb&#10;\end{align*}&#10;\end{document}"/>
  <p:tag name="IGUANATEXSIZE" val="26"/>
  <p:tag name="IGUANATEXCURSOR" val="2153"/>
  <p:tag name="TRANSPARENCY" val="True"/>
  <p:tag name="FILENAME" val=""/>
  <p:tag name="INPUTTYPE" val="0"/>
  <p:tag name="LATEXENGINEID" val="0"/>
  <p:tag name="TEMPFOLDER" val="C:\Users\chrdor01\temp\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"/>
  <p:tag name="ORIGINALWIDTH" val="57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[\bx] \mapsto [\mb{A} \bx]&#10;\end{align*}&#10;\end{document}"/>
  <p:tag name="IGUANATEXSIZE" val="26"/>
  <p:tag name="IGUANATEXCURSOR" val="2152"/>
  <p:tag name="TRANSPARENCY" val="True"/>
  <p:tag name="FILENAME" val=""/>
  <p:tag name="INPUTTYPE" val="0"/>
  <p:tag name="LATEXENGINEID" val="0"/>
  <p:tag name="TEMPFOLDER" val="C:\Users\chrdor01\temp\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113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z \mapsto (az + b)/(cz+d)&#10;\end{align*}&#10;\end{document}"/>
  <p:tag name="IGUANATEXSIZE" val="26"/>
  <p:tag name="IGUANATEXCURSOR" val="2145"/>
  <p:tag name="TRANSPARENCY" val="True"/>
  <p:tag name="FILENAME" val=""/>
  <p:tag name="INPUTTYPE" val="0"/>
  <p:tag name="LATEXENGINEID" val="0"/>
  <p:tag name="TEMPFOLDER" val="C:\Users\chrdor01\temp\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540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X \mapsto R X \Rrev&#10;\end{align*}&#10;\end{document}"/>
  <p:tag name="IGUANATEXSIZE" val="26"/>
  <p:tag name="IGUANATEXCURSOR" val="2143"/>
  <p:tag name="TRANSPARENCY" val="True"/>
  <p:tag name="FILENAME" val=""/>
  <p:tag name="INPUTTYPE" val="0"/>
  <p:tag name="LATEXENGINEID" val="0"/>
  <p:tag name="TEMPFOLDER" val="C:\Users\chrdor01\te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50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\hat{\bx} \mapsto R \hat{\bx} \Rrev&#10;\end{align*}&#10;\end{document}"/>
  <p:tag name="IGUANATEXSIZE" val="26"/>
  <p:tag name="IGUANATEXCURSOR" val="2161"/>
  <p:tag name="TRANSPARENCY" val="True"/>
  <p:tag name="FILENAME" val=""/>
  <p:tag name="INPUTTYPE" val="0"/>
  <p:tag name="LATEXENGINEID" val="0"/>
  <p:tag name="TEMPFOLDER" val="C:\Users\chrdor01\temp\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424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R e \Rrev = e&#10;\end{align*}&#10;\end{document}"/>
  <p:tag name="IGUANATEXSIZE" val="26"/>
  <p:tag name="IGUANATEXCURSOR" val="2139"/>
  <p:tag name="TRANSPARENCY" val="True"/>
  <p:tag name="FILENAME" val=""/>
  <p:tag name="INPUTTYPE" val="0"/>
  <p:tag name="LATEXENGINEID" val="0"/>
  <p:tag name="TEMPFOLDER" val="C:\Users\chrdor01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9846"/>
  <p:tag name="ORIGINALWIDTH" val="2484.4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\{e_i, f_i\}, \quad e_i\dt e_j =\delta_{ij}, \quad&#10;f_i\dt f_j = - \delta_{ij}, \quad e_i \dt f_j = 0&#10;\end{align*}&#10;\end{document}"/>
  <p:tag name="IGUANATEXSIZE" val="26"/>
  <p:tag name="IGUANATEXCURSOR" val="2226"/>
  <p:tag name="TRANSPARENCY" val="True"/>
  <p:tag name="FILENAME" val=""/>
  <p:tag name="INPUTTYPE" val="0"/>
  <p:tag name="LATEXENGINEID" val="0"/>
  <p:tag name="TEMPFOLDER" val="C:\Users\chrdor01\temp\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135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n_i = e_i + f_i, \quad \nbar_i = e_i - f_i&#10;\end{align*}&#10;\end{document}"/>
  <p:tag name="IGUANATEXSIZE" val="26"/>
  <p:tag name="IGUANATEXCURSOR" val="2168"/>
  <p:tag name="TRANSPARENCY" val="True"/>
  <p:tag name="FILENAME" val=""/>
  <p:tag name="INPUTTYPE" val="0"/>
  <p:tag name="LATEXENGINEID" val="0"/>
  <p:tag name="TEMPFOLDER" val="C:\Users\chrdor01\te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1.5"/>
  <p:tag name="ORIGINALWIDTH" val="623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\color{white}&#10;&#10;&#10;\begin{document}&#10;\begin{align*}&#10;K = \sum_i e_i f_i&#10;\end{align*}&#10;\end{document}"/>
  <p:tag name="IGUANATEXSIZE" val="26"/>
  <p:tag name="IGUANATEXCURSOR" val="2077"/>
  <p:tag name="TRANSPARENCY" val="True"/>
  <p:tag name="FILENAME" val=""/>
  <p:tag name="INPUTTYPE" val="0"/>
  <p:tag name="LATEXENGINEID" val="0"/>
  <p:tag name="TEMPFOLDER" val="C:\Users\chrdor01\temp\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65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\color{white}&#10;&#10;&#10;\begin{document}&#10;\begin{align*}&#10;(a \dt K) \dt K = a&#10;\end{align*}&#10;\end{document}"/>
  <p:tag name="IGUANATEXSIZE" val="26"/>
  <p:tag name="IGUANATEXCURSOR" val="2077"/>
  <p:tag name="TRANSPARENCY" val="True"/>
  <p:tag name="FILENAME" val=""/>
  <p:tag name="INPUTTYPE" val="0"/>
  <p:tag name="LATEXENGINEID" val="0"/>
  <p:tag name="TEMPFOLDER" val="C:\Users\chrdor01\temp\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502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R K \Rrev = K&#10;\end{align*}&#10;\end{document}"/>
  <p:tag name="IGUANATEXSIZE" val="26"/>
  <p:tag name="IGUANATEXCURSOR" val="2139"/>
  <p:tag name="TRANSPARENCY" val="True"/>
  <p:tag name="FILENAME" val=""/>
  <p:tag name="INPUTTYPE" val="0"/>
  <p:tag name="LATEXENGINEID" val="0"/>
  <p:tag name="TEMPFOLDER" val="C:\Users\chrdor01\temp\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98914"/>
  <p:tag name="ORIGINALWIDTH" val="497.187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A = U \Lambda V&#10;\end{align*}&#10;\end{document}"/>
  <p:tag name="IGUANATEXSIZE" val="26"/>
  <p:tag name="IGUANATEXCURSOR" val="2113"/>
  <p:tag name="TRANSPARENCY" val="True"/>
  <p:tag name="FILENAME" val=""/>
  <p:tag name="INPUTTYPE" val="0"/>
  <p:tag name="LATEXENGINEID" val="0"/>
  <p:tag name="TEMPFOLDER" val="C:\Users\chrdor01\temp\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1.7356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e}{\bm{e}}&#10;\newcommand{\bl}{\bm{l}}&#10;\newcommand{\bldm}{\bm{m}}&#10;\newcommand{\bn}{\bm{n}}&#10;\newcommand{\bx}{\bm{x}}&#10;\newcommand{\dt}{\! \cdot \!}&#10;\newcommand{\wdg}{\! \wedge \!}&#10;\newcommand{\crs}{\! \times \!}&#10;\newcommand{\scp}{\! \ast \!}&#10;\newcommand{\half}{{\textstyle \frac{1}{2}}}&#10;&#10;\definecolor{myGrey}{RGB}{62,62,64}&#10;\color{white}&#10;&#10;\begin{document}&#10;\begin{align*}&#10;\sigma_1 = \begin{pmatrix}&#10;0 &amp; 1 \\&#10;1 &amp; 0&#10;\end{pmatrix}&#10;\quad&#10;\sigma_2 = \begin{pmatrix}&#10;0 &amp; -i \\&#10;i &amp; 0&#10;\end{pmatrix}&#10;\quad&#10;\sigma_3 = \begin{pmatrix}&#10;1 &amp; 0 \\&#10;0 &amp; -1&#10;\end{pmatrix}&#10;\end{align*}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"/>
  <p:tag name="ORIGINALWIDTH" val="107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\color{white}&#10;&#10;&#10;\begin{document}&#10;\begin{align*}&#10;\sigma_i \sigma_j = \delta_{ij} + i \epsilon_{ijk} \sigma_k&#10;\end{align*}&#10;\end{document}"/>
  <p:tag name="IGUANATEXSIZE" val="26"/>
  <p:tag name="IGUANATEXCURSOR" val="2077"/>
  <p:tag name="TRANSPARENCY" val="True"/>
  <p:tag name="FILENAME" val=""/>
  <p:tag name="INPUTTYPE" val="0"/>
  <p:tag name="LATEXENGINEID" val="0"/>
  <p:tag name="TEMPFOLDER" val="C:\Users\chrdor01\temp\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49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| \psi \ra \mapsto \rho R&#10;\end{align*}&#10;\end{document}"/>
  <p:tag name="IGUANATEXSIZE" val="26"/>
  <p:tag name="IGUANATEXCURSOR" val="2151"/>
  <p:tag name="TRANSPARENCY" val="True"/>
  <p:tag name="FILENAME" val=""/>
  <p:tag name="INPUTTYPE" val="0"/>
  <p:tag name="LATEXENGINEID" val="0"/>
  <p:tag name="TEMPFOLDER" val="C:\Users\chrdor01\temp\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0" rIns="0" bIns="0" rtlCol="0">
        <a:spAutoFit/>
      </a:bodyPr>
      <a:lstStyle>
        <a:defPPr>
          <a:spcAft>
            <a:spcPts val="600"/>
          </a:spcAft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7057</TotalTime>
  <Words>580</Words>
  <Application>Microsoft Office PowerPoint</Application>
  <PresentationFormat>On-screen Show (16:9)</PresentationFormat>
  <Paragraphs>139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Geometric Algebra</vt:lpstr>
      <vt:lpstr>Euclidean geometry</vt:lpstr>
      <vt:lpstr>Spherical geometry</vt:lpstr>
      <vt:lpstr>Spherical geometry</vt:lpstr>
      <vt:lpstr>non-Euclidean geometry</vt:lpstr>
      <vt:lpstr>non-Euclidean geometry</vt:lpstr>
      <vt:lpstr>non-Euclidean distance</vt:lpstr>
      <vt:lpstr>non-Euclidean circles</vt:lpstr>
      <vt:lpstr>Unification</vt:lpstr>
      <vt:lpstr>Geometries and Klein</vt:lpstr>
      <vt:lpstr>Geometries and Klein</vt:lpstr>
      <vt:lpstr>Groups</vt:lpstr>
      <vt:lpstr>Unification</vt:lpstr>
      <vt:lpstr>Design of mathematics</vt:lpstr>
      <vt:lpstr>Spinors and twistors</vt:lpstr>
      <vt:lpstr>Twistors</vt:lpstr>
      <vt:lpstr>Forms and exterior calculus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384</cp:revision>
  <dcterms:created xsi:type="dcterms:W3CDTF">2015-03-03T13:28:34Z</dcterms:created>
  <dcterms:modified xsi:type="dcterms:W3CDTF">2016-11-08T10:18:21Z</dcterms:modified>
</cp:coreProperties>
</file>