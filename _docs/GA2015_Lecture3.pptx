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6" r:id="rId2"/>
    <p:sldId id="306" r:id="rId3"/>
    <p:sldId id="307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286" r:id="rId20"/>
  </p:sldIdLst>
  <p:sldSz cx="9144000" cy="5143500" type="screen16x9"/>
  <p:notesSz cx="6858000" cy="9144000"/>
  <p:defaultTextStyle>
    <a:defPPr>
      <a:defRPr lang="en-US"/>
    </a:defPPr>
    <a:lvl1pPr marL="0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7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1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59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9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3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78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17" algn="l" defTabSz="91427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>
        <p:scale>
          <a:sx n="140" d="100"/>
          <a:sy n="140" d="100"/>
        </p:scale>
        <p:origin x="-804" y="-150"/>
      </p:cViewPr>
      <p:guideLst>
        <p:guide orient="horz" pos="826"/>
        <p:guide orient="horz" pos="2414"/>
        <p:guide orient="horz" pos="1620"/>
        <p:guide orient="horz" pos="2159"/>
        <p:guide orient="horz" pos="1081"/>
        <p:guide pos="1916"/>
        <p:guide pos="1463"/>
        <p:guide pos="4297"/>
        <p:guide pos="2880"/>
        <p:guide pos="38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AC06E-65D4-4CC2-B345-9F25CE0DBBC4}" type="datetimeFigureOut">
              <a:rPr lang="en-GB" smtClean="0"/>
              <a:t>12/10/2015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19D0C-A623-4134-ACE2-8871D95CA7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03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1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1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7B33-9D94-437F-A20B-8BFA82417D40}" type="datetime1">
              <a:rPr lang="en-GB" smtClean="0"/>
              <a:t>12/10/2015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401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9917"/>
            <a:ext cx="8229600" cy="653143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0"/>
            <a:endParaRPr lang="en-US" dirty="0" smtClean="0"/>
          </a:p>
        </p:txBody>
      </p:sp>
      <p:sp>
        <p:nvSpPr>
          <p:cNvPr id="7" name="Rectangle 6"/>
          <p:cNvSpPr/>
          <p:nvPr userDrawn="1"/>
        </p:nvSpPr>
        <p:spPr>
          <a:xfrm>
            <a:off x="0" y="326570"/>
            <a:ext cx="457201" cy="4665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E4742-147F-4825-A015-3CB86B608FC1}" type="datetime1">
              <a:rPr lang="en-GB" smtClean="0"/>
              <a:t>12/10/2015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L3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40864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1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3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7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37141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5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6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97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1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A003C-4227-4696-BFCF-1F7456AC2B5F}" type="datetime1">
              <a:rPr lang="en-GB" smtClean="0"/>
              <a:t>12/10/2015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26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200150"/>
            <a:ext cx="4038600" cy="339447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7A1F6-6C4F-47AD-8BF9-B92975FCBA67}" type="datetime1">
              <a:rPr lang="en-GB" smtClean="0"/>
              <a:t>12/10/2015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36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4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9" indent="0">
              <a:buNone/>
              <a:defRPr sz="2000" b="1"/>
            </a:lvl2pPr>
            <a:lvl3pPr marL="914279" indent="0">
              <a:buNone/>
              <a:defRPr sz="1800" b="1"/>
            </a:lvl3pPr>
            <a:lvl4pPr marL="1371419" indent="0">
              <a:buNone/>
              <a:defRPr sz="1700" b="1"/>
            </a:lvl4pPr>
            <a:lvl5pPr marL="1828559" indent="0">
              <a:buNone/>
              <a:defRPr sz="1700" b="1"/>
            </a:lvl5pPr>
            <a:lvl6pPr marL="2285698" indent="0">
              <a:buNone/>
              <a:defRPr sz="1700" b="1"/>
            </a:lvl6pPr>
            <a:lvl7pPr marL="2742837" indent="0">
              <a:buNone/>
              <a:defRPr sz="1700" b="1"/>
            </a:lvl7pPr>
            <a:lvl8pPr marL="3199978" indent="0">
              <a:buNone/>
              <a:defRPr sz="1700" b="1"/>
            </a:lvl8pPr>
            <a:lvl9pPr marL="3657117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6CD4D-CF8E-4775-8D2E-D873B7F9B53B}" type="datetime1">
              <a:rPr lang="en-GB" smtClean="0"/>
              <a:t>12/10/2015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62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74E0E-D6E0-452F-9047-36E8BAC66091}" type="datetime1">
              <a:rPr lang="en-GB" smtClean="0"/>
              <a:t>12/10/2015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20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35025-CACB-4394-A7D6-8687D1BAF894}" type="datetime1">
              <a:rPr lang="en-GB" smtClean="0"/>
              <a:t>12/10/2015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7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08D3C-C7B9-42E1-9D72-B22685548B29}" type="datetime1">
              <a:rPr lang="en-GB" smtClean="0"/>
              <a:t>12/10/2015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76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39" indent="0">
              <a:buNone/>
              <a:defRPr sz="2800"/>
            </a:lvl2pPr>
            <a:lvl3pPr marL="914279" indent="0">
              <a:buNone/>
              <a:defRPr sz="2400"/>
            </a:lvl3pPr>
            <a:lvl4pPr marL="1371419" indent="0">
              <a:buNone/>
              <a:defRPr sz="2000"/>
            </a:lvl4pPr>
            <a:lvl5pPr marL="1828559" indent="0">
              <a:buNone/>
              <a:defRPr sz="2000"/>
            </a:lvl5pPr>
            <a:lvl6pPr marL="2285698" indent="0">
              <a:buNone/>
              <a:defRPr sz="2000"/>
            </a:lvl6pPr>
            <a:lvl7pPr marL="2742837" indent="0">
              <a:buNone/>
              <a:defRPr sz="2000"/>
            </a:lvl7pPr>
            <a:lvl8pPr marL="3199978" indent="0">
              <a:buNone/>
              <a:defRPr sz="2000"/>
            </a:lvl8pPr>
            <a:lvl9pPr marL="365711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139" indent="0">
              <a:buNone/>
              <a:defRPr sz="1200"/>
            </a:lvl2pPr>
            <a:lvl3pPr marL="914279" indent="0">
              <a:buNone/>
              <a:defRPr sz="900"/>
            </a:lvl3pPr>
            <a:lvl4pPr marL="1371419" indent="0">
              <a:buNone/>
              <a:defRPr sz="900"/>
            </a:lvl4pPr>
            <a:lvl5pPr marL="1828559" indent="0">
              <a:buNone/>
              <a:defRPr sz="900"/>
            </a:lvl5pPr>
            <a:lvl6pPr marL="2285698" indent="0">
              <a:buNone/>
              <a:defRPr sz="900"/>
            </a:lvl6pPr>
            <a:lvl7pPr marL="2742837" indent="0">
              <a:buNone/>
              <a:defRPr sz="900"/>
            </a:lvl7pPr>
            <a:lvl8pPr marL="3199978" indent="0">
              <a:buNone/>
              <a:defRPr sz="900"/>
            </a:lvl8pPr>
            <a:lvl9pPr marL="3657117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3347-173D-48F0-B256-5111788141DC}" type="datetime1">
              <a:rPr lang="en-GB" smtClean="0"/>
              <a:t>12/10/2015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1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B337B-ABAC-442C-9708-72A06255798E}" type="datetime1">
              <a:rPr lang="en-GB" smtClean="0"/>
              <a:t>12/10/2015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0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0"/>
            <a:ext cx="2057400" cy="438864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1463A-B911-47DD-982F-B9B5D0F839D3}" type="datetime1">
              <a:rPr lang="en-GB" smtClean="0"/>
              <a:t>12/10/2015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39B3E-C87B-4733-AA7D-3387836CB7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927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00150"/>
            <a:ext cx="8229600" cy="3394473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4767265"/>
            <a:ext cx="2133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D149-B732-4901-B4FD-02CF7BCB0915}" type="datetime1">
              <a:rPr lang="en-GB" smtClean="0"/>
              <a:t>12/10/2015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1" y="4767265"/>
            <a:ext cx="2895600" cy="27384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0"/>
            <a:ext cx="2133600" cy="273843"/>
          </a:xfrm>
          <a:prstGeom prst="rect">
            <a:avLst/>
          </a:prstGeom>
          <a:solidFill>
            <a:schemeClr val="bg1"/>
          </a:solidFill>
        </p:spPr>
        <p:txBody>
          <a:bodyPr vert="horz" lIns="91428" tIns="45714" rIns="91428" bIns="45714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GB" dirty="0" smtClean="0"/>
              <a:t>L3 S</a:t>
            </a:r>
            <a:fld id="{40E39B3E-C87B-4733-AA7D-3387836CB72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2102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7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4" indent="-342854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2" indent="-285713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4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29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6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0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47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88" indent="-228570" algn="l" defTabSz="91427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7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1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59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9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3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78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17" algn="l" defTabSz="91427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.png"/><Relationship Id="rId18" Type="http://schemas.openxmlformats.org/officeDocument/2006/relationships/image" Target="../media/image7.png"/><Relationship Id="rId3" Type="http://schemas.openxmlformats.org/officeDocument/2006/relationships/tags" Target="../tags/tag3.xml"/><Relationship Id="rId21" Type="http://schemas.openxmlformats.org/officeDocument/2006/relationships/image" Target="../media/image10.png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6.png"/><Relationship Id="rId2" Type="http://schemas.openxmlformats.org/officeDocument/2006/relationships/tags" Target="../tags/tag2.xml"/><Relationship Id="rId16" Type="http://schemas.openxmlformats.org/officeDocument/2006/relationships/image" Target="../media/image5.png"/><Relationship Id="rId20" Type="http://schemas.openxmlformats.org/officeDocument/2006/relationships/image" Target="../media/image9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4.png"/><Relationship Id="rId23" Type="http://schemas.openxmlformats.org/officeDocument/2006/relationships/image" Target="../media/image12.png"/><Relationship Id="rId10" Type="http://schemas.openxmlformats.org/officeDocument/2006/relationships/tags" Target="../tags/tag10.xml"/><Relationship Id="rId19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png"/><Relationship Id="rId22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8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image" Target="../media/image17.png"/><Relationship Id="rId5" Type="http://schemas.openxmlformats.org/officeDocument/2006/relationships/tags" Target="../tags/tag17.xml"/><Relationship Id="rId10" Type="http://schemas.openxmlformats.org/officeDocument/2006/relationships/image" Target="../media/image16.png"/><Relationship Id="rId4" Type="http://schemas.openxmlformats.org/officeDocument/2006/relationships/tags" Target="../tags/tag16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23.pn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tags" Target="../tags/tag20.xml"/><Relationship Id="rId16" Type="http://schemas.openxmlformats.org/officeDocument/2006/relationships/image" Target="../media/image26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21.png"/><Relationship Id="rId5" Type="http://schemas.openxmlformats.org/officeDocument/2006/relationships/tags" Target="../tags/tag23.xml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tags" Target="../tags/tag22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9.xml"/><Relationship Id="rId7" Type="http://schemas.openxmlformats.org/officeDocument/2006/relationships/image" Target="../media/image28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2.png"/><Relationship Id="rId5" Type="http://schemas.openxmlformats.org/officeDocument/2006/relationships/tags" Target="../tags/tag31.xml"/><Relationship Id="rId10" Type="http://schemas.openxmlformats.org/officeDocument/2006/relationships/image" Target="../media/image31.png"/><Relationship Id="rId4" Type="http://schemas.openxmlformats.org/officeDocument/2006/relationships/tags" Target="../tags/tag30.xml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tags" Target="../tags/tag3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7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36.png"/><Relationship Id="rId5" Type="http://schemas.openxmlformats.org/officeDocument/2006/relationships/tags" Target="../tags/tag36.xml"/><Relationship Id="rId10" Type="http://schemas.openxmlformats.org/officeDocument/2006/relationships/image" Target="../media/image35.png"/><Relationship Id="rId4" Type="http://schemas.openxmlformats.org/officeDocument/2006/relationships/tags" Target="../tags/tag35.xml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3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42.png"/><Relationship Id="rId5" Type="http://schemas.openxmlformats.org/officeDocument/2006/relationships/tags" Target="../tags/tag42.xml"/><Relationship Id="rId10" Type="http://schemas.openxmlformats.org/officeDocument/2006/relationships/image" Target="../media/image41.png"/><Relationship Id="rId4" Type="http://schemas.openxmlformats.org/officeDocument/2006/relationships/tags" Target="../tags/tag41.xml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46.xml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9.png"/><Relationship Id="rId5" Type="http://schemas.openxmlformats.org/officeDocument/2006/relationships/tags" Target="../tags/tag48.xml"/><Relationship Id="rId10" Type="http://schemas.openxmlformats.org/officeDocument/2006/relationships/image" Target="../media/image48.jpeg"/><Relationship Id="rId4" Type="http://schemas.openxmlformats.org/officeDocument/2006/relationships/tags" Target="../tags/tag47.xml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tags" Target="../tags/tag51.xml"/><Relationship Id="rId7" Type="http://schemas.openxmlformats.org/officeDocument/2006/relationships/image" Target="../media/image51.jpeg"/><Relationship Id="rId12" Type="http://schemas.openxmlformats.org/officeDocument/2006/relationships/image" Target="../media/image56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55.png"/><Relationship Id="rId5" Type="http://schemas.openxmlformats.org/officeDocument/2006/relationships/tags" Target="../tags/tag53.xml"/><Relationship Id="rId10" Type="http://schemas.openxmlformats.org/officeDocument/2006/relationships/image" Target="../media/image54.png"/><Relationship Id="rId4" Type="http://schemas.openxmlformats.org/officeDocument/2006/relationships/tags" Target="../tags/tag52.xml"/><Relationship Id="rId9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56.xml"/><Relationship Id="rId7" Type="http://schemas.openxmlformats.org/officeDocument/2006/relationships/image" Target="../media/image57.png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61.png"/><Relationship Id="rId5" Type="http://schemas.openxmlformats.org/officeDocument/2006/relationships/tags" Target="../tags/tag58.xml"/><Relationship Id="rId10" Type="http://schemas.openxmlformats.org/officeDocument/2006/relationships/image" Target="../media/image60.png"/><Relationship Id="rId4" Type="http://schemas.openxmlformats.org/officeDocument/2006/relationships/tags" Target="../tags/tag57.xml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7" Type="http://schemas.openxmlformats.org/officeDocument/2006/relationships/image" Target="../media/image64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67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tags" Target="../tags/tag63.xml"/><Relationship Id="rId16" Type="http://schemas.openxmlformats.org/officeDocument/2006/relationships/image" Target="../media/image70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15.png"/><Relationship Id="rId5" Type="http://schemas.openxmlformats.org/officeDocument/2006/relationships/tags" Target="../tags/tag66.xml"/><Relationship Id="rId15" Type="http://schemas.openxmlformats.org/officeDocument/2006/relationships/image" Target="../media/image69.png"/><Relationship Id="rId10" Type="http://schemas.openxmlformats.org/officeDocument/2006/relationships/image" Target="../media/image65.png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6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7" Type="http://schemas.openxmlformats.org/officeDocument/2006/relationships/image" Target="../media/image74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7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tags" Target="../tags/tag78.xml"/><Relationship Id="rId7" Type="http://schemas.openxmlformats.org/officeDocument/2006/relationships/image" Target="../media/image79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78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9" Type="http://schemas.openxmlformats.org/officeDocument/2006/relationships/image" Target="../media/image8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tags" Target="../tags/tag82.xml"/><Relationship Id="rId7" Type="http://schemas.openxmlformats.org/officeDocument/2006/relationships/image" Target="../media/image83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image" Target="../media/image82.jpe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6.png"/><Relationship Id="rId4" Type="http://schemas.openxmlformats.org/officeDocument/2006/relationships/tags" Target="../tags/tag83.xml"/><Relationship Id="rId9" Type="http://schemas.openxmlformats.org/officeDocument/2006/relationships/image" Target="../media/image8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tags" Target="../tags/tag86.xml"/><Relationship Id="rId7" Type="http://schemas.openxmlformats.org/officeDocument/2006/relationships/image" Target="../media/image88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87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9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5225" y="1716321"/>
            <a:ext cx="6467256" cy="720414"/>
          </a:xfrm>
        </p:spPr>
        <p:txBody>
          <a:bodyPr>
            <a:normAutofit/>
          </a:bodyPr>
          <a:lstStyle/>
          <a:p>
            <a:pPr algn="r"/>
            <a:r>
              <a:rPr lang="en-GB" sz="3200" dirty="0" smtClean="0"/>
              <a:t>Geometric Algebra</a:t>
            </a:r>
            <a:endParaRPr lang="en-GB" sz="3200" dirty="0"/>
          </a:p>
        </p:txBody>
      </p:sp>
      <p:sp>
        <p:nvSpPr>
          <p:cNvPr id="6" name="Rectangle 5"/>
          <p:cNvSpPr/>
          <p:nvPr/>
        </p:nvSpPr>
        <p:spPr>
          <a:xfrm>
            <a:off x="-1" y="2104724"/>
            <a:ext cx="2096725" cy="773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2591780" y="2392064"/>
            <a:ext cx="6210690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89717" y="3860634"/>
            <a:ext cx="1802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Dr Chris Doran</a:t>
            </a:r>
          </a:p>
          <a:p>
            <a:pPr algn="r"/>
            <a:r>
              <a:rPr lang="en-GB" dirty="0" smtClean="0">
                <a:solidFill>
                  <a:schemeClr val="tx1">
                    <a:lumMod val="75000"/>
                  </a:schemeClr>
                </a:solidFill>
              </a:rPr>
              <a:t>ARM Research</a:t>
            </a:r>
          </a:p>
        </p:txBody>
      </p:sp>
      <p:pic>
        <p:nvPicPr>
          <p:cNvPr id="8" name="Picture 2" descr="C:\Users\chrdor01\Dropbox\Star2015\website\William_Kingdon_Clifford_by_John_Collie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1" b="20918"/>
          <a:stretch/>
        </p:blipFill>
        <p:spPr bwMode="auto">
          <a:xfrm>
            <a:off x="-14263" y="1699680"/>
            <a:ext cx="1343885" cy="1178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86935" y="2498297"/>
            <a:ext cx="48155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/>
              <a:t>3</a:t>
            </a:r>
            <a:r>
              <a:rPr lang="en-GB" sz="2000" dirty="0" smtClean="0"/>
              <a:t>. Applications to 3D dynamics</a:t>
            </a:r>
          </a:p>
        </p:txBody>
      </p:sp>
    </p:spTree>
    <p:extLst>
      <p:ext uri="{BB962C8B-B14F-4D97-AF65-F5344CB8AC3E}">
        <p14:creationId xmlns:p14="http://schemas.microsoft.com/office/powerpoint/2010/main" val="30716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4572762" y="1311610"/>
            <a:ext cx="2249488" cy="25206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0" y="1311275"/>
            <a:ext cx="2322513" cy="2520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Recap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736376" y="1401620"/>
            <a:ext cx="820289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0</a:t>
            </a:r>
          </a:p>
          <a:p>
            <a:pPr algn="ctr"/>
            <a:r>
              <a:rPr lang="en-GB" sz="2000" dirty="0" smtClean="0"/>
              <a:t>1 Scalar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6063" y="1401620"/>
            <a:ext cx="963021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1</a:t>
            </a:r>
          </a:p>
          <a:p>
            <a:pPr algn="ctr"/>
            <a:r>
              <a:rPr lang="en-GB" sz="2000" dirty="0" smtClean="0"/>
              <a:t>3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655" y="1401620"/>
            <a:ext cx="1833643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2</a:t>
            </a:r>
          </a:p>
          <a:p>
            <a:pPr algn="ctr"/>
            <a:r>
              <a:rPr lang="en-GB" sz="2000" dirty="0" smtClean="0"/>
              <a:t>3 Plane / bivector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8722" y="1401620"/>
            <a:ext cx="2093778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GB" sz="2000" dirty="0" smtClean="0"/>
              <a:t>Grade 3</a:t>
            </a:r>
          </a:p>
          <a:p>
            <a:pPr algn="ctr"/>
            <a:r>
              <a:rPr lang="en-GB" sz="2000" dirty="0" smtClean="0"/>
              <a:t>1 Volume / </a:t>
            </a:r>
            <a:r>
              <a:rPr lang="en-GB" sz="2000" dirty="0" err="1" smtClean="0"/>
              <a:t>trivector</a:t>
            </a:r>
            <a:endParaRPr lang="en-GB" sz="2000" dirty="0" smtClean="0"/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407" y="2299436"/>
            <a:ext cx="91440" cy="21336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205" y="2229690"/>
            <a:ext cx="1308735" cy="26860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05" y="2229689"/>
            <a:ext cx="2188845" cy="26860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055" y="2264932"/>
            <a:ext cx="834390" cy="19812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251" y="2788985"/>
            <a:ext cx="758190" cy="20764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7" y="2788984"/>
            <a:ext cx="697230" cy="20764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063" y="2753708"/>
            <a:ext cx="984885" cy="27051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653" y="2753708"/>
            <a:ext cx="843915" cy="270510"/>
          </a:xfrm>
          <a:prstGeom prst="rect">
            <a:avLst/>
          </a:prstGeom>
        </p:spPr>
      </p:pic>
      <p:cxnSp>
        <p:nvCxnSpPr>
          <p:cNvPr id="32" name="Straight Connector 31"/>
          <p:cNvCxnSpPr>
            <a:stCxn id="26" idx="0"/>
          </p:cNvCxnSpPr>
          <p:nvPr/>
        </p:nvCxnSpPr>
        <p:spPr>
          <a:xfrm flipV="1">
            <a:off x="1161257" y="726545"/>
            <a:ext cx="2915688" cy="58473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27" idx="0"/>
          </p:cNvCxnSpPr>
          <p:nvPr/>
        </p:nvCxnSpPr>
        <p:spPr>
          <a:xfrm>
            <a:off x="4076945" y="726545"/>
            <a:ext cx="1620561" cy="58506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166955" y="501520"/>
            <a:ext cx="326106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Even grade = quaternions</a:t>
            </a:r>
            <a:endParaRPr lang="en-GB" sz="20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860" y="4056915"/>
            <a:ext cx="1234440" cy="27432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1560" y="4064173"/>
            <a:ext cx="103511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bg1"/>
                </a:solidFill>
              </a:rPr>
              <a:t>Rotation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pic>
        <p:nvPicPr>
          <p:cNvPr id="39" name="Picture 3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7860" y="4497272"/>
            <a:ext cx="1283970" cy="29337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47308" y="4514223"/>
            <a:ext cx="69936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bg1"/>
                </a:solidFill>
              </a:rPr>
              <a:t>Rotor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pic>
        <p:nvPicPr>
          <p:cNvPr id="41" name="Picture 4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898" y="4162400"/>
            <a:ext cx="2230755" cy="2095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022050" y="4643957"/>
            <a:ext cx="23402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Antisymmetric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50301" y="4636753"/>
            <a:ext cx="1185508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Symmetric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flipV="1">
            <a:off x="5877145" y="4487862"/>
            <a:ext cx="450050" cy="18024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 flipV="1">
            <a:off x="7272300" y="4487862"/>
            <a:ext cx="405045" cy="148891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85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Inner product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61515" y="1201389"/>
            <a:ext cx="756084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Should confirm that rotations do indeed leave inner products invariant</a:t>
            </a:r>
            <a:endParaRPr lang="en-GB" sz="2000" dirty="0" smtClean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1761660"/>
            <a:ext cx="4149090" cy="22974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6565" y="4424213"/>
            <a:ext cx="765085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Can also show that rotations do indeed preserve handedness</a:t>
            </a:r>
            <a:endParaRPr lang="en-GB" sz="2000" dirty="0" smtClean="0"/>
          </a:p>
        </p:txBody>
      </p:sp>
    </p:spTree>
    <p:extLst>
      <p:ext uri="{BB962C8B-B14F-4D97-AF65-F5344CB8AC3E}">
        <p14:creationId xmlns:p14="http://schemas.microsoft.com/office/powerpoint/2010/main" val="112404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7"/>
          <p:cNvSpPr/>
          <p:nvPr/>
        </p:nvSpPr>
        <p:spPr>
          <a:xfrm>
            <a:off x="6385633" y="1399684"/>
            <a:ext cx="1692322" cy="716508"/>
          </a:xfrm>
          <a:custGeom>
            <a:avLst/>
            <a:gdLst>
              <a:gd name="connsiteX0" fmla="*/ 0 w 1692322"/>
              <a:gd name="connsiteY0" fmla="*/ 702860 h 716508"/>
              <a:gd name="connsiteX1" fmla="*/ 1671851 w 1692322"/>
              <a:gd name="connsiteY1" fmla="*/ 716508 h 716508"/>
              <a:gd name="connsiteX2" fmla="*/ 1692322 w 1692322"/>
              <a:gd name="connsiteY2" fmla="*/ 0 h 716508"/>
              <a:gd name="connsiteX3" fmla="*/ 0 w 1692322"/>
              <a:gd name="connsiteY3" fmla="*/ 702860 h 716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2322" h="716508">
                <a:moveTo>
                  <a:pt x="0" y="702860"/>
                </a:moveTo>
                <a:lnTo>
                  <a:pt x="1671851" y="716508"/>
                </a:lnTo>
                <a:lnTo>
                  <a:pt x="1692322" y="0"/>
                </a:lnTo>
                <a:lnTo>
                  <a:pt x="0" y="70286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</a:t>
            </a:r>
            <a:r>
              <a:rPr lang="en-GB" dirty="0" smtClean="0"/>
              <a:t>ngular momentum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8" name="TextBox 7"/>
          <p:cNvSpPr txBox="1"/>
          <p:nvPr/>
        </p:nvSpPr>
        <p:spPr>
          <a:xfrm>
            <a:off x="533438" y="1089908"/>
            <a:ext cx="118947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tx2"/>
                </a:solidFill>
              </a:rPr>
              <a:t>Trajectory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470" y="1140615"/>
            <a:ext cx="809320" cy="14311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7301" y="1498888"/>
            <a:ext cx="82561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tx2"/>
                </a:solidFill>
              </a:rPr>
              <a:t>Velocity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545" y="1858928"/>
            <a:ext cx="124636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tx2"/>
                </a:solidFill>
              </a:rPr>
              <a:t>Momentum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9935" y="2256715"/>
            <a:ext cx="57297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tx2"/>
                </a:solidFill>
              </a:rPr>
              <a:t>Force</a:t>
            </a:r>
          </a:p>
        </p:txBody>
      </p:sp>
      <p:sp>
        <p:nvSpPr>
          <p:cNvPr id="17" name="Arc 16"/>
          <p:cNvSpPr/>
          <p:nvPr/>
        </p:nvSpPr>
        <p:spPr>
          <a:xfrm rot="2336737">
            <a:off x="6668561" y="1398360"/>
            <a:ext cx="1418137" cy="1205210"/>
          </a:xfrm>
          <a:prstGeom prst="arc">
            <a:avLst/>
          </a:prstGeom>
          <a:ln w="1905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57359" y="2108841"/>
            <a:ext cx="171019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8067549" y="1384826"/>
            <a:ext cx="0" cy="72401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V="1">
            <a:off x="6357359" y="1384826"/>
            <a:ext cx="1710190" cy="724015"/>
          </a:xfrm>
          <a:prstGeom prst="line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330" y="2168608"/>
            <a:ext cx="163830" cy="150495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355" y="1582351"/>
            <a:ext cx="179070" cy="211455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245" y="1743199"/>
            <a:ext cx="180975" cy="2057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96926" y="1311610"/>
            <a:ext cx="216023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/>
              <a:t>Angular momentum measures area swept 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784" y="3111810"/>
            <a:ext cx="2232021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Traditional definition </a:t>
            </a:r>
          </a:p>
        </p:txBody>
      </p:sp>
      <p:pic>
        <p:nvPicPr>
          <p:cNvPr id="34" name="Picture 3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825" y="3161269"/>
            <a:ext cx="1087755" cy="28765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3832225"/>
            <a:ext cx="9144000" cy="13112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/>
          <p:cNvSpPr txBox="1"/>
          <p:nvPr/>
        </p:nvSpPr>
        <p:spPr>
          <a:xfrm>
            <a:off x="611560" y="4146925"/>
            <a:ext cx="409545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Much better to treat angular momentum as a bivector</a:t>
            </a:r>
          </a:p>
        </p:txBody>
      </p:sp>
      <p:pic>
        <p:nvPicPr>
          <p:cNvPr id="39" name="Picture 3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370" y="4352607"/>
            <a:ext cx="1177290" cy="27051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427095" y="3021800"/>
            <a:ext cx="288032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An ‘axial’ vector instead of a ‘polar’ vector</a:t>
            </a:r>
          </a:p>
        </p:txBody>
      </p:sp>
    </p:spTree>
    <p:extLst>
      <p:ext uri="{BB962C8B-B14F-4D97-AF65-F5344CB8AC3E}">
        <p14:creationId xmlns:p14="http://schemas.microsoft.com/office/powerpoint/2010/main" val="147351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5517105" y="4146925"/>
            <a:ext cx="2070230" cy="5850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0" y="2565285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Torque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6500" y="1221600"/>
            <a:ext cx="3855720" cy="3333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6525" y="1041580"/>
            <a:ext cx="220524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Differentiate the angular momentum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716088"/>
            <a:ext cx="9144000" cy="8556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301081" y="1990030"/>
            <a:ext cx="276152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Define the torque bivector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865" y="2031690"/>
            <a:ext cx="1253490" cy="28765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190" y="2751770"/>
            <a:ext cx="87630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7828" y="2706765"/>
            <a:ext cx="68384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2000" dirty="0" smtClean="0"/>
              <a:t>Define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190" y="3198338"/>
            <a:ext cx="1550670" cy="2781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2976" y="3201820"/>
            <a:ext cx="131869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2000" dirty="0" smtClean="0"/>
              <a:t>Differentiate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685" y="3638755"/>
            <a:ext cx="2619375" cy="13182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48396" y="3661997"/>
            <a:ext cx="25327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2000" dirty="0" smtClean="0"/>
              <a:t>So</a:t>
            </a:r>
          </a:p>
        </p:txBody>
      </p:sp>
      <p:pic>
        <p:nvPicPr>
          <p:cNvPr id="20" name="Picture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2706765"/>
            <a:ext cx="822960" cy="2933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02070" y="2714023"/>
            <a:ext cx="36067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/>
              <a:t>But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3180380"/>
            <a:ext cx="2478405" cy="65151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4236935"/>
            <a:ext cx="1645920" cy="29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2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Inverse-square force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4031940" y="1153365"/>
            <a:ext cx="3915435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Simple to see that torque vanishes, so </a:t>
            </a:r>
            <a:r>
              <a:rPr lang="en-GB" sz="2000" i="1" dirty="0" smtClean="0">
                <a:solidFill>
                  <a:schemeClr val="tx2"/>
                </a:solidFill>
              </a:rPr>
              <a:t>L</a:t>
            </a:r>
            <a:r>
              <a:rPr lang="en-GB" sz="2000" dirty="0" smtClean="0">
                <a:solidFill>
                  <a:schemeClr val="tx2"/>
                </a:solidFill>
              </a:rPr>
              <a:t> is conserved. This is one of two conserved vectors.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1221600"/>
            <a:ext cx="2640330" cy="6610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970" y="2812000"/>
            <a:ext cx="2407920" cy="106489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970" y="4101920"/>
            <a:ext cx="2173605" cy="6515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7721" y="4273786"/>
            <a:ext cx="253274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/>
              <a:t>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4797025" y="2706765"/>
            <a:ext cx="39756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Define the eccentricity vector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130" y="3156815"/>
            <a:ext cx="1830705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20429" y="3614123"/>
            <a:ext cx="312694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Forming scalar part of </a:t>
            </a:r>
            <a:r>
              <a:rPr lang="en-GB" sz="2000" i="1" dirty="0" err="1" smtClean="0">
                <a:solidFill>
                  <a:schemeClr val="bg1"/>
                </a:solidFill>
              </a:rPr>
              <a:t>Lvx</a:t>
            </a:r>
            <a:r>
              <a:rPr lang="en-GB" sz="2000" i="1" dirty="0" smtClean="0">
                <a:solidFill>
                  <a:schemeClr val="bg1"/>
                </a:solidFill>
              </a:rPr>
              <a:t> </a:t>
            </a:r>
            <a:r>
              <a:rPr lang="en-GB" sz="2000" dirty="0" smtClean="0">
                <a:solidFill>
                  <a:schemeClr val="bg1"/>
                </a:solidFill>
              </a:rPr>
              <a:t>find</a:t>
            </a:r>
          </a:p>
        </p:txBody>
      </p:sp>
      <p:pic>
        <p:nvPicPr>
          <p:cNvPr id="17" name="Picture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725" y="4030760"/>
            <a:ext cx="219265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5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Rotating frames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7</a:t>
            </a:fld>
            <a:endParaRPr lang="en-GB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276745" y="1671650"/>
            <a:ext cx="540060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276745" y="1176595"/>
            <a:ext cx="0" cy="49505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2006715" y="1671650"/>
            <a:ext cx="270030" cy="27003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ight Arrow 12"/>
          <p:cNvSpPr/>
          <p:nvPr/>
        </p:nvSpPr>
        <p:spPr>
          <a:xfrm>
            <a:off x="3446875" y="1424122"/>
            <a:ext cx="2250250" cy="202523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822250" y="1350989"/>
            <a:ext cx="450050" cy="17439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6552220" y="1176595"/>
            <a:ext cx="270030" cy="34878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777245" y="1525383"/>
            <a:ext cx="45005" cy="28128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650" y="1424122"/>
            <a:ext cx="516255" cy="26860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11960" y="1176595"/>
            <a:ext cx="774507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2000" dirty="0" smtClean="0"/>
              <a:t>Rotor</a:t>
            </a:r>
            <a:r>
              <a:rPr lang="en-GB" sz="2000" i="1" dirty="0" smtClean="0"/>
              <a:t> R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325" y="1294358"/>
            <a:ext cx="516255" cy="28765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610" y="2236470"/>
            <a:ext cx="2472690" cy="3352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6515" y="2301720"/>
            <a:ext cx="437138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tx2"/>
                </a:solidFill>
              </a:rPr>
              <a:t>Frames related by a time dependent rotor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520" y="2841780"/>
            <a:ext cx="432638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2000" dirty="0" smtClean="0">
                <a:solidFill>
                  <a:schemeClr val="tx2"/>
                </a:solidFill>
              </a:rPr>
              <a:t>Traditional definition of angular velocity</a:t>
            </a:r>
          </a:p>
        </p:txBody>
      </p:sp>
      <p:pic>
        <p:nvPicPr>
          <p:cNvPr id="28" name="Picture 2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9610" y="2804752"/>
            <a:ext cx="1573530" cy="3448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490" y="3486370"/>
            <a:ext cx="4737735" cy="3905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6575" y="4101920"/>
            <a:ext cx="715579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Need to understand the rotor derivative, starting from 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215" y="4101920"/>
            <a:ext cx="918210" cy="27051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67255" y="2751770"/>
            <a:ext cx="1935215" cy="615553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Replace this with a bivector</a:t>
            </a:r>
          </a:p>
        </p:txBody>
      </p:sp>
    </p:spTree>
    <p:extLst>
      <p:ext uri="{BB962C8B-B14F-4D97-AF65-F5344CB8AC3E}">
        <p14:creationId xmlns:p14="http://schemas.microsoft.com/office/powerpoint/2010/main" val="292717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Rotor derivatives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65" y="1851670"/>
            <a:ext cx="3126105" cy="6515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80" y="2841780"/>
            <a:ext cx="2806065" cy="3829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510" y="3381840"/>
            <a:ext cx="441049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An even object equal to </a:t>
            </a:r>
            <a:r>
              <a:rPr lang="en-GB" sz="2000" dirty="0" smtClean="0"/>
              <a:t>minus it’s </a:t>
            </a:r>
            <a:r>
              <a:rPr lang="en-GB" sz="2000" dirty="0" smtClean="0"/>
              <a:t>own reverse, so must be a bivector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192" y="4191930"/>
            <a:ext cx="1381125" cy="27051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0" y="1709622"/>
            <a:ext cx="4572000" cy="34338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185" y="1851670"/>
            <a:ext cx="1409700" cy="3905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57065" y="2301720"/>
            <a:ext cx="16949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Lie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285" y="2301720"/>
            <a:ext cx="144016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Lie algebra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004545" y="2177425"/>
            <a:ext cx="232640" cy="12429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2" idx="0"/>
          </p:cNvCxnSpPr>
          <p:nvPr/>
        </p:nvCxnSpPr>
        <p:spPr>
          <a:xfrm flipV="1">
            <a:off x="6004545" y="2177425"/>
            <a:ext cx="322650" cy="1242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3" idx="0"/>
          </p:cNvCxnSpPr>
          <p:nvPr/>
        </p:nvCxnSpPr>
        <p:spPr>
          <a:xfrm flipH="1" flipV="1">
            <a:off x="7362310" y="2177425"/>
            <a:ext cx="495055" cy="12429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300" y="3052282"/>
            <a:ext cx="3581400" cy="34480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2655" y="4291700"/>
            <a:ext cx="969645" cy="21526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873362" y="3756397"/>
            <a:ext cx="4109128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As expected, angular momentum now a bivector</a:t>
            </a:r>
          </a:p>
        </p:txBody>
      </p:sp>
    </p:spTree>
    <p:extLst>
      <p:ext uri="{BB962C8B-B14F-4D97-AF65-F5344CB8AC3E}">
        <p14:creationId xmlns:p14="http://schemas.microsoft.com/office/powerpoint/2010/main" val="69078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Constant angular velocity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60" y="1131590"/>
            <a:ext cx="1409700" cy="390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1530" y="1716655"/>
            <a:ext cx="749017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Integrates easily in the case of constant Omega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105" y="1671650"/>
            <a:ext cx="1706880" cy="3409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95" y="2362835"/>
            <a:ext cx="3503295" cy="3543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28845" y="2849038"/>
            <a:ext cx="2018130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Fixed frame at </a:t>
            </a:r>
            <a:r>
              <a:rPr lang="en-GB" sz="2000" i="1" dirty="0" smtClean="0">
                <a:solidFill>
                  <a:schemeClr val="bg1"/>
                </a:solidFill>
              </a:rPr>
              <a:t>t=0</a:t>
            </a:r>
            <a:endParaRPr lang="en-GB" sz="2000" dirty="0" smtClean="0">
              <a:solidFill>
                <a:schemeClr val="bg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771800" y="2751770"/>
            <a:ext cx="1080120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s://mapsofdeserts.files.wordpress.com/2010/02/record_player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709" y="2211710"/>
            <a:ext cx="3050771" cy="282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41530" y="3626560"/>
            <a:ext cx="27453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Example – motion around a fixed </a:t>
            </a:r>
            <a:r>
              <a:rPr lang="en-GB" sz="2000" i="1" dirty="0" smtClean="0"/>
              <a:t>z</a:t>
            </a:r>
            <a:r>
              <a:rPr lang="en-GB" sz="2000" dirty="0" smtClean="0"/>
              <a:t> axis:</a:t>
            </a:r>
          </a:p>
        </p:txBody>
      </p:sp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215" y="4371950"/>
            <a:ext cx="826770" cy="26479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215" y="4017145"/>
            <a:ext cx="2832735" cy="26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83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367241" y="4281939"/>
            <a:ext cx="3793651" cy="77938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</a:t>
            </a:r>
            <a:r>
              <a:rPr lang="en-GB" dirty="0" smtClean="0"/>
              <a:t>igid-body dynamics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10</a:t>
            </a:fld>
            <a:endParaRPr lang="en-GB" dirty="0"/>
          </a:p>
        </p:txBody>
      </p:sp>
      <p:pic>
        <p:nvPicPr>
          <p:cNvPr id="2050" name="Picture 2" descr="Rubik's Cub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715" y="122160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ubik's Cub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858780">
            <a:off x="4617005" y="1221600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c 4"/>
          <p:cNvSpPr/>
          <p:nvPr/>
        </p:nvSpPr>
        <p:spPr>
          <a:xfrm rot="18236622">
            <a:off x="3627841" y="1329333"/>
            <a:ext cx="1170130" cy="1710190"/>
          </a:xfrm>
          <a:prstGeom prst="arc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215" y="1086345"/>
            <a:ext cx="527685" cy="270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3010" y="2541262"/>
            <a:ext cx="286891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Fixed reference copy of the object. Origin at </a:t>
            </a:r>
            <a:r>
              <a:rPr lang="en-GB" sz="2000" dirty="0" err="1" smtClean="0"/>
              <a:t>CoM.</a:t>
            </a:r>
            <a:endParaRPr lang="en-GB" sz="20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4932040" y="2541262"/>
            <a:ext cx="283531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Dynamic position of the actual 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7275" y="1288380"/>
            <a:ext cx="184520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Dynamic position of the centre of mass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472103" y="1800555"/>
            <a:ext cx="760786" cy="16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032" y="3455655"/>
            <a:ext cx="253365" cy="1962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31740" y="3385859"/>
            <a:ext cx="4988280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Constant position vector in the reference copy </a:t>
            </a:r>
          </a:p>
        </p:txBody>
      </p:sp>
      <p:pic>
        <p:nvPicPr>
          <p:cNvPr id="21" name="Picture 2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02" y="3786885"/>
            <a:ext cx="607695" cy="27813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31740" y="3749138"/>
            <a:ext cx="558062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Position of the equivalent point in space</a:t>
            </a:r>
          </a:p>
        </p:txBody>
      </p:sp>
      <p:pic>
        <p:nvPicPr>
          <p:cNvPr id="24" name="Picture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32" y="1610980"/>
            <a:ext cx="630555" cy="27813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640" y="4461960"/>
            <a:ext cx="3398520" cy="33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8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Velocity and momentum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55" y="1131590"/>
            <a:ext cx="2802255" cy="390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80" y="1716655"/>
            <a:ext cx="1800200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Spatial bivector</a:t>
            </a: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flipV="1">
            <a:off x="2591780" y="1522115"/>
            <a:ext cx="855095" cy="1945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31940" y="1716655"/>
            <a:ext cx="1575175" cy="307777"/>
          </a:xfrm>
          <a:prstGeom prst="rect">
            <a:avLst/>
          </a:prstGeom>
          <a:solidFill>
            <a:schemeClr val="bg2"/>
          </a:solidFill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Body bivector</a:t>
            </a:r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H="1" flipV="1">
            <a:off x="4819527" y="1522115"/>
            <a:ext cx="1" cy="19454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687123"/>
            <a:ext cx="1455420" cy="3181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46974" y="2496257"/>
            <a:ext cx="292532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True for all points. Have dropped the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3427413"/>
            <a:ext cx="4572000" cy="17160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2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51520" y="3561861"/>
            <a:ext cx="387043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Use continuum approximation</a:t>
            </a:r>
          </a:p>
          <a:p>
            <a:r>
              <a:rPr lang="en-GB" sz="2000" dirty="0" smtClean="0"/>
              <a:t>Centre of mass defined by</a:t>
            </a:r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15" y="4281940"/>
            <a:ext cx="1802130" cy="69913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427095" y="3561860"/>
            <a:ext cx="2238617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Momentum given by</a:t>
            </a:r>
          </a:p>
        </p:txBody>
      </p:sp>
      <p:pic>
        <p:nvPicPr>
          <p:cNvPr id="26" name="Picture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010" y="3891132"/>
            <a:ext cx="4410490" cy="106588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90" y="2346725"/>
            <a:ext cx="3078480" cy="88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5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Angular momentum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57202" y="1056097"/>
            <a:ext cx="6860104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Need the angular momentum of the body about its instantaneous centre of mass</a:t>
            </a:r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8" y="1851670"/>
            <a:ext cx="4441587" cy="2132031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836585" y="4101920"/>
            <a:ext cx="2520280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2" y="4326945"/>
            <a:ext cx="3304708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Fixed function of the angular velocity bivector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/>
          <p:cNvSpPr txBox="1"/>
          <p:nvPr/>
        </p:nvSpPr>
        <p:spPr>
          <a:xfrm>
            <a:off x="5112060" y="1941680"/>
            <a:ext cx="382542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Define the Inertia Tensor</a:t>
            </a:r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7075" y="2481740"/>
            <a:ext cx="3354705" cy="6991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12060" y="3336835"/>
            <a:ext cx="3667470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This is a linear, symmetric function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260" y="3950707"/>
            <a:ext cx="40862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179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oid 6"/>
          <p:cNvSpPr/>
          <p:nvPr/>
        </p:nvSpPr>
        <p:spPr>
          <a:xfrm>
            <a:off x="5554720" y="996575"/>
            <a:ext cx="2160240" cy="1216152"/>
          </a:xfrm>
          <a:prstGeom prst="trapezoid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>
            <a:off x="6597649" y="470845"/>
            <a:ext cx="802204" cy="1239769"/>
          </a:xfrm>
          <a:custGeom>
            <a:avLst/>
            <a:gdLst>
              <a:gd name="connsiteX0" fmla="*/ 0 w 802204"/>
              <a:gd name="connsiteY0" fmla="*/ 0 h 1239769"/>
              <a:gd name="connsiteX1" fmla="*/ 403907 w 802204"/>
              <a:gd name="connsiteY1" fmla="*/ 1239769 h 1239769"/>
              <a:gd name="connsiteX2" fmla="*/ 802204 w 802204"/>
              <a:gd name="connsiteY2" fmla="*/ 925620 h 1239769"/>
              <a:gd name="connsiteX3" fmla="*/ 0 w 802204"/>
              <a:gd name="connsiteY3" fmla="*/ 0 h 1239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2204" h="1239769">
                <a:moveTo>
                  <a:pt x="0" y="0"/>
                </a:moveTo>
                <a:lnTo>
                  <a:pt x="403907" y="1239769"/>
                </a:lnTo>
                <a:lnTo>
                  <a:pt x="802204" y="92562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inertia tensor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13</a:t>
            </a:fld>
            <a:endParaRPr lang="en-GB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589835" y="456515"/>
            <a:ext cx="405045" cy="126014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994880" y="1401620"/>
            <a:ext cx="405045" cy="31503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6589835" y="456515"/>
            <a:ext cx="810090" cy="945105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6605598" y="479134"/>
            <a:ext cx="334370" cy="914400"/>
          </a:xfrm>
          <a:custGeom>
            <a:avLst/>
            <a:gdLst>
              <a:gd name="connsiteX0" fmla="*/ 0 w 334370"/>
              <a:gd name="connsiteY0" fmla="*/ 0 h 914400"/>
              <a:gd name="connsiteX1" fmla="*/ 0 w 334370"/>
              <a:gd name="connsiteY1" fmla="*/ 0 h 914400"/>
              <a:gd name="connsiteX2" fmla="*/ 20471 w 334370"/>
              <a:gd name="connsiteY2" fmla="*/ 61415 h 914400"/>
              <a:gd name="connsiteX3" fmla="*/ 27295 w 334370"/>
              <a:gd name="connsiteY3" fmla="*/ 102358 h 914400"/>
              <a:gd name="connsiteX4" fmla="*/ 34119 w 334370"/>
              <a:gd name="connsiteY4" fmla="*/ 136478 h 914400"/>
              <a:gd name="connsiteX5" fmla="*/ 47767 w 334370"/>
              <a:gd name="connsiteY5" fmla="*/ 177421 h 914400"/>
              <a:gd name="connsiteX6" fmla="*/ 54591 w 334370"/>
              <a:gd name="connsiteY6" fmla="*/ 211541 h 914400"/>
              <a:gd name="connsiteX7" fmla="*/ 68238 w 334370"/>
              <a:gd name="connsiteY7" fmla="*/ 266132 h 914400"/>
              <a:gd name="connsiteX8" fmla="*/ 81886 w 334370"/>
              <a:gd name="connsiteY8" fmla="*/ 286603 h 914400"/>
              <a:gd name="connsiteX9" fmla="*/ 116006 w 334370"/>
              <a:gd name="connsiteY9" fmla="*/ 327547 h 914400"/>
              <a:gd name="connsiteX10" fmla="*/ 143301 w 334370"/>
              <a:gd name="connsiteY10" fmla="*/ 368490 h 914400"/>
              <a:gd name="connsiteX11" fmla="*/ 156949 w 334370"/>
              <a:gd name="connsiteY11" fmla="*/ 388961 h 914400"/>
              <a:gd name="connsiteX12" fmla="*/ 177421 w 334370"/>
              <a:gd name="connsiteY12" fmla="*/ 429905 h 914400"/>
              <a:gd name="connsiteX13" fmla="*/ 191068 w 334370"/>
              <a:gd name="connsiteY13" fmla="*/ 470848 h 914400"/>
              <a:gd name="connsiteX14" fmla="*/ 204716 w 334370"/>
              <a:gd name="connsiteY14" fmla="*/ 498144 h 914400"/>
              <a:gd name="connsiteX15" fmla="*/ 211540 w 334370"/>
              <a:gd name="connsiteY15" fmla="*/ 518615 h 914400"/>
              <a:gd name="connsiteX16" fmla="*/ 225188 w 334370"/>
              <a:gd name="connsiteY16" fmla="*/ 539087 h 914400"/>
              <a:gd name="connsiteX17" fmla="*/ 238835 w 334370"/>
              <a:gd name="connsiteY17" fmla="*/ 586854 h 914400"/>
              <a:gd name="connsiteX18" fmla="*/ 252483 w 334370"/>
              <a:gd name="connsiteY18" fmla="*/ 634621 h 914400"/>
              <a:gd name="connsiteX19" fmla="*/ 259307 w 334370"/>
              <a:gd name="connsiteY19" fmla="*/ 675564 h 914400"/>
              <a:gd name="connsiteX20" fmla="*/ 272955 w 334370"/>
              <a:gd name="connsiteY20" fmla="*/ 702860 h 914400"/>
              <a:gd name="connsiteX21" fmla="*/ 279779 w 334370"/>
              <a:gd name="connsiteY21" fmla="*/ 730155 h 914400"/>
              <a:gd name="connsiteX22" fmla="*/ 293426 w 334370"/>
              <a:gd name="connsiteY22" fmla="*/ 771099 h 914400"/>
              <a:gd name="connsiteX23" fmla="*/ 300250 w 334370"/>
              <a:gd name="connsiteY23" fmla="*/ 798394 h 914400"/>
              <a:gd name="connsiteX24" fmla="*/ 313898 w 334370"/>
              <a:gd name="connsiteY24" fmla="*/ 846161 h 914400"/>
              <a:gd name="connsiteX25" fmla="*/ 327546 w 334370"/>
              <a:gd name="connsiteY25" fmla="*/ 907576 h 914400"/>
              <a:gd name="connsiteX26" fmla="*/ 334370 w 334370"/>
              <a:gd name="connsiteY26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34370" h="914400">
                <a:moveTo>
                  <a:pt x="0" y="0"/>
                </a:moveTo>
                <a:lnTo>
                  <a:pt x="0" y="0"/>
                </a:lnTo>
                <a:cubicBezTo>
                  <a:pt x="6824" y="20472"/>
                  <a:pt x="14911" y="40565"/>
                  <a:pt x="20471" y="61415"/>
                </a:cubicBezTo>
                <a:cubicBezTo>
                  <a:pt x="24036" y="74784"/>
                  <a:pt x="24820" y="88745"/>
                  <a:pt x="27295" y="102358"/>
                </a:cubicBezTo>
                <a:cubicBezTo>
                  <a:pt x="29370" y="113769"/>
                  <a:pt x="31067" y="125288"/>
                  <a:pt x="34119" y="136478"/>
                </a:cubicBezTo>
                <a:cubicBezTo>
                  <a:pt x="37904" y="150357"/>
                  <a:pt x="43218" y="163773"/>
                  <a:pt x="47767" y="177421"/>
                </a:cubicBezTo>
                <a:cubicBezTo>
                  <a:pt x="51435" y="188424"/>
                  <a:pt x="51983" y="200239"/>
                  <a:pt x="54591" y="211541"/>
                </a:cubicBezTo>
                <a:cubicBezTo>
                  <a:pt x="58809" y="229818"/>
                  <a:pt x="63689" y="247935"/>
                  <a:pt x="68238" y="266132"/>
                </a:cubicBezTo>
                <a:cubicBezTo>
                  <a:pt x="70227" y="274088"/>
                  <a:pt x="77337" y="279779"/>
                  <a:pt x="81886" y="286603"/>
                </a:cubicBezTo>
                <a:cubicBezTo>
                  <a:pt x="96660" y="345701"/>
                  <a:pt x="74374" y="285915"/>
                  <a:pt x="116006" y="327547"/>
                </a:cubicBezTo>
                <a:cubicBezTo>
                  <a:pt x="127604" y="339145"/>
                  <a:pt x="134203" y="354842"/>
                  <a:pt x="143301" y="368490"/>
                </a:cubicBezTo>
                <a:lnTo>
                  <a:pt x="156949" y="388961"/>
                </a:lnTo>
                <a:cubicBezTo>
                  <a:pt x="181838" y="463628"/>
                  <a:pt x="142143" y="350527"/>
                  <a:pt x="177421" y="429905"/>
                </a:cubicBezTo>
                <a:cubicBezTo>
                  <a:pt x="183264" y="443051"/>
                  <a:pt x="184634" y="457981"/>
                  <a:pt x="191068" y="470848"/>
                </a:cubicBezTo>
                <a:cubicBezTo>
                  <a:pt x="195617" y="479947"/>
                  <a:pt x="200709" y="488794"/>
                  <a:pt x="204716" y="498144"/>
                </a:cubicBezTo>
                <a:cubicBezTo>
                  <a:pt x="207549" y="504755"/>
                  <a:pt x="208323" y="512182"/>
                  <a:pt x="211540" y="518615"/>
                </a:cubicBezTo>
                <a:cubicBezTo>
                  <a:pt x="215208" y="525951"/>
                  <a:pt x="221520" y="531751"/>
                  <a:pt x="225188" y="539087"/>
                </a:cubicBezTo>
                <a:cubicBezTo>
                  <a:pt x="230644" y="550000"/>
                  <a:pt x="235918" y="576644"/>
                  <a:pt x="238835" y="586854"/>
                </a:cubicBezTo>
                <a:cubicBezTo>
                  <a:pt x="247508" y="617211"/>
                  <a:pt x="245370" y="599059"/>
                  <a:pt x="252483" y="634621"/>
                </a:cubicBezTo>
                <a:cubicBezTo>
                  <a:pt x="255197" y="648188"/>
                  <a:pt x="255331" y="662312"/>
                  <a:pt x="259307" y="675564"/>
                </a:cubicBezTo>
                <a:cubicBezTo>
                  <a:pt x="262230" y="685308"/>
                  <a:pt x="269383" y="693335"/>
                  <a:pt x="272955" y="702860"/>
                </a:cubicBezTo>
                <a:cubicBezTo>
                  <a:pt x="276248" y="711641"/>
                  <a:pt x="277084" y="721172"/>
                  <a:pt x="279779" y="730155"/>
                </a:cubicBezTo>
                <a:cubicBezTo>
                  <a:pt x="283913" y="743934"/>
                  <a:pt x="289937" y="757142"/>
                  <a:pt x="293426" y="771099"/>
                </a:cubicBezTo>
                <a:cubicBezTo>
                  <a:pt x="295701" y="780197"/>
                  <a:pt x="297674" y="789376"/>
                  <a:pt x="300250" y="798394"/>
                </a:cubicBezTo>
                <a:cubicBezTo>
                  <a:pt x="308921" y="828741"/>
                  <a:pt x="306788" y="810613"/>
                  <a:pt x="313898" y="846161"/>
                </a:cubicBezTo>
                <a:cubicBezTo>
                  <a:pt x="317393" y="863635"/>
                  <a:pt x="318692" y="889868"/>
                  <a:pt x="327546" y="907576"/>
                </a:cubicBezTo>
                <a:cubicBezTo>
                  <a:pt x="328985" y="910453"/>
                  <a:pt x="332095" y="912125"/>
                  <a:pt x="334370" y="91440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735" y="1896675"/>
            <a:ext cx="190500" cy="2057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442" y="1641407"/>
            <a:ext cx="163830" cy="1504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915" y="1504707"/>
            <a:ext cx="512445" cy="2095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505" y="645203"/>
            <a:ext cx="1184910" cy="2705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6408" y="1221600"/>
            <a:ext cx="520324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/>
              <a:t>Inertia tensor </a:t>
            </a:r>
            <a:r>
              <a:rPr lang="en-GB" sz="2000" dirty="0" smtClean="0"/>
              <a:t>input is </a:t>
            </a:r>
            <a:r>
              <a:rPr lang="en-GB" sz="2000" dirty="0"/>
              <a:t>the </a:t>
            </a:r>
            <a:r>
              <a:rPr lang="en-GB" sz="2000" dirty="0" smtClean="0"/>
              <a:t>bivector </a:t>
            </a:r>
            <a:r>
              <a:rPr lang="en-GB" sz="2000" i="1" dirty="0" smtClean="0"/>
              <a:t>B.</a:t>
            </a:r>
          </a:p>
          <a:p>
            <a:r>
              <a:rPr lang="en-GB" sz="2000" dirty="0" smtClean="0"/>
              <a:t>Body rotates </a:t>
            </a:r>
            <a:r>
              <a:rPr lang="en-GB" sz="2000" dirty="0"/>
              <a:t>about centre of mass in </a:t>
            </a:r>
            <a:r>
              <a:rPr lang="en-GB" sz="2000" dirty="0" smtClean="0"/>
              <a:t>the </a:t>
            </a:r>
            <a:r>
              <a:rPr lang="en-GB" sz="2000" i="1" dirty="0" smtClean="0"/>
              <a:t>B </a:t>
            </a:r>
            <a:r>
              <a:rPr lang="en-GB" sz="2000" dirty="0" smtClean="0"/>
              <a:t>plane</a:t>
            </a:r>
            <a:r>
              <a:rPr lang="en-GB" sz="2000" dirty="0"/>
              <a:t>.</a:t>
            </a:r>
            <a:endParaRPr lang="en-GB" sz="20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236408" y="2391730"/>
            <a:ext cx="4095455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Angular momentum of the point is </a:t>
            </a: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940" y="2391730"/>
            <a:ext cx="1371600" cy="27813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6408" y="2931790"/>
            <a:ext cx="6270807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Back rotate the angular velocity to the reference copy</a:t>
            </a:r>
          </a:p>
        </p:txBody>
      </p:sp>
      <p:pic>
        <p:nvPicPr>
          <p:cNvPr id="25" name="Picture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165" y="2931790"/>
            <a:ext cx="1455420" cy="31813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36408" y="3471850"/>
            <a:ext cx="540060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Find angular momentum in the reference copy</a:t>
            </a: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112" y="3516855"/>
            <a:ext cx="878205" cy="27813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3835940"/>
            <a:ext cx="9144000" cy="13075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/>
          <p:cNvSpPr txBox="1"/>
          <p:nvPr/>
        </p:nvSpPr>
        <p:spPr>
          <a:xfrm>
            <a:off x="236406" y="4101920"/>
            <a:ext cx="4920657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Rotate the body angular momentum forward to the spatial copy of the body </a:t>
            </a:r>
          </a:p>
        </p:txBody>
      </p:sp>
      <p:pic>
        <p:nvPicPr>
          <p:cNvPr id="31" name="Picture 3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735" y="4236935"/>
            <a:ext cx="1893570" cy="3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321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Equations of motion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115" y="996575"/>
            <a:ext cx="5852160" cy="14154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571750"/>
            <a:ext cx="4572000" cy="25717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51520" y="2886785"/>
            <a:ext cx="386967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From now on, use the cross symbol for the commutator product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3636962"/>
            <a:ext cx="2762250" cy="390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1520" y="4191930"/>
            <a:ext cx="391543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The commutator of two bivectors is a third bivector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571750"/>
            <a:ext cx="4572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4797025" y="2886784"/>
            <a:ext cx="418546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Introduce the principal axes and principal moments of inertia </a:t>
            </a:r>
          </a:p>
        </p:txBody>
      </p:sp>
      <p:pic>
        <p:nvPicPr>
          <p:cNvPr id="14" name="Picture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390" y="3693159"/>
            <a:ext cx="1985010" cy="2781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32340" y="3678335"/>
            <a:ext cx="870999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No sum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7025" y="4191930"/>
            <a:ext cx="396044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Symmetric nature of inertia tensor guarantees these exist</a:t>
            </a:r>
          </a:p>
        </p:txBody>
      </p:sp>
    </p:spTree>
    <p:extLst>
      <p:ext uri="{BB962C8B-B14F-4D97-AF65-F5344CB8AC3E}">
        <p14:creationId xmlns:p14="http://schemas.microsoft.com/office/powerpoint/2010/main" val="814856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Equations of motion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6735" y="1086585"/>
            <a:ext cx="4076700" cy="32956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716088"/>
            <a:ext cx="4572000" cy="34274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25" y="1806665"/>
            <a:ext cx="2329815" cy="31318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26795" y="2330754"/>
            <a:ext cx="1485165" cy="1231106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Objects expressed in terms of the principal axes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16088"/>
            <a:ext cx="4572000" cy="34274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4977045" y="2031690"/>
            <a:ext cx="3285365" cy="923330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Inserting these in the above equation recover the famous Euler equations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055" y="3152750"/>
            <a:ext cx="336042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0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2571750"/>
            <a:ext cx="9144000" cy="1260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Kinetic energy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15" y="1176595"/>
            <a:ext cx="6398895" cy="6991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020" y="2076695"/>
            <a:ext cx="5888355" cy="361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6515" y="1941680"/>
            <a:ext cx="18452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tx2"/>
                </a:solidFill>
              </a:rPr>
              <a:t>Use this rearrangement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357" y="2929411"/>
            <a:ext cx="4423410" cy="3905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1304" y="4316173"/>
            <a:ext cx="2564539" cy="307777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r>
              <a:rPr lang="en-GB" sz="2000" dirty="0" smtClean="0"/>
              <a:t>In terms of components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885" y="4011910"/>
            <a:ext cx="3400425" cy="91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2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Symmetric top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41530" y="1236117"/>
            <a:ext cx="4545505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Body with a symmetry axis aligned with the 3 direction, so </a:t>
            </a:r>
          </a:p>
        </p:txBody>
      </p:sp>
      <p:pic>
        <p:nvPicPr>
          <p:cNvPr id="3074" name="Picture 2" descr="inception-spinning-top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396" y="1"/>
            <a:ext cx="3637603" cy="203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65" y="1598305"/>
            <a:ext cx="798195" cy="2533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8012" y="2346725"/>
            <a:ext cx="2258773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Action of the inertia tensor is</a:t>
            </a:r>
          </a:p>
        </p:txBody>
      </p:sp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05" y="2330527"/>
            <a:ext cx="5434965" cy="7524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012" y="3344093"/>
            <a:ext cx="3439724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Third Euler equation reduces to 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930" y="3387075"/>
            <a:ext cx="1093470" cy="26479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750" y="3921900"/>
            <a:ext cx="4758690" cy="6915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8012" y="4068137"/>
            <a:ext cx="2314599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Can now write</a:t>
            </a:r>
          </a:p>
        </p:txBody>
      </p:sp>
    </p:spTree>
    <p:extLst>
      <p:ext uri="{BB962C8B-B14F-4D97-AF65-F5344CB8AC3E}">
        <p14:creationId xmlns:p14="http://schemas.microsoft.com/office/powerpoint/2010/main" val="1905233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Symmetric top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smtClean="0"/>
              <a:t>L3 S</a:t>
            </a:r>
            <a:fld id="{40E39B3E-C87B-4733-AA7D-3387836CB72D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897" y="942930"/>
            <a:ext cx="5474970" cy="6915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170" y="1848486"/>
            <a:ext cx="4349115" cy="6915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6515" y="1848486"/>
            <a:ext cx="2430270" cy="61555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Define the two constant bivectors</a:t>
            </a: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835" y="2766290"/>
            <a:ext cx="2621280" cy="3905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1520" y="2796775"/>
            <a:ext cx="2610290" cy="307777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/>
              <a:t>Rotor equation is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427414"/>
            <a:ext cx="9143999" cy="17160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00" y="3891415"/>
            <a:ext cx="4394835" cy="3905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47075" y="3516855"/>
            <a:ext cx="3960440" cy="15388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</a:rPr>
              <a:t>Fully describes the motion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Internal rotation gives precession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Fixed rotor defines attitude at </a:t>
            </a:r>
            <a:r>
              <a:rPr lang="en-GB" sz="2000" i="1" dirty="0" smtClean="0">
                <a:solidFill>
                  <a:schemeClr val="bg1"/>
                </a:solidFill>
              </a:rPr>
              <a:t>t=0</a:t>
            </a:r>
          </a:p>
          <a:p>
            <a:r>
              <a:rPr lang="en-GB" sz="2000" dirty="0" smtClean="0">
                <a:solidFill>
                  <a:schemeClr val="bg1"/>
                </a:solidFill>
              </a:rPr>
              <a:t>Final rotation defines attitude in space </a:t>
            </a:r>
          </a:p>
        </p:txBody>
      </p:sp>
    </p:spTree>
    <p:extLst>
      <p:ext uri="{BB962C8B-B14F-4D97-AF65-F5344CB8AC3E}">
        <p14:creationId xmlns:p14="http://schemas.microsoft.com/office/powerpoint/2010/main" val="192016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mtClean="0"/>
              <a:t>Resources</a:t>
            </a:r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 smtClean="0"/>
              <a:t>L3 S</a:t>
            </a:r>
            <a:fld id="{40E39B3E-C87B-4733-AA7D-3387836CB72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1311274"/>
            <a:ext cx="9144000" cy="3832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791580" y="1867345"/>
            <a:ext cx="3240360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geometry.mrao.cam.ac.uk</a:t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chris.doran@arm.com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cjld1@cam.ac.uk</a:t>
            </a: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@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chrisjldoran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#</a:t>
            </a:r>
            <a:r>
              <a:rPr lang="en-GB" sz="2400" dirty="0" err="1" smtClean="0">
                <a:solidFill>
                  <a:schemeClr val="bg1"/>
                </a:solidFill>
                <a:latin typeface="Calibri Light" panose="020F0302020204030204" pitchFamily="34" charset="0"/>
              </a:rPr>
              <a:t>geometricalgebra</a:t>
            </a: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>
                <a:solidFill>
                  <a:schemeClr val="bg1"/>
                </a:solidFill>
                <a:latin typeface="Calibri Light" panose="020F0302020204030204" pitchFamily="34" charset="0"/>
              </a:rPr>
              <a:t>github.com/</a:t>
            </a:r>
            <a:r>
              <a:rPr lang="en-GB" sz="2400" dirty="0" err="1">
                <a:solidFill>
                  <a:schemeClr val="bg1"/>
                </a:solidFill>
                <a:latin typeface="Calibri Light" panose="020F0302020204030204" pitchFamily="34" charset="0"/>
              </a:rPr>
              <a:t>ga</a:t>
            </a:r>
            <a:endParaRPr lang="en-GB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/>
            </a:r>
            <a:br>
              <a:rPr lang="en-GB" sz="2400" dirty="0" smtClean="0">
                <a:solidFill>
                  <a:schemeClr val="bg1"/>
                </a:solidFill>
                <a:latin typeface="Calibri Light" panose="020F0302020204030204" pitchFamily="34" charset="0"/>
              </a:rPr>
            </a:br>
            <a:endParaRPr lang="en-GB" sz="2400" dirty="0" smtClean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pic>
        <p:nvPicPr>
          <p:cNvPr id="7" name="Picture 6" descr="cov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665" y="825550"/>
            <a:ext cx="3015335" cy="431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94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"/>
  <p:tag name="ORIGINALWIDTH" val="3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n}{\bm{n}}&#10;\newcommand{\bx}{\bm{x}}&#10;\newcommand{\dt}{\! \cdot \!}&#10;\newcommand{\wdg}{\! \wedge \!}&#10;\newcommand{\crs}{\! \times \!}&#10;\newcommand{\scp}{\! \ast \!}&#10;\newcommand{\blde}{\be}&#10;&#10;\definecolor{myGrey}{RGB}{62,62,64}&#10;\color{myGrey}&#10;&#10;\begin{document}&#10;\begin{align*}&#10;1&#10;\end{align*}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515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{ \blde_1, \blde_2, \blde_3 \}&#10;\end{align*}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8.3551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{ \blde_1\blde_2, \blde_2\blde_3 , \blde_3\blde_1 \}&#10;\end{align*}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"/>
  <p:tag name="ORIGINALWIDTH" val="32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be_1 \be_2 \be_3&#10;\end{align*}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298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tilde{\alpha}=\alpha&#10;\end{align*}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.75"/>
  <p:tag name="ORIGINALWIDTH" val="274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tilde{a} = a&#10;\end{align*}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38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tilde{B} = -B&#10;\end{align*}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332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tilde{I} = -I&#10;\end{align*}&#10;\end{document}"/>
  <p:tag name="IGUANATEXSIZE" val="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"/>
  <p:tag name="ORIGINALWIDTH" val="486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a \mapsto R a \Rrev&#10;\end{align*}&#10;\end{document}"/>
  <p:tag name="IGUANATEXSIZE" val="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50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R = e^{-B/2}&#10;\end{align*}&#10;\end{document}"/>
  <p:tag name="IGUANATEXSIZE" val="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7.6344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aB = a \dt B + a \wdg B&#10;\end{align*}&#10;\end{document}"/>
  <p:tag name="IGUANATEXSIZE" val="2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98.677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a' \dt b' &#10;&amp;= (R a \Rrev) \dt (R b \Rrev) \\&#10;&amp;= \half (R a \Rrev R b \Rrev + R b \Rrev R a \Rrev) \\&#10;&amp;= \half R (ab + ba) \Rrev \\&#10;&amp;= a \dt b R \Rrev \\&#10;&amp;= a \dt b&#10;\end{align*}&#10;\end{document}"/>
  <p:tag name="IGUANATEXSIZE" val="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05"/>
  <p:tag name="ORIGINALWIDTH" val="229.031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&amp; \bx(t) \\&#10;&amp; \bv = \dot{\bx}\\&#10;&amp; \bp = m \bv \\&#10;&amp; \bldf&#10;\end{align*}&#10;\end{document}"/>
  <p:tag name="IGUANATEXSIZE" val="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64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\bx&#10;\end{align*}&#10;\end{document}"/>
  <p:tag name="IGUANATEXSIZE" val="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3.25"/>
  <p:tag name="ORIGINALWIDTH" val="70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\bp&#10;\end{align*}&#10;\end{document}"/>
  <p:tag name="IGUANATEXSIZE" val="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"/>
  <p:tag name="ORIGINALWIDTH" val="71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L&#10;\end{align*}&#10;\end{document}"/>
  <p:tag name="IGUANATEXSIZE" val="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3.25"/>
  <p:tag name="ORIGINALWIDTH" val="428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\bl = \bx \crs \bp&#10;\end{align*}&#10;\end{document}"/>
  <p:tag name="IGUANATEXSIZE" val="2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463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white}&#10;&#10;\begin{document}&#10;\begin{align*}&#10;L = \bx \wdg \bp&#10;\end{align*}&#10;\end{document}"/>
  <p:tag name="IGUANATEXSIZE" val="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2.2529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myGrey}&#10;&#10;\begin{document}&#10;\begin{align*}&#10;\dot{L} = \bm{v} \wdg (m\bm{v}) + \bm{x} \wdg (\dot{\bm{p}}) &#10;= \bm{x} \wdg \bldf&#10;\end{align*}&#10;\end{document}"/>
  <p:tag name="IGUANATEXSIZE" val="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3.25"/>
  <p:tag name="ORIGINALWIDTH" val="493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&#10;\definecolor{myGrey}{RGB}{62,62,64}&#10;\color{white}&#10;&#10;\begin{document}&#10;\begin{align*}&#10;N = \bx \wdg \bldf&#10;\end{align*}&#10;\end{document}"/>
  <p:tag name="IGUANATEXSIZE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6.25"/>
  <p:tag name="ORIGINALWIDTH" val="34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mb{x} = r \hat{\mb{x}}&#10;\end{align*}&#10;\end{document}"/>
  <p:tag name="IGUANATEXSIZE" val="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5"/>
  <p:tag name="ORIGINALWIDTH" val="610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dot{\mb{x}} = \dot{r} \hat{\mb{x}} + r&#10;\dot{\hat{\mb{x}}} &#10;\end{align*}&#10;\end{document}"/>
  <p:tag name="IGUANATEXSIZE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2.356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t}{\dot{r}}&#10;\newcommand{\mb}[1]{\bm{#1}}&#10;&#10;\definecolor{myGrey}{RGB}{62,62,64}&#10;\color{myGrey}&#10;&#10;\begin{document}&#10;\begin{align*}&#10;L &amp;= m \mb{x} \wdg (\rdt \hat{\mb{x}} + r \dot{\hat{\mb{x}}}) \\ &#10;&amp;= m r&#10;\hat{\mb{x}} \wdg (\rdt \hat{\mb{x}} + &#10;r \dot{\hat{\mb{x}}}) \\&#10;&amp;= m r^2 \,  \hat{\mb{x}} \wdg \dot{\hat{\mb{x}}}&#10;\end{align*}&#10;\end{document}"/>
  <p:tag name="IGUANATEXSIZE" val="2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324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hat{\mb{x}}^2=1&#10;\end{align*}&#10;\end{document}"/>
  <p:tag name="IGUANATEXSIZE" val="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9.269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0 =  \frac{d}{dt} (\hat{\mb{x}}^2) = 2 \hat{\mb{x}} \dt \dot{\hat{\mb{x}}}&#10;\end{align*}&#10;\end{document}"/>
  <p:tag name="IGUANATEXSIZE" val="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5.5"/>
  <p:tag name="ORIGINALWIDTH" val="648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white}&#10;&#10;\begin{document}&#10;\begin{align*}&#10;L = - m r^2&#10;\dot{\hat{\mb{x}}} \hat{\mb{x}}&#10;\end{align*}&#10;\end{document}"/>
  <p:tag name="IGUANATEXSIZE" val="2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80.259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m \ddot{\mb{x}} = - \frac{k}{r^2} \hat{\mb{x}} &#10;= - \frac{k}{r^3} \mb{x}&#10;\end{align*}&#10;\end{document}"/>
  <p:tag name="IGUANATEXSIZE" val="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18.417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L \dot{\mb{v}} &amp;= -\frac{k}{m r^2} L \hat{\mb{x}} \\&#10;&amp;= -k \hat{\mb{x}} \dot{\hat{\mb{x}}} \hat{\mb{x}}   &#10;=  k \dot{\hat{\mb{x}}}&#10;\end{align*}&#10;\end{document}"/>
  <p:tag name="IGUANATEXSIZE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15.810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frac{d}{dt} (L \mb{v} -k \hat{\mb{x}}) = 0&#10;\end{align*}&#10;\end{document}"/>
  <p:tag name="IGUANATEXSIZE" val="2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887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white}&#10;&#10;\begin{document}&#10;\begin{align*}&#10;L\mb{v} = k(\hat{\mb{x}} + \mb{e})&#10;\end{align*}&#10;\end{document}"/>
  <p:tag name="IGUANATEXSIZE" val="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0.217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white}&#10;&#10;\begin{document}&#10;\begin{align*}&#10;r = \frac{l^2}{km(1+ \mb{e} \dt \hat{\mb{x}})}&#10;\end{align*}&#10;\end{document}"/>
  <p:tag name="IGUANATEXSIZE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5.75"/>
  <p:tag name="ORIGINALWIDTH" val="203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{\blde_k \}&#10;\end{align*}&#10;\end{document}"/>
  <p:tag name="IGUANATEXSIZE" val="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3.25"/>
  <p:tag name="ORIGINALWIDTH" val="203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{\bldf_k \}&#10;\end{align*}&#10;\end{document}"/>
  <p:tag name="IGUANATEXSIZE" val="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7.6270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mb{f}_k(t) = R(t) \mb{e}_k \Rrev(t)&#10;\end{align*}&#10;\end{document}"/>
  <p:tag name="IGUANATEXSIZE" val="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5.75"/>
  <p:tag name="ORIGINALWIDTH" val="61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\dot{\mb{f}}_k = \mb{\omega} \times \mb{f}_k&#10;\end{align*}&#10;\end{document}"/>
  <p:tag name="IGUANATEXSIZE" val="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3485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dot{\mb{f}}_k = \Rdot \mb{e}_k \Rrev + R \mb{e}_k \dot{\Rrev} = \Rdot&#10;\Rrev \mb{f}_k + \mb{f}_k R \dot{\Rrev} &#10;\end{align*}&#10;\end{document}"/>
  <p:tag name="IGUANATEXSIZE" val="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361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mb}[1]{\bm{#1}}&#10;&#10;\definecolor{myGrey}{RGB}{62,62,64}&#10;\color{myGrey}&#10;&#10;\begin{document}&#10;\begin{align*}&#10;R \Rrev = 1&#10;\end{align*}&#10;\end{document}"/>
  <p:tag name="IGUANATEXSIZE" val="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.054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0 = \frac{d}{dt}(R \Rrev) = \Rdot \Rrev + R \dot{\Rrev}&#10;\end{align*}&#10;\end{document}"/>
  <p:tag name="IGUANATEXSIZE" val="2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8.248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Rdot \Rrev = -  R \dot{\Rrev} = - (\Rdot \Rrev)^\sim&#10;\end{align*}&#10;\end{document}"/>
  <p:tag name="IGUANATEXSIZE" val="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543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2 \Rdot \Rrev = - \Omega&#10;\end{align*}&#10;\end{document}"/>
  <p:tag name="IGUANATEXSIZE" val="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3.75"/>
  <p:tag name="ORIGINALWIDTH" val="55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white}&#10;&#10;\begin{document}&#10;\begin{align*}&#10;\Rdot = - \half \Omega R&#10;\end{align*}&#10;\end{document}"/>
  <p:tag name="IGUANATEXSIZE" val="2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.3191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white}&#10;&#10;\begin{document}&#10;\begin{align*}&#10;\dot{\mb{f}}_k = \Rdot \Rrev \mb{f}_k - \mb{f}_k \Rdot \Rrev &#10;=   \mb{f}_k \dt \Omega&#10;\end{align*}&#10;\end{document}"/>
  <p:tag name="IGUANATEXSIZE" val="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38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white}&#10;&#10;\begin{document}&#10;\begin{align*}&#10;\Omega = I \mb{\omega}&#10;\end{align*}&#10;\end{document}"/>
  <p:tag name="IGUANATEXSIZE" val="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3.75"/>
  <p:tag name="ORIGINALWIDTH" val="55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Rdot = - \half \Omega R&#10;\end{align*}&#10;\end{document}"/>
  <p:tag name="IGUANATEXSIZE" val="2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5"/>
  <p:tag name="ORIGINALWIDTH" val="672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R = e^{- \Omega t/2}  R_0&#10;\end{align*}&#10;\end{document}"/>
  <p:tag name="IGUANATEXSIZE" val="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2.822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mb{f}_k(t) = e^{- \Omega t/2} R_0 \mb{e}_k \Rrev_0 e^{ \Omega t/2}&#10;\end{align*}&#10;\end{document}"/>
  <p:tag name="IGUANATEXSIZE" val="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325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R_0 = 1&#10;\end{align*}&#10;\end{document}"/>
  <p:tag name="IGUANATEXSIZE" val="2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7.3033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Omega = -\omega I \mb{e}_3 =- \omega \mb{e}_1 \mb{e}_2&#10;\end{align*}&#10;\end{document}"/>
  <p:tag name="IGUANATEXSIZE" val="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207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R(t)&#10;\end{align*}&#10;\end{document}"/>
  <p:tag name="IGUANATEXSIZE" val="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7.25"/>
  <p:tag name="ORIGINALWIDTH" val="99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bx_i&#10;\end{align*}&#10;\end{document}"/>
  <p:tag name="IGUANATEXSIZE" val="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5"/>
  <p:tag name="ORIGINALWIDTH" val="239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bm{y}_i(t)&#10;\end{align*}&#10;\end{document}"/>
  <p:tag name="IGUANATEXSIZE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5"/>
  <p:tag name="ORIGINALWIDTH" val="248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&#10;\definecolor{myGrey}{RGB}{62,62,64}&#10;\color{myGrey}&#10;&#10;\begin{document}&#10;\begin{align*}&#10;\mb{y}_0(t)&#10;\end{align*}&#10;\end{document}"/>
  <p:tag name="IGUANATEXSIZE" val="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1.0314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&#10;\definecolor{myGrey}{RGB}{62,62,64}&#10;\color{white}&#10;&#10;\begin{document}&#10;\begin{align*}&#10;\mb{y}_i(t) = R(t) \mb{x}_i \Rrev(t) + \mb{y}_0(t)&#10;\end{align*}&#10;\end{document}"/>
  <p:tag name="IGUANATEXSIZE" val="2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0.339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&#10;\definecolor{myGrey}{RGB}{62,62,64}&#10;\color{myGrey}&#10;&#10;\begin{document}&#10;\begin{align*}&#10;\Rdot =- \half \Omega R =- \half R \Omega_B&#10;\end{align*}&#10;\end{document}"/>
  <p:tag name="IGUANATEXSIZE" val="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5.25"/>
  <p:tag name="ORIGINALWIDTH" val="57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&#10;\definecolor{myGrey}{RGB}{62,62,64}&#10;\color{myGrey}&#10;&#10;\begin{document}&#10;\begin{align*}&#10;\Om = R \Om_B \Rrev&#10;\end{align*}&#10;\end{document}"/>
  <p:tag name="IGUANATEXSIZE" val="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75.25"/>
  <p:tag name="ORIGINALWIDTH" val="709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&#10;\definecolor{myGrey}{RGB}{62,62,64}&#10;\color{myGrey}&#10;&#10;\begin{document}&#10;\begin{align*}&#10;\int d^3 \! x \, \rho&#10;\mb{x} = 0&#10;\end{align*}&#10;\end{document}"/>
  <p:tag name="IGUANATEXSIZE" val="2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4.002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&#10;\definecolor{myGrey}{RGB}{62,62,64}&#10;\color{myGrey}&#10;&#10;\begin{document}&#10;\begin{align*}&#10;\int d^3 \!\! x \, \rho \mb{v} &amp;= \int d^3 \!\! x \, \rho ( R \, \mb{x} \dt&#10;\Omega_B \, \Rrev + \mb{v}_0) \\&#10; &amp;= M \mb{v}_0&#10;\end{align*}&#10;\end{document}"/>
  <p:tag name="IGUANATEXSIZE" val="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06.287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&#10;\definecolor{myGrey}{RGB}{62,62,64}&#10;\color{myGrey}&#10;&#10;\begin{document}&#10;\begin{align*}&#10;\mb{v}(t) &amp;= \Rdot \mb{x} \Rrev + R \mb{x} \dot{\Rrev} +&#10;\dot{\mb{y}}_0  \\ &#10;&amp;= R \, \mb{x} \dt \Omega_B \, \Rrev + \mb{v}_0&#10;\end{align*}&#10;\end{document}"/>
  <p:tag name="IGUANATEXSIZE" val="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45.6112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&#10;\definecolor{myGrey}{RGB}{62,62,64}&#10;\color{myGrey}&#10;&#10;\begin{document}&#10;\begin{align*}&#10;L &amp;= \int d^3 \! x \, \rho (\mb{y} - \mb{y}_0) \wdg \mb{v}  \\&#10;&amp;=  \int d^3 \! x \, \rho (R \mb{x} \Rrev) \wdg (R \, \mb{x} \dt \Om_B&#10;\, \Rrev + \mb{v}_0)  \\ &#10;&amp;= R \Bigl( \int d^3 \!x \, \rho  \mb{x} \wdg ( \mb{x} \dt \Om_B) \, &#10;\Bigr) \Rrev&#10;\end{align*}&#10;\end{document}"/>
  <p:tag name="IGUANATEXSIZE" val="2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0.051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white}&#10;&#10;\begin{document}&#10;\begin{align*}&#10;\cli(B) = \int d^3\! x \, \rho \mb{x} \wdg ( \mb{x} \dt B)&#10;\end{align*}&#10;\end{document}"/>
  <p:tag name="IGUANATEXSIZE" val="2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2.5874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white}&#10;&#10;\begin{document}&#10;\begin{align*}&#10;\cli(\lambda A + \mu B) &amp;= \lambda \cli(A) + \mu&#10;\cli(B) \\&#10;\la A \cli(B) \ra &amp;= \la \cli(A) B \ra&#10;\end{align*}&#10;\end{document}"/>
  <p:tag name="IGUANATEXSIZE" val="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1"/>
  <p:tag name="ORIGINALWIDTH" val="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B&#10;\end{align*}&#10;\end{document}"/>
  <p:tag name="IGUANATEXSIZE" val="2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9.25"/>
  <p:tag name="ORIGINALWIDTH" val="64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bx&#10;\end{align*}&#10;\end{document}"/>
  <p:tag name="IGUANATEXSIZE" val="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2.5"/>
  <p:tag name="ORIGINALWIDTH" val="201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bx \dt B&#10;\end{align*}&#10;\end{document}"/>
  <p:tag name="IGUANATEXSIZE" val="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5"/>
  <p:tag name="ORIGINALWIDTH" val="466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bx \wdg (\bx \dt B)&#10;\end{align*}&#10;\end{document}"/>
  <p:tag name="IGUANATEXSIZE" val="2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5"/>
  <p:tag name="ORIGINALWIDTH" val="54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bx \wdg (\rho \bx \dt B)&#10;\end{align*}&#10;\end{document}"/>
  <p:tag name="IGUANATEXSIZE" val="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5.25"/>
  <p:tag name="ORIGINALWIDTH" val="573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Om_B=\Rrev \Om R&#10;\end{align*}&#10;\end{document}"/>
  <p:tag name="IGUANATEXSIZE" val="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9.5"/>
  <p:tag name="ORIGINALWIDTH" val="345.7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cli(\Om_B)&#10;\end{align*}&#10;\end{document}"/>
  <p:tag name="IGUANATEXSIZE" val="2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87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white}&#10;&#10;\begin{document}&#10;\begin{align*}&#10;L = R \cli(\Om_B) \Rrev&#10;\end{align*}&#10;\end{document}"/>
  <p:tag name="IGUANATEXSIZE" val="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4.140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dot{L} &amp;= \Rdot \cli (\Om_B) \Rrev +  R \cli(\Om_B) \dot{\Rrev} + R&#10;\cli(\dot{\Om}_B) \Rrev  \\&#10;&amp;= R[ \cli(\dot{\Om}_B) - \half \Om_B\cli(\Om_B)+ \half \cli(\Om_B)&#10;\Om_B ]\Rrev  \\  &#10;&amp;= R[\cli(\dot{\Om}_B) - \Omega_B \crs\cli(\Omega_B)] \Rrev&#10;\end{align*}&#10;\end{document}"/>
  <p:tag name="IGUANATEXSIZE" val="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1.793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A \times B = \half (AB - BA)&#10;\end{align*}&#10;\end{document}"/>
  <p:tag name="IGUANATEXSIZE" val="2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0.882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white}&#10;&#10;\begin{document}&#10;\begin{align*}&#10;\cli(I\mb{e}_k) = i_k I \mb{e}_k &#10;\end{align*}&#10;\end{document}"/>
  <p:tag name="IGUANATEXSIZE" val="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8.2055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N = R[\cli(\dot{\Om}_B) - \Omega_B \crs\cli(\Omega_B)] \Rrev&#10;\end{align*}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05"/>
  <p:tag name="ORIGINALWIDTH" val="301.286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\Om &amp;= \sum_{k=1}^3 \omega_k I \mb{f}_k \\&#10;\Om_B &amp;= \sum_{k=1}^3 \omega_k&#10;I \mb{e}_k \\&#10;L &amp;= \sum_{k=1}^3 i_k \omega_k I \mb{f}_k&#10;\end{align*}&#10;\end{document}"/>
  <p:tag name="IGUANATEXSIZE" val="2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61.224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i_1 \dot{\om}_1 - \om_2 \om_3 (i_2 - i_3) &amp;= N_1  \\&#10;i_2 \dot{\om}_2 - \om_3 \om_1 (i_3 - i_1) &amp;= N_2  \\&#10;i_3 \dot{\om}_3 - \om_1 \om_2 (i_1 - i_2) &amp;= N_3&#10;\end{align*}&#10;\end{document}"/>
  <p:tag name="IGUANATEXSIZE" val="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8.6663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T =  \half \int  d^3\! x \, \rho (R \, \mb{x} \dt \Omega_B \, \Rrev)^2&#10;=  \half \int  d^3\! x \, \rho  (\mb{x} \dt \Omega_B)^2 &#10;\end{align*}&#10;\end{document}"/>
  <p:tag name="IGUANATEXSIZE" val="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4.25756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(\mb{x} \dt \Omega_B)^2 = \la \mb{x} \dt \Omega_B \mb{x} \Om_B \ra = -&#10;\Om_B \dt \bigl(\mb{x} \wdg (\mb{x} \dt \Om_B) \bigr) &#10;\end{align*}&#10;\end{document}"/>
  <p:tag name="IGUANATEXSIZE" val="2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.5659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white}&#10;&#10;\begin{document}&#10;\begin{align*}&#10;T = - \half \Om_B \dt \cli(\Om_B) = \half \tilde{\Om}_B \dt&#10;\cli(\Om_B)&#10;\end{align*}&#10;\end{document}"/>
  <p:tag name="IGUANATEXSIZE" val="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94.0168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T = \half \sum_{k=1}^3 i_k \omega_k^2 &#10; = \half \sum_{k=1}^3 \frac{L_k^2}{i_k}&#10;\end{align*}&#10;\end{document}"/>
  <p:tag name="IGUANATEXSIZE" val="2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75"/>
  <p:tag name="ORIGINALWIDTH" val="314.2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i_1 = i_2&#10;\end{align*}&#10;\end{document}"/>
  <p:tag name="IGUANATEXSIZE" val="2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9.6845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cli(\Om_B) &amp;= i_1 \om_1 \mb{e}_2 \mb{e}_3&#10;+ i_1 \om_2 \mb{e}_3 \mb{e}_1 + i_3 \om_3 \mb{e}_1 \mb{e}_2  \\&#10;&amp;= i_1 \Om_B + (i_3 - i_1) \om_3 I \mb{e}_3&#10;\end{align*}&#10;\end{document}"/>
  <p:tag name="IGUANATEXSIZE" val="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430.5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cli}{\mathcal{I}}&#10;&#10;\definecolor{myGrey}{RGB}{62,62,64}&#10;\color{myGrey}&#10;&#10;\begin{document}&#10;\begin{align*}&#10;i_3 \dot{\omega}_3 = 0&#10;\end{align*}&#10;\end{document}"/>
  <p:tag name="IGUANATEXSIZE" val="2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6277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Om = R \Om_B \Rrev = \frac{1}{i_1} L +  \frac{i_1 - i_3}{i_1} \om_3 &#10;R I \mb{e}_3 \Rrev&#10;\end{align*}&#10;\end{document}"/>
  <p:tag name="IGUANATEXSIZE" val="2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0.9394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Rdot = -\half \Omega R = -\frac{1}{2i_1} (L R + R (i_1-i_3) \om_3 I&#10;\mb{e}_3) &#10;\end{align*}&#10;\end{document}"/>
  <p:tag name="IGUANATEXSIZE" val="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14.4809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Omega_l = \frac{1}{i_1} L, \qquad \Omega_r = \om_3&#10;\frac{i_1-i_3}{i_1} I \mb{e}_3&#10;\end{align*}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7.2675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myGrey}&#10;&#10;\begin{document}&#10;\begin{align*}&#10;\Rdot = - \half \Omega_l R - \half R \Om_r &#10;\end{align*}&#10;\end{document}"/>
  <p:tag name="IGUANATEXSIZE" val="2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3.97921"/>
  <p:tag name="ORIGINALWIDTH" val="720"/>
  <p:tag name="LATEXADDIN" val="\documentclass{article}&#10;\usepackage{amsmath}&#10;\usepackage{color}&#10;\pagestyle{empty}&#10;\usepackage{lmodern}&#10;\usepackage[T1]{fontenc}&#10;\usepackage{microtype}&#10;&#10;\usepackage{newtxtext}&#10;\usepackage{newtxmath}&#10;\usepackage{bm}&#10;&#10;\newcommand{\bom}{\bm{\omega}}&#10;\newcommand{\ba}{\bm{a}}&#10;\newcommand{\bb}{\bm{b}}&#10;\newcommand{\bc}{\bm{c}}&#10;\newcommand{\be}{\bm{e}}&#10;\newcommand{\bi}{\bm{i}}&#10;\newcommand{\bj}{\bm{j}}&#10;\newcommand{\bk}{\bm{k}}&#10;\newcommand{\bl}{\bm{l}}&#10;\newcommand{\bldm}{\bm{m}}&#10;\newcommand{\bn}{\bm{n}}&#10;\newcommand{\bldf}{\bm{f}}&#10;\newcommand{\bp}{\bm{p}}&#10;\newcommand{\bv}{\bm{v}}&#10;\newcommand{\bx}{\bm{x}}&#10;\newcommand{\dt}{\! \cdot \!}&#10;\newcommand{\wdg}{\! \wedge \!}&#10;\newcommand{\crs}{\! \times \!}&#10;\newcommand{\scp}{\! \ast \!}&#10;\newcommand{\blde}{\be}&#10;\newcommand{\half}{{\textstyle \frac{1}{2}}}&#10;\newcommand{\la}{\langle}&#10;\newcommand{\ra}{\rangle}&#10;\newcommand{\Rrev}{\tilde{R}}&#10;\newcommand{\Rdot}{\dot{R}}&#10;\newcommand{\mb}[1]{\bm{#1}}&#10;\newcommand{\Om}{\Omega}&#10;\newcommand{\om}{\omega}&#10;\newcommand{\cli}{\mathcal{I}}&#10;&#10;\definecolor{myGrey}{RGB}{62,62,64}&#10;\color{white}&#10;&#10;\begin{document}&#10;\begin{align*}&#10;R(t) = \exp(-\half \Omega_l t)R_0 \exp(-\half \Omega_r t)&#10;\end{align*}&#10;\end{document}"/>
  <p:tag name="IGUANATEXSIZE" val="20"/>
</p:tagLst>
</file>

<file path=ppt/theme/theme1.xml><?xml version="1.0" encoding="utf-8"?>
<a:theme xmlns:a="http://schemas.openxmlformats.org/drawingml/2006/main" name="Office Theme">
  <a:themeElements>
    <a:clrScheme name="Geometric Algebra">
      <a:dk1>
        <a:srgbClr val="3E3E40"/>
      </a:dk1>
      <a:lt1>
        <a:sysClr val="window" lastClr="FFFFFF"/>
      </a:lt1>
      <a:dk2>
        <a:srgbClr val="8C8C8C"/>
      </a:dk2>
      <a:lt2>
        <a:srgbClr val="35AFA9"/>
      </a:lt2>
      <a:accent1>
        <a:srgbClr val="007997"/>
      </a:accent1>
      <a:accent2>
        <a:srgbClr val="85E8BA"/>
      </a:accent2>
      <a:accent3>
        <a:srgbClr val="004983"/>
      </a:accent3>
      <a:accent4>
        <a:srgbClr val="F4F4F4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0" rIns="0" bIns="0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2733</TotalTime>
  <Words>555</Words>
  <Application>Microsoft Office PowerPoint</Application>
  <PresentationFormat>On-screen Show (16:9)</PresentationFormat>
  <Paragraphs>131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Geometric Algebra</vt:lpstr>
      <vt:lpstr>Recap</vt:lpstr>
      <vt:lpstr>Inner product</vt:lpstr>
      <vt:lpstr>Angular momentum</vt:lpstr>
      <vt:lpstr>Torque</vt:lpstr>
      <vt:lpstr>Inverse-square force</vt:lpstr>
      <vt:lpstr>Rotating frames</vt:lpstr>
      <vt:lpstr>Rotor derivatives</vt:lpstr>
      <vt:lpstr>Constant angular velocity</vt:lpstr>
      <vt:lpstr>Rigid-body dynamics</vt:lpstr>
      <vt:lpstr>Velocity and momentum</vt:lpstr>
      <vt:lpstr>Angular momentum</vt:lpstr>
      <vt:lpstr>The inertia tensor</vt:lpstr>
      <vt:lpstr>Equations of motion</vt:lpstr>
      <vt:lpstr>Equations of motion</vt:lpstr>
      <vt:lpstr>Kinetic energy</vt:lpstr>
      <vt:lpstr>Symmetric top</vt:lpstr>
      <vt:lpstr>Symmetric top</vt:lpstr>
      <vt:lpstr>Resources</vt:lpstr>
    </vt:vector>
  </TitlesOfParts>
  <Company>Arm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Chris Doran</dc:creator>
  <cp:lastModifiedBy>Chris Doran</cp:lastModifiedBy>
  <cp:revision>181</cp:revision>
  <dcterms:created xsi:type="dcterms:W3CDTF">2015-03-03T13:28:34Z</dcterms:created>
  <dcterms:modified xsi:type="dcterms:W3CDTF">2015-10-12T11:46:43Z</dcterms:modified>
</cp:coreProperties>
</file>