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303" r:id="rId3"/>
    <p:sldId id="305" r:id="rId4"/>
    <p:sldId id="307" r:id="rId5"/>
    <p:sldId id="316" r:id="rId6"/>
    <p:sldId id="317" r:id="rId7"/>
    <p:sldId id="318" r:id="rId8"/>
    <p:sldId id="319" r:id="rId9"/>
    <p:sldId id="320" r:id="rId10"/>
    <p:sldId id="312" r:id="rId11"/>
    <p:sldId id="313" r:id="rId12"/>
    <p:sldId id="314" r:id="rId13"/>
    <p:sldId id="309" r:id="rId14"/>
    <p:sldId id="308" r:id="rId15"/>
    <p:sldId id="321" r:id="rId16"/>
    <p:sldId id="322" r:id="rId17"/>
    <p:sldId id="310" r:id="rId18"/>
    <p:sldId id="323" r:id="rId19"/>
    <p:sldId id="311" r:id="rId20"/>
    <p:sldId id="324" r:id="rId21"/>
    <p:sldId id="325" r:id="rId22"/>
    <p:sldId id="326" r:id="rId23"/>
    <p:sldId id="286" r:id="rId24"/>
  </p:sldIdLst>
  <p:sldSz cx="9144000" cy="5143500" type="screen16x9"/>
  <p:notesSz cx="6858000" cy="9144000"/>
  <p:defaultTextStyle>
    <a:defPPr>
      <a:defRPr lang="en-US"/>
    </a:defPPr>
    <a:lvl1pPr marL="0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7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1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5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7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1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6" autoAdjust="0"/>
    <p:restoredTop sz="96198" autoAdjust="0"/>
  </p:normalViewPr>
  <p:slideViewPr>
    <p:cSldViewPr snapToObjects="1">
      <p:cViewPr>
        <p:scale>
          <a:sx n="130" d="100"/>
          <a:sy n="130" d="100"/>
        </p:scale>
        <p:origin x="-882" y="-456"/>
      </p:cViewPr>
      <p:guideLst>
        <p:guide orient="horz" pos="826"/>
        <p:guide orient="horz" pos="2414"/>
        <p:guide orient="horz" pos="1592"/>
        <p:guide orient="horz" pos="2159"/>
        <p:guide orient="horz" pos="1081"/>
        <p:guide pos="1916"/>
        <p:guide pos="1463"/>
        <p:guide pos="4297"/>
        <p:guide pos="288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8" d="100"/>
          <a:sy n="68" d="100"/>
        </p:scale>
        <p:origin x="-2957" y="-77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263D-BE7B-41CB-A452-A64594516A32}" type="datetimeFigureOut">
              <a:rPr lang="en-GB" smtClean="0"/>
              <a:t>03/11/2016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19049-0C35-4A94-BC87-3EE767BE1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116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AC06E-65D4-4CC2-B345-9F25CE0DBBC4}" type="datetimeFigureOut">
              <a:rPr lang="en-GB" smtClean="0"/>
              <a:t>03/11/2016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19D0C-A623-4134-ACE2-8871D95CA7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1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7B33-9D94-437F-A20B-8BFA82417D40}" type="datetime1">
              <a:rPr lang="en-GB" smtClean="0"/>
              <a:t>03/11/2016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01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8229600" cy="653143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326570"/>
            <a:ext cx="457201" cy="4665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E4742-147F-4825-A015-3CB86B608FC1}" type="datetime1">
              <a:rPr lang="en-GB" smtClean="0"/>
              <a:t>03/11/2016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086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7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003C-4227-4696-BFCF-1F7456AC2B5F}" type="datetime1">
              <a:rPr lang="en-GB" smtClean="0"/>
              <a:t>03/11/2016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6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A1F6-6C4F-47AD-8BF9-B92975FCBA67}" type="datetime1">
              <a:rPr lang="en-GB" smtClean="0"/>
              <a:t>03/11/2016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CD4D-CF8E-4775-8D2E-D873B7F9B53B}" type="datetime1">
              <a:rPr lang="en-GB" smtClean="0"/>
              <a:t>03/11/2016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4E0E-D6E0-452F-9047-36E8BAC66091}" type="datetime1">
              <a:rPr lang="en-GB" smtClean="0"/>
              <a:t>03/11/2016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5025-CACB-4394-A7D6-8687D1BAF894}" type="datetime1">
              <a:rPr lang="en-GB" smtClean="0"/>
              <a:t>03/11/2016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8D3C-C7B9-42E1-9D72-B22685548B29}" type="datetime1">
              <a:rPr lang="en-GB" smtClean="0"/>
              <a:t>03/11/2016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6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39" indent="0">
              <a:buNone/>
              <a:defRPr sz="2800"/>
            </a:lvl2pPr>
            <a:lvl3pPr marL="914279" indent="0">
              <a:buNone/>
              <a:defRPr sz="2400"/>
            </a:lvl3pPr>
            <a:lvl4pPr marL="1371419" indent="0">
              <a:buNone/>
              <a:defRPr sz="2000"/>
            </a:lvl4pPr>
            <a:lvl5pPr marL="1828559" indent="0">
              <a:buNone/>
              <a:defRPr sz="2000"/>
            </a:lvl5pPr>
            <a:lvl6pPr marL="2285698" indent="0">
              <a:buNone/>
              <a:defRPr sz="2000"/>
            </a:lvl6pPr>
            <a:lvl7pPr marL="2742837" indent="0">
              <a:buNone/>
              <a:defRPr sz="2000"/>
            </a:lvl7pPr>
            <a:lvl8pPr marL="3199978" indent="0">
              <a:buNone/>
              <a:defRPr sz="2000"/>
            </a:lvl8pPr>
            <a:lvl9pPr marL="365711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3347-173D-48F0-B256-5111788141DC}" type="datetime1">
              <a:rPr lang="en-GB" smtClean="0"/>
              <a:t>03/11/2016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337B-ABAC-442C-9708-72A06255798E}" type="datetime1">
              <a:rPr lang="en-GB" smtClean="0"/>
              <a:t>03/11/2016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0"/>
            <a:ext cx="2057400" cy="43886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463A-B911-47DD-982F-B9B5D0F839D3}" type="datetime1">
              <a:rPr lang="en-GB" smtClean="0"/>
              <a:t>03/11/2016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65"/>
            <a:ext cx="2133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D149-B732-4901-B4FD-02CF7BCB0915}" type="datetime1">
              <a:rPr lang="en-GB" smtClean="0"/>
              <a:t>03/11/2016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65"/>
            <a:ext cx="2895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273843"/>
          </a:xfrm>
          <a:prstGeom prst="rect">
            <a:avLst/>
          </a:prstGeom>
          <a:solidFill>
            <a:schemeClr val="bg1"/>
          </a:solidFill>
        </p:spPr>
        <p:txBody>
          <a:bodyPr vert="horz" lIns="91428" tIns="45714" rIns="91428" bIns="45714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10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7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4" indent="-342854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2" indent="-285713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2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7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1.png"/><Relationship Id="rId5" Type="http://schemas.openxmlformats.org/officeDocument/2006/relationships/tags" Target="../tags/tag10.xml"/><Relationship Id="rId10" Type="http://schemas.openxmlformats.org/officeDocument/2006/relationships/image" Target="../media/image10.png"/><Relationship Id="rId4" Type="http://schemas.openxmlformats.org/officeDocument/2006/relationships/tags" Target="../tags/tag9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225" y="1716321"/>
            <a:ext cx="6467256" cy="720414"/>
          </a:xfrm>
        </p:spPr>
        <p:txBody>
          <a:bodyPr>
            <a:normAutofit/>
          </a:bodyPr>
          <a:lstStyle/>
          <a:p>
            <a:pPr algn="r"/>
            <a:r>
              <a:rPr lang="en-GB" sz="3200" dirty="0" smtClean="0"/>
              <a:t>Geometric Algebra</a:t>
            </a:r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-1" y="2104724"/>
            <a:ext cx="2096725" cy="773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2591780" y="2392064"/>
            <a:ext cx="6210690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89717" y="3860634"/>
            <a:ext cx="180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Dr Chris Doran</a:t>
            </a:r>
          </a:p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ARM Research</a:t>
            </a:r>
          </a:p>
        </p:txBody>
      </p:sp>
      <p:pic>
        <p:nvPicPr>
          <p:cNvPr id="8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-14263" y="1699680"/>
            <a:ext cx="1343885" cy="11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86935" y="2498297"/>
            <a:ext cx="48155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 smtClean="0"/>
              <a:t>7.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716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1311610"/>
            <a:ext cx="9144000" cy="2925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Implementation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646675" y="1536635"/>
            <a:ext cx="5130570" cy="244682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400" dirty="0" smtClean="0">
                <a:solidFill>
                  <a:schemeClr val="bg1"/>
                </a:solidFill>
              </a:rPr>
              <a:t>What is the appropriate data structure?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400" dirty="0" smtClean="0">
                <a:solidFill>
                  <a:schemeClr val="bg1"/>
                </a:solidFill>
              </a:rPr>
              <a:t>How do we implement the geometric product?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chemeClr val="bg1"/>
                </a:solidFill>
              </a:rPr>
              <a:t>Symbolic computation with Maple</a:t>
            </a:r>
            <a:endParaRPr lang="en-GB" sz="2400" dirty="0" smtClean="0">
              <a:solidFill>
                <a:schemeClr val="bg1"/>
              </a:solidFill>
            </a:endParaRP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400" dirty="0" smtClean="0">
                <a:solidFill>
                  <a:schemeClr val="bg1"/>
                </a:solidFill>
              </a:rPr>
              <a:t>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353963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Large array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2527300"/>
            <a:ext cx="9144000" cy="261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>
            <a:stCxn id="7" idx="0"/>
            <a:endCxn id="7" idx="2"/>
          </p:cNvCxnSpPr>
          <p:nvPr/>
        </p:nvCxnSpPr>
        <p:spPr>
          <a:xfrm>
            <a:off x="4572000" y="2527300"/>
            <a:ext cx="0" cy="26162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2211710"/>
            <a:ext cx="4571999" cy="315590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11710"/>
            <a:ext cx="4572000" cy="315590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Against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177328"/>
            <a:ext cx="2759812" cy="2753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1569" y="1177328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Vectors in 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17" y="501520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Type: [Float]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569" y="1678908"/>
            <a:ext cx="16651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Bivector in 4D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685519"/>
            <a:ext cx="5701894" cy="2753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1510" y="2706765"/>
            <a:ext cx="4320480" cy="1692771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Arrays are a hardware friendly data structure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Objects are fairly strongly typed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Do not need a separate multiplication matrix for each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025" y="2706765"/>
            <a:ext cx="4140460" cy="2385268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Very verbose and wasteful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Need to know the dimension of the space up front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Hard to move between dimensions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Need a separate implementation of the product for each dimension and signature</a:t>
            </a:r>
          </a:p>
        </p:txBody>
      </p:sp>
    </p:spTree>
    <p:extLst>
      <p:ext uri="{BB962C8B-B14F-4D97-AF65-F5344CB8AC3E}">
        <p14:creationId xmlns:p14="http://schemas.microsoft.com/office/powerpoint/2010/main" val="250653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Compact array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2527300"/>
            <a:ext cx="9144000" cy="261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>
            <a:stCxn id="7" idx="0"/>
            <a:endCxn id="7" idx="2"/>
          </p:cNvCxnSpPr>
          <p:nvPr/>
        </p:nvCxnSpPr>
        <p:spPr>
          <a:xfrm>
            <a:off x="4572000" y="2527300"/>
            <a:ext cx="0" cy="26162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2211710"/>
            <a:ext cx="4571999" cy="315590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11710"/>
            <a:ext cx="4572000" cy="315590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Against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177328"/>
            <a:ext cx="1448257" cy="2714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1569" y="1177328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Vectors in 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17" y="501520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Type: [Float]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569" y="1678908"/>
            <a:ext cx="16651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Bivector in 3D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513" y="1685519"/>
            <a:ext cx="1444295" cy="271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1510" y="2706765"/>
            <a:ext cx="4320480" cy="1692771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Arrays are a compact data structure – hardware friendly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Most familiar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Difficult to imagine a more compact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025" y="2629817"/>
            <a:ext cx="4140460" cy="246221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Objects are </a:t>
            </a:r>
            <a:r>
              <a:rPr lang="en-GB" sz="2000" dirty="0" smtClean="0"/>
              <a:t>no-longer </a:t>
            </a:r>
            <a:r>
              <a:rPr lang="en-GB" sz="2000" dirty="0"/>
              <a:t>typed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Size of the space needed up front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Hard to move between dimensions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S</a:t>
            </a:r>
            <a:r>
              <a:rPr lang="en-GB" sz="2000" dirty="0" smtClean="0"/>
              <a:t>eparate implementation of the product for each dimension, signature and grade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Sum of different grades?</a:t>
            </a:r>
            <a:endParaRPr lang="en-GB" sz="2000" dirty="0" smtClean="0"/>
          </a:p>
        </p:txBody>
      </p:sp>
    </p:spTree>
    <p:extLst>
      <p:ext uri="{BB962C8B-B14F-4D97-AF65-F5344CB8AC3E}">
        <p14:creationId xmlns:p14="http://schemas.microsoft.com/office/powerpoint/2010/main" val="99539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Intrinsic Representation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2527300"/>
            <a:ext cx="9144000" cy="261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>
            <a:stCxn id="7" idx="0"/>
            <a:endCxn id="7" idx="2"/>
          </p:cNvCxnSpPr>
          <p:nvPr/>
        </p:nvCxnSpPr>
        <p:spPr>
          <a:xfrm>
            <a:off x="4572000" y="2527300"/>
            <a:ext cx="0" cy="26162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2211710"/>
            <a:ext cx="4571999" cy="315590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11710"/>
            <a:ext cx="4572000" cy="315590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Against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569" y="1177328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Vectors in 3D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569" y="1678908"/>
            <a:ext cx="2160241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As a sum of blades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510" y="2661760"/>
            <a:ext cx="4320480" cy="246221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Strongly typed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Dense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Only need to know how to multiply blade elements together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Multiplication is a map operator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Don’t need to know dimension of space…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7025" y="2661760"/>
            <a:ext cx="4140460" cy="2000548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Relying on typography to encode blades, etc.</a:t>
            </a:r>
            <a:endParaRPr lang="en-GB" sz="2000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Still need to compile down to a more basic structure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Need a way to calculate basis blade products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766" y="1177328"/>
            <a:ext cx="1594666" cy="2812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13408" y="1678907"/>
            <a:ext cx="3317181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1*e[1]+a2*e[2]+a3*e[3]</a:t>
            </a:r>
            <a:endParaRPr lang="en-GB" sz="2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76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Symbolic algebra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026" name="Picture 2" descr="http://www.maplesoft.com/images2015/Maple_logo_s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60" y="546525"/>
            <a:ext cx="1685925" cy="57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1716088"/>
            <a:ext cx="457200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341529" y="1896675"/>
            <a:ext cx="4005446" cy="27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000" dirty="0" smtClean="0">
                <a:solidFill>
                  <a:schemeClr val="bg1"/>
                </a:solidFill>
              </a:rPr>
              <a:t>Range of Symbolic Algebra packages are available:</a:t>
            </a:r>
          </a:p>
          <a:p>
            <a:pPr marL="285750" indent="-285750">
              <a:buFontTx/>
              <a:buChar char="-"/>
            </a:pPr>
            <a:r>
              <a:rPr lang="en-US" sz="2000" dirty="0" smtClean="0">
                <a:solidFill>
                  <a:schemeClr val="bg1"/>
                </a:solidFill>
              </a:rPr>
              <a:t>Maple</a:t>
            </a:r>
          </a:p>
          <a:p>
            <a:pPr marL="285750" indent="-285750">
              <a:buFontTx/>
              <a:buChar char="-"/>
            </a:pPr>
            <a:r>
              <a:rPr lang="en-US" sz="2000" dirty="0" smtClean="0">
                <a:solidFill>
                  <a:schemeClr val="bg1"/>
                </a:solidFill>
              </a:rPr>
              <a:t>Mathematica</a:t>
            </a:r>
          </a:p>
          <a:p>
            <a:pPr marL="285750" indent="-285750">
              <a:buFontTx/>
              <a:buChar char="-"/>
            </a:pPr>
            <a:r>
              <a:rPr lang="en-US" sz="2000" dirty="0" smtClean="0">
                <a:solidFill>
                  <a:schemeClr val="bg1"/>
                </a:solidFill>
              </a:rPr>
              <a:t>Maxima</a:t>
            </a:r>
          </a:p>
          <a:p>
            <a:pPr marL="285750" indent="-285750">
              <a:buFontTx/>
              <a:buChar char="-"/>
            </a:pPr>
            <a:r>
              <a:rPr lang="en-US" sz="2000" dirty="0" err="1" smtClean="0">
                <a:solidFill>
                  <a:schemeClr val="bg1"/>
                </a:solidFill>
              </a:rPr>
              <a:t>SymPy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A good GA implementation for Maple has existed for 20 years:</a:t>
            </a:r>
          </a:p>
          <a:p>
            <a:r>
              <a:rPr lang="en-GB" sz="2000" dirty="0">
                <a:solidFill>
                  <a:schemeClr val="bg1"/>
                </a:solidFill>
              </a:rPr>
              <a:t>http://geometry.mrao.cam.ac.uk/2016/11/symbolic-algebra-and-ga/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716088"/>
            <a:ext cx="45720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4797025" y="1851670"/>
            <a:ext cx="4095455" cy="315471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SA (Euclidean space)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STA (Spacetime algebra)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MSTA (</a:t>
            </a:r>
            <a:r>
              <a:rPr lang="en-US" sz="2000" dirty="0" err="1" smtClean="0"/>
              <a:t>Multiparticle</a:t>
            </a:r>
            <a:r>
              <a:rPr lang="en-US" sz="2000" dirty="0" smtClean="0"/>
              <a:t> STA)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Default (e[</a:t>
            </a:r>
            <a:r>
              <a:rPr lang="en-US" sz="2000" dirty="0" err="1" smtClean="0"/>
              <a:t>i</a:t>
            </a:r>
            <a:r>
              <a:rPr lang="en-US" sz="2000" dirty="0" smtClean="0"/>
              <a:t>] has positive norm, and e[-</a:t>
            </a:r>
            <a:r>
              <a:rPr lang="en-US" sz="2000" dirty="0" err="1" smtClean="0"/>
              <a:t>i</a:t>
            </a:r>
            <a:r>
              <a:rPr lang="en-US" sz="2000" dirty="0" smtClean="0"/>
              <a:t>] has negative norm)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 smtClean="0"/>
              <a:t>Multivectors</a:t>
            </a:r>
            <a:r>
              <a:rPr lang="en-US" sz="2000" dirty="0" smtClean="0"/>
              <a:t> are built up symbolically or numerically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Great for complex algebraic work (gauge theory gravity)</a:t>
            </a:r>
            <a:endParaRPr lang="en-GB" sz="2000" dirty="0" smtClean="0"/>
          </a:p>
        </p:txBody>
      </p:sp>
    </p:spTree>
    <p:extLst>
      <p:ext uri="{BB962C8B-B14F-4D97-AF65-F5344CB8AC3E}">
        <p14:creationId xmlns:p14="http://schemas.microsoft.com/office/powerpoint/2010/main" val="21952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572000" y="3832225"/>
            <a:ext cx="4572000" cy="13112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311610"/>
            <a:ext cx="4572000" cy="38318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1420" y="1498888"/>
            <a:ext cx="2590380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bg1"/>
                </a:solidFill>
              </a:rPr>
              <a:t>Intersection of two lines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5787135" y="681540"/>
            <a:ext cx="2340260" cy="148516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7272300" y="501520"/>
            <a:ext cx="765085" cy="18002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6" y="1941680"/>
            <a:ext cx="1711543" cy="27396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324" y="1777238"/>
            <a:ext cx="309029" cy="2694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185" y="1425471"/>
            <a:ext cx="328838" cy="26941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486" y="2046648"/>
            <a:ext cx="293181" cy="26346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394" y="1179876"/>
            <a:ext cx="312991" cy="2634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49038" y="2706765"/>
            <a:ext cx="3881438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res = 11*e[1]+9*e[2]+2*e[3]</a:t>
            </a:r>
            <a:endParaRPr lang="en-GB" sz="2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353" y="3311508"/>
            <a:ext cx="1796724" cy="2852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32040" y="4469218"/>
            <a:ext cx="1624410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res = -e[1]</a:t>
            </a:r>
            <a:endParaRPr lang="en-GB" sz="2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0311" y="4014641"/>
            <a:ext cx="2202645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/>
              <a:t>Case of parallel lines</a:t>
            </a:r>
            <a:endParaRPr lang="en-GB" sz="2000" dirty="0" smtClean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7429817" y="4371950"/>
            <a:ext cx="1395155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429817" y="4731990"/>
            <a:ext cx="1395155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43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746575" y="1041580"/>
            <a:ext cx="5355595" cy="223138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vderiv2 := proc(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mvin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local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tx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, ty, res;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tx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:= diff(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mvin,x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ty := diff(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mvin,y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  res := e[1]&amp;@</a:t>
            </a:r>
            <a:r>
              <a:rPr lang="en-GB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tx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 + e[2]&amp;@ty;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end:</a:t>
            </a:r>
            <a:endParaRPr lang="en-GB" sz="2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82090" y="1520664"/>
            <a:ext cx="2880320" cy="123110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/>
              <a:t>Maple procedure for 2d vector derivative for multivector function of x and y</a:t>
            </a:r>
            <a:endParaRPr lang="en-GB" sz="20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0" y="3427413"/>
            <a:ext cx="9144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441665" y="3786885"/>
            <a:ext cx="2392377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Boosting a null vector:</a:t>
            </a:r>
            <a:endParaRPr lang="en-GB" sz="2000" dirty="0" smtClean="0">
              <a:solidFill>
                <a:schemeClr val="accent5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71900" y="3741880"/>
            <a:ext cx="3291661" cy="1077218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accent5"/>
                </a:solidFill>
              </a:rPr>
              <a:t>n := e[0] + e[1];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accent5"/>
                </a:solidFill>
              </a:rPr>
              <a:t>res := psi</a:t>
            </a:r>
            <a:r>
              <a:rPr lang="en-GB" sz="2000" dirty="0">
                <a:solidFill>
                  <a:schemeClr val="accent5"/>
                </a:solidFill>
              </a:rPr>
              <a:t>&amp;@</a:t>
            </a:r>
            <a:r>
              <a:rPr lang="en-GB" sz="2000" dirty="0" err="1">
                <a:solidFill>
                  <a:schemeClr val="accent5"/>
                </a:solidFill>
              </a:rPr>
              <a:t>nn</a:t>
            </a:r>
            <a:r>
              <a:rPr lang="en-GB" sz="2000" dirty="0">
                <a:solidFill>
                  <a:schemeClr val="accent5"/>
                </a:solidFill>
              </a:rPr>
              <a:t>&amp;@reverse(psi</a:t>
            </a:r>
            <a:r>
              <a:rPr lang="en-GB" sz="2000" dirty="0" smtClean="0">
                <a:solidFill>
                  <a:schemeClr val="accent5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solidFill>
                  <a:schemeClr val="accent5"/>
                </a:solidFill>
              </a:rPr>
              <a:t>4*e[0]+4*e[1]</a:t>
            </a:r>
            <a:endParaRPr lang="en-GB" sz="2000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081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GA Code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311610"/>
            <a:ext cx="9144000" cy="2925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61610" y="1491630"/>
            <a:ext cx="6833528" cy="2616101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Want a representation where: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accent5"/>
                </a:solidFill>
              </a:rPr>
              <a:t>Multivectors</a:t>
            </a:r>
            <a:r>
              <a:rPr lang="en-US" sz="2000" dirty="0" smtClean="0">
                <a:solidFill>
                  <a:schemeClr val="accent5"/>
                </a:solidFill>
              </a:rPr>
              <a:t> are encoded as dense lists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5"/>
                </a:solidFill>
              </a:rPr>
              <a:t>We carry round the blade and coefficient together (in a tuple)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5"/>
                </a:solidFill>
              </a:rPr>
              <a:t>We have a geometric product and a projection operator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5"/>
                </a:solidFill>
              </a:rPr>
              <a:t>The geometric product works on the individual blades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5"/>
                </a:solidFill>
              </a:rPr>
              <a:t>Ideally, do not multiply coefficients when result is not needed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5"/>
                </a:solidFill>
              </a:rPr>
              <a:t>All expressed in a functional programming language</a:t>
            </a:r>
            <a:endParaRPr lang="en-GB" sz="2000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6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Why Haskell?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466407" y="1307982"/>
            <a:ext cx="5654453" cy="1938992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altLang="en-US" dirty="0" smtClean="0"/>
              <a:t>Functions are first-class citizens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 smtClean="0"/>
              <a:t>The can be passed around like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 smtClean="0"/>
              <a:t>Output of a function can be a function</a:t>
            </a:r>
          </a:p>
          <a:p>
            <a:r>
              <a:rPr lang="en-GB" altLang="en-US" dirty="0" smtClean="0"/>
              <a:t>Gives rise to the idea of higher-order functions</a:t>
            </a:r>
            <a:endParaRPr lang="en-GB" altLang="en-US" dirty="0"/>
          </a:p>
          <a:p>
            <a:r>
              <a:rPr lang="en-GB" altLang="en-US" dirty="0"/>
              <a:t>Functional languages are currently generating considerable interest: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/>
              <a:t>Haskell, Scala, ML, </a:t>
            </a:r>
            <a:r>
              <a:rPr lang="en-GB" altLang="en-US" dirty="0" err="1" smtClean="0"/>
              <a:t>Ocaml</a:t>
            </a:r>
            <a:r>
              <a:rPr lang="en-GB" altLang="en-US" dirty="0" smtClean="0"/>
              <a:t>, F#</a:t>
            </a:r>
            <a:endParaRPr lang="en-GB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6407" y="996575"/>
            <a:ext cx="1279484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407" y="3689617"/>
            <a:ext cx="5654453" cy="2077492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altLang="en-US" dirty="0" smtClean="0"/>
              <a:t>(Nearly) all data is immutable: </a:t>
            </a:r>
            <a:r>
              <a:rPr lang="en-GB" altLang="en-US" dirty="0"/>
              <a:t>n</a:t>
            </a:r>
            <a:r>
              <a:rPr lang="en-GB" altLang="en-US" dirty="0" smtClean="0"/>
              <a:t>ever </a:t>
            </a:r>
            <a:r>
              <a:rPr lang="en-GB" altLang="en-US" dirty="0"/>
              <a:t>change a </a:t>
            </a:r>
            <a:r>
              <a:rPr lang="en-GB" altLang="en-US" dirty="0" smtClean="0"/>
              <a:t>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 smtClean="0"/>
              <a:t>Always </a:t>
            </a:r>
            <a:r>
              <a:rPr lang="en-GB" altLang="en-US" dirty="0"/>
              <a:t>create a new variable, then let garbage collector free up </a:t>
            </a:r>
            <a:r>
              <a:rPr lang="en-GB" altLang="en-US" dirty="0" smtClean="0"/>
              <a:t>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 smtClean="0"/>
              <a:t>No messing around with pointers! </a:t>
            </a:r>
          </a:p>
          <a:p>
            <a:r>
              <a:rPr lang="en-GB" altLang="en-US" dirty="0" smtClean="0"/>
              <a:t>Linked lists are the natural data type</a:t>
            </a:r>
            <a:endParaRPr lang="en-GB" altLang="en-US" dirty="0"/>
          </a:p>
          <a:p>
            <a:pPr>
              <a:spcAft>
                <a:spcPts val="600"/>
              </a:spcAft>
            </a:pPr>
            <a:endParaRPr lang="en-GB" sz="2000" dirty="0"/>
          </a:p>
          <a:p>
            <a:pPr>
              <a:spcAft>
                <a:spcPts val="600"/>
              </a:spcAft>
            </a:pPr>
            <a:endParaRPr lang="en-GB" sz="20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466407" y="3381840"/>
            <a:ext cx="1900348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Immutable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860" y="1311275"/>
            <a:ext cx="3041650" cy="38396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12" name="Picture 2" descr="http://jvmgeek.com/wp-content/uploads/sites/2/2015/04/xkcd-functional-252x3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740" y="1941680"/>
            <a:ext cx="2074073" cy="246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80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120860" y="1311275"/>
            <a:ext cx="3041650" cy="38396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Why Haskell?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66407" y="1010363"/>
            <a:ext cx="1279484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Purity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1770"/>
            <a:ext cx="6725089" cy="138499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dirty="0"/>
              <a:t>Functions are pure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Always return same output for same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No </a:t>
            </a:r>
            <a:r>
              <a:rPr lang="en-GB" dirty="0" smtClean="0"/>
              <a:t>side-effects</a:t>
            </a:r>
          </a:p>
          <a:p>
            <a:r>
              <a:rPr lang="en-GB" dirty="0" smtClean="0"/>
              <a:t>Natural match for scientific computing</a:t>
            </a:r>
          </a:p>
          <a:p>
            <a:r>
              <a:rPr lang="en-GB" dirty="0" smtClean="0"/>
              <a:t>Evaluations are thread-safe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466407" y="2900573"/>
            <a:ext cx="1585313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Strong typing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1" y="3201820"/>
            <a:ext cx="6230034" cy="1938992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dirty="0" smtClean="0"/>
              <a:t>Haskell is strongly typed, and statically typed</a:t>
            </a:r>
          </a:p>
          <a:p>
            <a:r>
              <a:rPr lang="en-GB" altLang="en-US" dirty="0"/>
              <a:t>All code is checked for type integrity before compilation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/>
              <a:t>A lot of bugs are caught this way!</a:t>
            </a:r>
          </a:p>
          <a:p>
            <a:r>
              <a:rPr lang="en-GB" altLang="en-US" dirty="0" smtClean="0"/>
              <a:t>Strongly typed </a:t>
            </a:r>
            <a:r>
              <a:rPr lang="en-GB" altLang="en-US" dirty="0" err="1"/>
              <a:t>multivectors</a:t>
            </a:r>
            <a:r>
              <a:rPr lang="en-GB" altLang="en-US" dirty="0"/>
              <a:t> can remove </a:t>
            </a:r>
            <a:r>
              <a:rPr lang="en-GB" altLang="en-US" dirty="0" smtClean="0"/>
              <a:t>ambiguity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 smtClean="0"/>
              <a:t>Are </a:t>
            </a:r>
            <a:r>
              <a:rPr lang="en-GB" altLang="en-US" dirty="0"/>
              <a:t>4 numbers </a:t>
            </a:r>
            <a:r>
              <a:rPr lang="en-GB" altLang="en-US" dirty="0" smtClean="0"/>
              <a:t>a quaternion?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 smtClean="0"/>
              <a:t>or </a:t>
            </a:r>
            <a:r>
              <a:rPr lang="en-GB" altLang="en-US" dirty="0"/>
              <a:t>a projective vector </a:t>
            </a:r>
            <a:r>
              <a:rPr lang="en-GB" altLang="en-US" dirty="0" smtClean="0"/>
              <a:t>…</a:t>
            </a:r>
            <a:endParaRPr lang="en-GB" altLang="en-US" dirty="0"/>
          </a:p>
          <a:p>
            <a:endParaRPr lang="en-GB" dirty="0"/>
          </a:p>
        </p:txBody>
      </p:sp>
      <p:pic>
        <p:nvPicPr>
          <p:cNvPr id="12" name="Picture 2" descr="http://imgs.xkcd.com/comics/haske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445" y="1896675"/>
            <a:ext cx="1735005" cy="247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37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Why Haskell?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66407" y="1010363"/>
            <a:ext cx="1279484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Recursion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1770"/>
            <a:ext cx="6725089" cy="83099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dirty="0" smtClean="0"/>
              <a:t>Recursive definition of functions is compact and elegant</a:t>
            </a:r>
          </a:p>
          <a:p>
            <a:r>
              <a:rPr lang="en-GB" dirty="0" smtClean="0"/>
              <a:t>Supported by powerful pattern matching</a:t>
            </a:r>
          </a:p>
          <a:p>
            <a:r>
              <a:rPr lang="en-GB" dirty="0" smtClean="0"/>
              <a:t>Natural to mathematicians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466408" y="2311731"/>
            <a:ext cx="1279484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Laziness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1" y="2612978"/>
            <a:ext cx="5645150" cy="110799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dirty="0" smtClean="0"/>
              <a:t>Haskell employs lazy evaluation – call by need</a:t>
            </a:r>
          </a:p>
          <a:p>
            <a:r>
              <a:rPr lang="en-GB" altLang="en-US" dirty="0" smtClean="0"/>
              <a:t>Avoids redundant computation</a:t>
            </a:r>
          </a:p>
          <a:p>
            <a:r>
              <a:rPr lang="en-GB" altLang="en-US" dirty="0" smtClean="0"/>
              <a:t>Good match for GA</a:t>
            </a:r>
            <a:endParaRPr lang="en-GB" altLang="en-US" dirty="0"/>
          </a:p>
          <a:p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466227" y="3540803"/>
            <a:ext cx="1990538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Higher-level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020" y="3842050"/>
            <a:ext cx="5645150" cy="110799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dirty="0"/>
              <a:t>GA is a higher-level language for </a:t>
            </a:r>
            <a:r>
              <a:rPr lang="en-GB" dirty="0" smtClean="0"/>
              <a:t>mathematics</a:t>
            </a:r>
          </a:p>
          <a:p>
            <a:r>
              <a:rPr lang="en-GB" dirty="0" smtClean="0"/>
              <a:t>High-level </a:t>
            </a:r>
            <a:r>
              <a:rPr lang="en-GB" dirty="0"/>
              <a:t>code that is </a:t>
            </a:r>
            <a:r>
              <a:rPr lang="en-GB" dirty="0" smtClean="0"/>
              <a:t>clear, fast </a:t>
            </a:r>
            <a:r>
              <a:rPr lang="en-GB" dirty="0"/>
              <a:t>and many-core </a:t>
            </a:r>
            <a:r>
              <a:rPr lang="en-GB" dirty="0" smtClean="0"/>
              <a:t>friendly</a:t>
            </a:r>
          </a:p>
          <a:p>
            <a:r>
              <a:rPr lang="en-GB" dirty="0" smtClean="0"/>
              <a:t>Code precisely mirrors the mathematics</a:t>
            </a:r>
          </a:p>
          <a:p>
            <a:r>
              <a:rPr lang="en-GB" dirty="0" smtClean="0"/>
              <a:t>“Programming in GA”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342" y="3100492"/>
            <a:ext cx="660419" cy="23634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02350" y="1311275"/>
            <a:ext cx="3041650" cy="38396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6401484" y="3876895"/>
            <a:ext cx="244599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learnyouahaskell.com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haskell.org/platform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wiki.haskell.org</a:t>
            </a:r>
          </a:p>
        </p:txBody>
      </p:sp>
      <p:pic>
        <p:nvPicPr>
          <p:cNvPr id="17" name="Picture 2 2" descr="http://a5.files.readwrite.com/image/upload/c_fit,cs_srgb,w_620/MTIyMzI4OTI2MjAxNjA1NDAx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4" y="1716088"/>
            <a:ext cx="1466789" cy="193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50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Bit vector representation of blades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68907" y="1057836"/>
            <a:ext cx="7785865" cy="69249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Details depend on whether you want to use mixed signature space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Best to stay as general as possible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064967"/>
              </p:ext>
            </p:extLst>
          </p:nvPr>
        </p:nvGraphicFramePr>
        <p:xfrm>
          <a:off x="701570" y="1905635"/>
          <a:ext cx="4275475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228"/>
                <a:gridCol w="1142002"/>
                <a:gridCol w="2205245"/>
              </a:tblGrid>
              <a:tr h="329715">
                <a:tc>
                  <a:txBody>
                    <a:bodyPr/>
                    <a:lstStyle/>
                    <a:p>
                      <a:pPr algn="l"/>
                      <a:r>
                        <a:rPr lang="en-GB" b="0" dirty="0" smtClean="0"/>
                        <a:t>Blade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dirty="0" smtClean="0"/>
                        <a:t>Bit vector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dirty="0" smtClean="0"/>
                        <a:t>Integer</a:t>
                      </a:r>
                      <a:endParaRPr lang="en-GB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e2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f2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e1f1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e1e2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101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en-GB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82090" y="2166705"/>
            <a:ext cx="2790309" cy="615553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Geometric product is an </a:t>
            </a:r>
            <a:r>
              <a:rPr lang="en-GB" sz="2000" dirty="0" err="1" smtClean="0"/>
              <a:t>xorr</a:t>
            </a:r>
            <a:r>
              <a:rPr lang="en-GB" sz="2000" dirty="0" smtClean="0"/>
              <a:t>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82091" y="2917273"/>
            <a:ext cx="297032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Careful with typographical ordering here!</a:t>
            </a:r>
          </a:p>
          <a:p>
            <a:pPr>
              <a:spcAft>
                <a:spcPts val="600"/>
              </a:spcAft>
            </a:pPr>
            <a:r>
              <a:rPr lang="en-GB" sz="2000" dirty="0"/>
              <a:t>Have to take care of </a:t>
            </a:r>
            <a:r>
              <a:rPr lang="en-GB" sz="2000" dirty="0" smtClean="0"/>
              <a:t>sign in geometric product</a:t>
            </a:r>
            <a:endParaRPr lang="en-GB" sz="2000" dirty="0"/>
          </a:p>
          <a:p>
            <a:pPr>
              <a:spcAft>
                <a:spcPts val="600"/>
              </a:spcAft>
            </a:pPr>
            <a:endParaRPr lang="en-GB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382090" y="4394600"/>
            <a:ext cx="3618546" cy="276999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(Num a, Integral n) =&gt; (n,a)</a:t>
            </a:r>
            <a:endParaRPr lang="en-GB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5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Linked list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2527300"/>
            <a:ext cx="9144000" cy="261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>
            <a:stCxn id="7" idx="0"/>
            <a:endCxn id="7" idx="2"/>
          </p:cNvCxnSpPr>
          <p:nvPr/>
        </p:nvCxnSpPr>
        <p:spPr>
          <a:xfrm>
            <a:off x="4572000" y="2527300"/>
            <a:ext cx="0" cy="26162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2211710"/>
            <a:ext cx="4571999" cy="315590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11710"/>
            <a:ext cx="4572000" cy="315590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Against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569" y="1177328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Vectors in 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17" y="501520"/>
            <a:ext cx="4732758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Type: [(</a:t>
            </a:r>
            <a:r>
              <a:rPr lang="en-GB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Int,Float</a:t>
            </a:r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)] or [(Blade)]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569" y="1678908"/>
            <a:ext cx="2160241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As an ordered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510" y="2661760"/>
            <a:ext cx="4320480" cy="246221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Strongly typed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smtClean="0"/>
              <a:t>Dense</a:t>
            </a:r>
            <a:endParaRPr lang="en-GB" sz="2000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Only need to know how to multiply blade elements together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Multiplication is a map operator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Don’t need to know dimension of space…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2020" y="2706765"/>
            <a:ext cx="4140460" cy="2000548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Linked-lists are not always optimal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Depends how good the compiler is at managing lists in the cache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smtClean="0"/>
              <a:t>May need a look-up table to store blade products (though this is not always optimal)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79822" y="1648130"/>
            <a:ext cx="30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(1,a1)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:(2,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a2):(8,a3):[]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766" y="1177328"/>
            <a:ext cx="2965485" cy="28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5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Conversion functions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04328" y="951570"/>
            <a:ext cx="4897742" cy="4124206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int2bin :: (Integral n) =&gt; n -&gt; [Int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spcAft>
                <a:spcPts val="600"/>
              </a:spcAft>
            </a:pP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int2bin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0 = [0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spcAft>
                <a:spcPts val="600"/>
              </a:spcAft>
            </a:pP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int2bin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1 = [1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spcAft>
                <a:spcPts val="600"/>
              </a:spcAft>
            </a:pP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int2bin n</a:t>
            </a:r>
          </a:p>
          <a:p>
            <a:pPr>
              <a:spcAft>
                <a:spcPts val="600"/>
              </a:spcAft>
            </a:pP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| even n = 0: int2bin (n `div` 2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| otherwise = 1: int2bin ((n-1) `div` 2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endParaRPr lang="de-DE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bin2int :: (Integral n) =&gt; [Int] -&gt;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  <a:p>
            <a:pPr>
              <a:spcAft>
                <a:spcPts val="600"/>
              </a:spcAft>
            </a:pP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bin2int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[0] =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pPr>
              <a:spcAft>
                <a:spcPts val="600"/>
              </a:spcAft>
            </a:pP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bin2int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[1] =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>
              <a:spcAft>
                <a:spcPts val="600"/>
              </a:spcAft>
            </a:pP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bin2int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(x:xs)   </a:t>
            </a:r>
            <a:endParaRPr lang="de-DE" sz="1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|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x ==0 = 2 * (bin2int xs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| otherwise = 1 + 2 * (bin2int xs)</a:t>
            </a:r>
            <a:endParaRPr lang="en-GB" sz="1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02350" y="1311275"/>
            <a:ext cx="304165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6237185" y="1760082"/>
            <a:ext cx="2700300" cy="2308324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Note the recursive definition of these functions</a:t>
            </a:r>
          </a:p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A typical idiom in Haskell (and other FP languages)</a:t>
            </a:r>
          </a:p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These are other way round to typical binary </a:t>
            </a:r>
            <a:endParaRPr lang="en-GB" sz="2000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1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Currying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57312" y="1176595"/>
            <a:ext cx="4884918" cy="630942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sv-SE" dirty="0">
                <a:latin typeface="Consolas" panose="020B0609020204030204" pitchFamily="49" charset="0"/>
                <a:cs typeface="Consolas" panose="020B0609020204030204" pitchFamily="49" charset="0"/>
              </a:rPr>
              <a:t>bladeGrade :: (Integral n) =&gt; n -&gt; </a:t>
            </a:r>
            <a:r>
              <a:rPr lang="sv-SE" dirty="0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</a:p>
          <a:p>
            <a:pPr>
              <a:spcAft>
                <a:spcPts val="600"/>
              </a:spcAft>
            </a:pPr>
            <a:r>
              <a:rPr lang="sv-SE" dirty="0" smtClean="0">
                <a:latin typeface="Consolas" panose="020B0609020204030204" pitchFamily="49" charset="0"/>
                <a:cs typeface="Consolas" panose="020B0609020204030204" pitchFamily="49" charset="0"/>
              </a:rPr>
              <a:t>bladeGrade </a:t>
            </a:r>
            <a:r>
              <a:rPr lang="sv-SE" dirty="0">
                <a:latin typeface="Consolas" panose="020B0609020204030204" pitchFamily="49" charset="0"/>
                <a:cs typeface="Consolas" panose="020B0609020204030204" pitchFamily="49" charset="0"/>
              </a:rPr>
              <a:t>= sum.int2bin</a:t>
            </a:r>
            <a:endParaRPr lang="en-GB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72100" y="2251767"/>
            <a:ext cx="1589144" cy="1077218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g</a:t>
            </a:r>
            <a:r>
              <a:rPr lang="en-US" sz="2000" dirty="0" smtClean="0"/>
              <a:t> :: (</a:t>
            </a:r>
            <a:r>
              <a:rPr lang="en-US" sz="2000" dirty="0" err="1" smtClean="0"/>
              <a:t>a,b</a:t>
            </a:r>
            <a:r>
              <a:rPr lang="en-US" sz="2000" dirty="0" smtClean="0"/>
              <a:t>) -&gt;  c</a:t>
            </a:r>
          </a:p>
          <a:p>
            <a:pPr>
              <a:spcAft>
                <a:spcPts val="600"/>
              </a:spcAft>
            </a:pPr>
            <a:r>
              <a:rPr lang="en-US" sz="2000" dirty="0" smtClean="0"/>
              <a:t>f :: a -&gt;  b -&gt; c  </a:t>
            </a:r>
            <a:endParaRPr lang="en-GB" sz="2000" dirty="0" smtClean="0"/>
          </a:p>
          <a:p>
            <a:pPr>
              <a:spcAft>
                <a:spcPts val="600"/>
              </a:spcAft>
            </a:pPr>
            <a:r>
              <a:rPr lang="en-US" sz="2000" dirty="0" smtClean="0"/>
              <a:t>f :: a-&gt; (b -&gt; c)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031690"/>
            <a:ext cx="4572000" cy="31118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55233" y="2526745"/>
            <a:ext cx="4371762" cy="269304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Suppress the argument in the function definition.</a:t>
            </a:r>
          </a:p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Haskell employs ‘currying’ – everything is a function with 1 variable.</a:t>
            </a:r>
          </a:p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Functions with more than one variable are broken down into functions that return functions</a:t>
            </a:r>
          </a:p>
          <a:p>
            <a:pPr>
              <a:spcAft>
                <a:spcPts val="600"/>
              </a:spcAft>
            </a:pPr>
            <a:endParaRPr lang="en-GB" sz="2000" dirty="0" smtClean="0">
              <a:solidFill>
                <a:schemeClr val="accent5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2936" y="3587595"/>
            <a:ext cx="2475275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/>
              <a:t>f takes in an argument and returns a new function</a:t>
            </a:r>
            <a:endParaRPr lang="en-GB" sz="2000" dirty="0" smtClean="0"/>
          </a:p>
        </p:txBody>
      </p:sp>
    </p:spTree>
    <p:extLst>
      <p:ext uri="{BB962C8B-B14F-4D97-AF65-F5344CB8AC3E}">
        <p14:creationId xmlns:p14="http://schemas.microsoft.com/office/powerpoint/2010/main" val="932940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Blade product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435444" y="1041580"/>
            <a:ext cx="4758281" cy="984885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bladeProd (n,a) (m,b) = (r,x)  </a:t>
            </a:r>
            <a:endParaRPr lang="pt-BR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pt-BR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where 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(r,fn) = bldProd n m        </a:t>
            </a:r>
            <a:endParaRPr lang="pt-BR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pt-BR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     x 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= fn (a*b) 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41530" y="2173963"/>
            <a:ext cx="6026766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The </a:t>
            </a:r>
            <a:r>
              <a:rPr lang="en-GB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bldProd</a:t>
            </a:r>
            <a:r>
              <a:rPr lang="en-GB" sz="2000" dirty="0" smtClean="0"/>
              <a:t> function must (in current implementation)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535" y="2706765"/>
            <a:ext cx="5629503" cy="215443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smtClean="0"/>
              <a:t>Convert integers to </a:t>
            </a:r>
            <a:r>
              <a:rPr lang="en-GB" sz="2000" dirty="0" err="1" smtClean="0"/>
              <a:t>bitvector</a:t>
            </a:r>
            <a:r>
              <a:rPr lang="en-GB" sz="2000" dirty="0" smtClean="0"/>
              <a:t> rep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smtClean="0"/>
              <a:t>Compute the </a:t>
            </a:r>
            <a:r>
              <a:rPr lang="en-GB" sz="2000" dirty="0" err="1" smtClean="0"/>
              <a:t>xorr</a:t>
            </a:r>
            <a:r>
              <a:rPr lang="en-GB" sz="2000" dirty="0" smtClean="0"/>
              <a:t> and convert back to base 10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smtClean="0"/>
              <a:t>Add up number of sign changes from </a:t>
            </a:r>
            <a:r>
              <a:rPr lang="en-GB" sz="2000" dirty="0" err="1" smtClean="0"/>
              <a:t>anticommutation</a:t>
            </a:r>
            <a:endParaRPr lang="en-GB" sz="2000" dirty="0" smtClean="0"/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smtClean="0"/>
              <a:t>Add up number of sign changes from signature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smtClean="0"/>
              <a:t>Compute overall sign and return this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2350" y="2527300"/>
            <a:ext cx="3041650" cy="261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462210" y="2841780"/>
            <a:ext cx="2385265" cy="1692771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Can all be put into a LUT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Or use </a:t>
            </a:r>
            <a:r>
              <a:rPr lang="en-GB" sz="2000" dirty="0" err="1" smtClean="0">
                <a:solidFill>
                  <a:schemeClr val="bg1"/>
                </a:solidFill>
              </a:rPr>
              <a:t>memoization</a:t>
            </a:r>
            <a:endParaRPr lang="en-GB" sz="2000" dirty="0" smtClean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Candidate for hardware acceleration</a:t>
            </a:r>
          </a:p>
        </p:txBody>
      </p:sp>
    </p:spTree>
    <p:extLst>
      <p:ext uri="{BB962C8B-B14F-4D97-AF65-F5344CB8AC3E}">
        <p14:creationId xmlns:p14="http://schemas.microsoft.com/office/powerpoint/2010/main" val="298431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Blade Product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41530" y="1221600"/>
            <a:ext cx="7670937" cy="2046714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bldProd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:: (Integral n,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a) =&gt; n -&gt; n -&gt; (n, a-&gt;a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bldProd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n m = ((bin2int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resBld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nb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mb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)),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nb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 int2bin 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mb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 int2bin 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 ((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countSwap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nb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mb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 +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countNeg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nb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mb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)) `mod` 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 if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== 0 then id else negate</a:t>
            </a:r>
            <a:endParaRPr lang="en-GB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57265" y="1776177"/>
            <a:ext cx="2025225" cy="615553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/>
              <a:t>Returns a function in second slot</a:t>
            </a:r>
            <a:endParaRPr lang="en-GB" sz="2000" dirty="0" smtClean="0"/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 flipV="1">
            <a:off x="5697125" y="1896675"/>
            <a:ext cx="1260140" cy="18727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831890"/>
            <a:ext cx="2494619" cy="923330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/>
              <a:t>Counts the number of swaps to bring things into normal order</a:t>
            </a:r>
            <a:endParaRPr lang="en-GB" sz="2000" dirty="0" smtClean="0"/>
          </a:p>
        </p:txBody>
      </p:sp>
      <p:cxnSp>
        <p:nvCxnSpPr>
          <p:cNvPr id="14" name="Straight Arrow Connector 13"/>
          <p:cNvCxnSpPr>
            <a:stCxn id="12" idx="0"/>
          </p:cNvCxnSpPr>
          <p:nvPr/>
        </p:nvCxnSpPr>
        <p:spPr>
          <a:xfrm flipV="1">
            <a:off x="1704510" y="2931790"/>
            <a:ext cx="1337320" cy="9001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39608" y="3830615"/>
            <a:ext cx="2587787" cy="923330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/>
              <a:t>Counts number of negative norm vectors that are squared</a:t>
            </a:r>
            <a:endParaRPr lang="en-GB" sz="2000" dirty="0" smtClean="0"/>
          </a:p>
        </p:txBody>
      </p:sp>
      <p:cxnSp>
        <p:nvCxnSpPr>
          <p:cNvPr id="17" name="Straight Arrow Connector 16"/>
          <p:cNvCxnSpPr>
            <a:stCxn id="15" idx="0"/>
          </p:cNvCxnSpPr>
          <p:nvPr/>
        </p:nvCxnSpPr>
        <p:spPr>
          <a:xfrm flipH="1" flipV="1">
            <a:off x="5742130" y="2976795"/>
            <a:ext cx="1091372" cy="8538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752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Geometric product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L7 S</a:t>
            </a:r>
            <a:fld id="{40E39B3E-C87B-4733-AA7D-3387836CB72D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885" y="996575"/>
            <a:ext cx="423924" cy="219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49197" y="1356615"/>
            <a:ext cx="1282643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[Blades]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0262" y="1356615"/>
            <a:ext cx="1381858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[Blades]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253792" y="1261466"/>
            <a:ext cx="418108" cy="199230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1"/>
          </p:cNvCxnSpPr>
          <p:nvPr/>
        </p:nvCxnSpPr>
        <p:spPr>
          <a:xfrm flipH="1" flipV="1">
            <a:off x="3806915" y="1261466"/>
            <a:ext cx="463347" cy="249038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4052" y="1989114"/>
            <a:ext cx="6975775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A*B=simplify([</a:t>
            </a:r>
            <a:r>
              <a:rPr lang="en-GB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bladeprod</a:t>
            </a:r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 | a &lt;- A, b &lt;- B])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527300"/>
            <a:ext cx="4572000" cy="261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322393" y="2841780"/>
            <a:ext cx="4005445" cy="138499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/>
              <a:t>Form every combination of product from the two lists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Sort by grade and then integer order</a:t>
            </a:r>
          </a:p>
          <a:p>
            <a:pPr>
              <a:spcAft>
                <a:spcPts val="600"/>
              </a:spcAft>
            </a:pPr>
            <a:r>
              <a:rPr lang="en-GB" sz="2000" dirty="0" smtClean="0"/>
              <a:t>Combine common entries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527300"/>
            <a:ext cx="4572000" cy="261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4961191" y="2841780"/>
            <a:ext cx="3841279" cy="1846659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Build up everything from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err="1" smtClean="0">
                <a:solidFill>
                  <a:schemeClr val="bg1"/>
                </a:solidFill>
              </a:rPr>
              <a:t>Multivector</a:t>
            </a:r>
            <a:r>
              <a:rPr lang="en-GB" sz="2000" dirty="0" smtClean="0">
                <a:solidFill>
                  <a:schemeClr val="bg1"/>
                </a:solidFill>
              </a:rPr>
              <a:t> product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smtClean="0">
                <a:solidFill>
                  <a:schemeClr val="bg1"/>
                </a:solidFill>
              </a:rPr>
              <a:t>Projection onto grade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000" dirty="0" smtClean="0">
                <a:solidFill>
                  <a:schemeClr val="bg1"/>
                </a:solidFill>
              </a:rPr>
              <a:t>Reverse</a:t>
            </a:r>
          </a:p>
          <a:p>
            <a:pPr>
              <a:spcAft>
                <a:spcPts val="600"/>
              </a:spcAft>
            </a:pPr>
            <a:r>
              <a:rPr lang="en-GB" sz="2000" dirty="0" smtClean="0">
                <a:solidFill>
                  <a:schemeClr val="bg1"/>
                </a:solidFill>
              </a:rPr>
              <a:t>Use * for </a:t>
            </a:r>
            <a:r>
              <a:rPr lang="en-GB" sz="2000" dirty="0" err="1" smtClean="0">
                <a:solidFill>
                  <a:schemeClr val="bg1"/>
                </a:solidFill>
              </a:rPr>
              <a:t>multivector</a:t>
            </a:r>
            <a:r>
              <a:rPr lang="en-GB" sz="2000" dirty="0" smtClean="0">
                <a:solidFill>
                  <a:schemeClr val="bg1"/>
                </a:solidFill>
              </a:rPr>
              <a:t> product</a:t>
            </a:r>
          </a:p>
        </p:txBody>
      </p:sp>
    </p:spTree>
    <p:extLst>
      <p:ext uri="{BB962C8B-B14F-4D97-AF65-F5344CB8AC3E}">
        <p14:creationId xmlns:p14="http://schemas.microsoft.com/office/powerpoint/2010/main" val="417981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427413"/>
            <a:ext cx="9144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Abstract Data Type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77656" y="1086585"/>
            <a:ext cx="8430760" cy="2046714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newtype Multivector n a = Mv [(n,a</a:t>
            </a:r>
            <a:r>
              <a:rPr lang="pt-BR" dirty="0" smtClean="0">
                <a:latin typeface="Consolas" panose="020B0609020204030204" pitchFamily="49" charset="0"/>
                <a:cs typeface="Consolas" panose="020B0609020204030204" pitchFamily="49" charset="0"/>
              </a:rPr>
              <a:t>)]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mv ::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Eq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a) =&gt; [(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a,String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)] -&gt; Multivector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a  </a:t>
            </a:r>
            <a:endParaRPr lang="en-GB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mv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bladeListSimp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sortBy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bladeComp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(map blade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)))</a:t>
            </a:r>
          </a:p>
          <a:p>
            <a:pPr>
              <a:spcAft>
                <a:spcPts val="600"/>
              </a:spcAft>
            </a:pP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longMv :: (Num a, Eq a) =&gt; [(a,String)] -&gt; Multivector Integer a  </a:t>
            </a:r>
            <a:endParaRPr lang="pt-BR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pt-BR" dirty="0" smtClean="0">
                <a:latin typeface="Consolas" panose="020B0609020204030204" pitchFamily="49" charset="0"/>
                <a:cs typeface="Consolas" panose="020B0609020204030204" pitchFamily="49" charset="0"/>
              </a:rPr>
              <a:t>longMv 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xs = Mv (bladeListSimp (sortBy bladeComp (map blade xs))) </a:t>
            </a:r>
            <a:endParaRPr lang="en-GB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59" y="3675401"/>
            <a:ext cx="5580621" cy="1000274"/>
          </a:xfrm>
          <a:prstGeom prst="rect">
            <a:avLst/>
          </a:prstGeom>
          <a:noFill/>
          <a:ln>
            <a:noFill/>
          </a:ln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Type class restrictions are put into the constructors. </a:t>
            </a:r>
          </a:p>
          <a:p>
            <a:pPr>
              <a:spcAft>
                <a:spcPts val="600"/>
              </a:spcAft>
            </a:pPr>
            <a:r>
              <a:rPr lang="en-US" sz="2000" dirty="0" smtClean="0">
                <a:solidFill>
                  <a:schemeClr val="accent5"/>
                </a:solidFill>
              </a:rPr>
              <a:t>Two constructors to allow for larger spaces (</a:t>
            </a:r>
            <a:r>
              <a:rPr lang="en-US" sz="2000" dirty="0" err="1" smtClean="0">
                <a:solidFill>
                  <a:schemeClr val="accent5"/>
                </a:solidFill>
              </a:rPr>
              <a:t>Int</a:t>
            </a:r>
            <a:r>
              <a:rPr lang="en-US" sz="2000" dirty="0" smtClean="0">
                <a:solidFill>
                  <a:schemeClr val="accent5"/>
                </a:solidFill>
              </a:rPr>
              <a:t> may only go up to 32D)</a:t>
            </a:r>
            <a:endParaRPr lang="en-GB" sz="2000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216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Membership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61510" y="1221600"/>
            <a:ext cx="8304124" cy="240065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instance (Integral n,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Eq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a) =&gt;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(Multivector n a) 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 *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ys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bladeListProduct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ys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 +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ys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bladeListAdd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ys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fromInteger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n =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[(0,fromInteger n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)]</a:t>
            </a: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negate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bldListNegate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abs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endParaRPr lang="en-GB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600"/>
              </a:spcAft>
            </a:pP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signum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Mv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xs</a:t>
            </a:r>
            <a:endParaRPr lang="en-GB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23294" y="3999611"/>
            <a:ext cx="3714091" cy="615553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/>
              <a:t>Can now use + and * the way we would naturally like to!</a:t>
            </a:r>
            <a:endParaRPr lang="en-GB" sz="20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5427095" y="366505"/>
            <a:ext cx="1845205" cy="615553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 smtClean="0"/>
              <a:t>Want to belong to </a:t>
            </a:r>
            <a:r>
              <a:rPr lang="en-US" sz="2000" dirty="0" err="1" smtClean="0"/>
              <a:t>Num</a:t>
            </a:r>
            <a:r>
              <a:rPr lang="en-US" sz="2000" dirty="0" smtClean="0"/>
              <a:t> class</a:t>
            </a:r>
            <a:endParaRPr lang="en-GB" sz="2000" dirty="0" smtClean="0"/>
          </a:p>
        </p:txBody>
      </p:sp>
      <p:cxnSp>
        <p:nvCxnSpPr>
          <p:cNvPr id="8" name="Straight Arrow Connector 7"/>
          <p:cNvCxnSpPr>
            <a:stCxn id="3" idx="1"/>
          </p:cNvCxnSpPr>
          <p:nvPr/>
        </p:nvCxnSpPr>
        <p:spPr>
          <a:xfrm flipH="1">
            <a:off x="5247075" y="674282"/>
            <a:ext cx="180020" cy="54731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8990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resources (GA </a:t>
            </a:r>
            <a:r>
              <a:rPr lang="en-US" dirty="0" err="1" smtClean="0"/>
              <a:t>wikipedia</a:t>
            </a:r>
            <a:r>
              <a:rPr lang="en-US" dirty="0" smtClean="0"/>
              <a:t> page)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L7 S</a:t>
            </a:r>
            <a:fld id="{40E39B3E-C87B-4733-AA7D-3387836CB72D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1311275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426770" y="1446625"/>
            <a:ext cx="8370930" cy="361637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5"/>
                </a:solidFill>
              </a:rPr>
              <a:t>GA Viewer </a:t>
            </a:r>
            <a:r>
              <a:rPr lang="en-GB" sz="2000" dirty="0" err="1" smtClean="0">
                <a:solidFill>
                  <a:schemeClr val="accent5"/>
                </a:solidFill>
              </a:rPr>
              <a:t>Fontijne</a:t>
            </a:r>
            <a:r>
              <a:rPr lang="en-GB" sz="2000" dirty="0" smtClean="0">
                <a:solidFill>
                  <a:schemeClr val="accent5"/>
                </a:solidFill>
              </a:rPr>
              <a:t>, </a:t>
            </a:r>
            <a:r>
              <a:rPr lang="en-GB" sz="2000" dirty="0" err="1" smtClean="0">
                <a:solidFill>
                  <a:schemeClr val="accent5"/>
                </a:solidFill>
              </a:rPr>
              <a:t>Dorst</a:t>
            </a:r>
            <a:r>
              <a:rPr lang="en-GB" sz="2000" dirty="0" smtClean="0">
                <a:solidFill>
                  <a:schemeClr val="accent5"/>
                </a:solidFill>
              </a:rPr>
              <a:t>, </a:t>
            </a:r>
            <a:r>
              <a:rPr lang="en-GB" sz="2000" dirty="0" err="1" smtClean="0">
                <a:solidFill>
                  <a:schemeClr val="accent5"/>
                </a:solidFill>
              </a:rPr>
              <a:t>Bouma</a:t>
            </a:r>
            <a:r>
              <a:rPr lang="en-GB" sz="2000" dirty="0" smtClean="0">
                <a:solidFill>
                  <a:schemeClr val="accent5"/>
                </a:solidFill>
              </a:rPr>
              <a:t> </a:t>
            </a:r>
            <a:r>
              <a:rPr lang="en-GB" sz="2000" dirty="0">
                <a:solidFill>
                  <a:schemeClr val="accent5"/>
                </a:solidFill>
              </a:rPr>
              <a:t>&amp; </a:t>
            </a:r>
            <a:r>
              <a:rPr lang="en-GB" sz="2000" dirty="0" smtClean="0">
                <a:solidFill>
                  <a:schemeClr val="accent5"/>
                </a:solidFill>
              </a:rPr>
              <a:t>Mann</a:t>
            </a:r>
            <a:r>
              <a:rPr lang="en-GB" sz="2000" dirty="0">
                <a:solidFill>
                  <a:schemeClr val="accent5"/>
                </a:solidFill>
              </a:rPr>
              <a:t/>
            </a:r>
            <a:br>
              <a:rPr lang="en-GB" sz="2000" dirty="0">
                <a:solidFill>
                  <a:schemeClr val="accent5"/>
                </a:solidFill>
              </a:rPr>
            </a:br>
            <a:r>
              <a:rPr lang="en-GB" sz="2000" dirty="0" smtClean="0">
                <a:solidFill>
                  <a:schemeClr val="accent5"/>
                </a:solidFill>
              </a:rPr>
              <a:t>http</a:t>
            </a:r>
            <a:r>
              <a:rPr lang="en-GB" sz="2000" dirty="0">
                <a:solidFill>
                  <a:schemeClr val="accent5"/>
                </a:solidFill>
              </a:rPr>
              <a:t>://</a:t>
            </a:r>
            <a:r>
              <a:rPr lang="en-GB" sz="2000" dirty="0" smtClean="0">
                <a:solidFill>
                  <a:schemeClr val="accent5"/>
                </a:solidFill>
              </a:rPr>
              <a:t>www.geometricalgebra.net/downloads.html</a:t>
            </a:r>
            <a:endParaRPr lang="en-GB" sz="2000" dirty="0">
              <a:solidFill>
                <a:schemeClr val="accent5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err="1" smtClean="0">
                <a:solidFill>
                  <a:schemeClr val="accent5"/>
                </a:solidFill>
              </a:rPr>
              <a:t>Gaigen</a:t>
            </a:r>
            <a:r>
              <a:rPr lang="en-GB" sz="2000" dirty="0" smtClean="0">
                <a:solidFill>
                  <a:schemeClr val="accent5"/>
                </a:solidFill>
              </a:rPr>
              <a:t> </a:t>
            </a:r>
            <a:r>
              <a:rPr lang="en-GB" sz="2000" dirty="0" err="1" smtClean="0">
                <a:solidFill>
                  <a:schemeClr val="accent5"/>
                </a:solidFill>
              </a:rPr>
              <a:t>Fontijne</a:t>
            </a:r>
            <a:r>
              <a:rPr lang="en-GB" sz="2000" dirty="0" smtClean="0">
                <a:solidFill>
                  <a:schemeClr val="accent5"/>
                </a:solidFill>
              </a:rPr>
              <a:t>. For programmers, this is a code generator with support for C, C++, C# and Java. </a:t>
            </a:r>
            <a:br>
              <a:rPr lang="en-GB" sz="2000" dirty="0" smtClean="0">
                <a:solidFill>
                  <a:schemeClr val="accent5"/>
                </a:solidFill>
              </a:rPr>
            </a:br>
            <a:r>
              <a:rPr lang="en-GB" sz="2000" dirty="0" smtClean="0">
                <a:solidFill>
                  <a:schemeClr val="accent5"/>
                </a:solidFill>
              </a:rPr>
              <a:t>http</a:t>
            </a:r>
            <a:r>
              <a:rPr lang="en-GB" sz="2000" dirty="0">
                <a:solidFill>
                  <a:schemeClr val="accent5"/>
                </a:solidFill>
              </a:rPr>
              <a:t>://</a:t>
            </a:r>
            <a:r>
              <a:rPr lang="en-GB" sz="2000" dirty="0" smtClean="0">
                <a:solidFill>
                  <a:schemeClr val="accent5"/>
                </a:solidFill>
              </a:rPr>
              <a:t>www.geometricalgebra.net/new.html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err="1" smtClean="0">
                <a:solidFill>
                  <a:schemeClr val="accent5"/>
                </a:solidFill>
              </a:rPr>
              <a:t>Gaalop</a:t>
            </a:r>
            <a:r>
              <a:rPr lang="en-GB" sz="2000" dirty="0" smtClean="0">
                <a:solidFill>
                  <a:schemeClr val="accent5"/>
                </a:solidFill>
              </a:rPr>
              <a:t> </a:t>
            </a:r>
            <a:r>
              <a:rPr lang="en-GB" sz="2000" dirty="0" err="1">
                <a:solidFill>
                  <a:schemeClr val="accent5"/>
                </a:solidFill>
              </a:rPr>
              <a:t>Gaalop</a:t>
            </a:r>
            <a:r>
              <a:rPr lang="en-GB" sz="2000" dirty="0">
                <a:solidFill>
                  <a:schemeClr val="accent5"/>
                </a:solidFill>
              </a:rPr>
              <a:t> (</a:t>
            </a:r>
            <a:r>
              <a:rPr lang="en-GB" sz="2000" dirty="0" err="1">
                <a:solidFill>
                  <a:schemeClr val="accent5"/>
                </a:solidFill>
              </a:rPr>
              <a:t>Geometic</a:t>
            </a:r>
            <a:r>
              <a:rPr lang="en-GB" sz="2000" dirty="0">
                <a:solidFill>
                  <a:schemeClr val="accent5"/>
                </a:solidFill>
              </a:rPr>
              <a:t> Algebra Algorithms Optimizer) is a software to optimize geometric algebra files.</a:t>
            </a:r>
            <a:br>
              <a:rPr lang="en-GB" sz="2000" dirty="0">
                <a:solidFill>
                  <a:schemeClr val="accent5"/>
                </a:solidFill>
              </a:rPr>
            </a:br>
            <a:r>
              <a:rPr lang="en-GB" sz="2000" dirty="0">
                <a:solidFill>
                  <a:schemeClr val="accent5"/>
                </a:solidFill>
              </a:rPr>
              <a:t>http://</a:t>
            </a:r>
            <a:r>
              <a:rPr lang="en-GB" sz="2000" dirty="0" smtClean="0">
                <a:solidFill>
                  <a:schemeClr val="accent5"/>
                </a:solidFill>
              </a:rPr>
              <a:t>www.gaalop.de/</a:t>
            </a:r>
            <a:endParaRPr lang="en-GB" sz="2000" dirty="0">
              <a:solidFill>
                <a:schemeClr val="accent5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err="1" smtClean="0">
                <a:solidFill>
                  <a:schemeClr val="accent5"/>
                </a:solidFill>
              </a:rPr>
              <a:t>Versor</a:t>
            </a:r>
            <a:r>
              <a:rPr lang="en-GB" sz="2000" dirty="0" smtClean="0">
                <a:solidFill>
                  <a:schemeClr val="accent5"/>
                </a:solidFill>
              </a:rPr>
              <a:t>, by </a:t>
            </a:r>
            <a:r>
              <a:rPr lang="en-GB" sz="2000" dirty="0" err="1" smtClean="0">
                <a:solidFill>
                  <a:schemeClr val="accent5"/>
                </a:solidFill>
              </a:rPr>
              <a:t>Colapinto</a:t>
            </a:r>
            <a:r>
              <a:rPr lang="en-GB" sz="2000" dirty="0" smtClean="0">
                <a:solidFill>
                  <a:schemeClr val="accent5"/>
                </a:solidFill>
              </a:rPr>
              <a:t>. </a:t>
            </a:r>
            <a:r>
              <a:rPr lang="en-GB" sz="2000" dirty="0">
                <a:solidFill>
                  <a:schemeClr val="accent5"/>
                </a:solidFill>
              </a:rPr>
              <a:t>A lightweight templated C++ Library with an OpenGL interface </a:t>
            </a:r>
            <a:br>
              <a:rPr lang="en-GB" sz="2000" dirty="0">
                <a:solidFill>
                  <a:schemeClr val="accent5"/>
                </a:solidFill>
              </a:rPr>
            </a:br>
            <a:r>
              <a:rPr lang="en-GB" sz="2000" dirty="0">
                <a:solidFill>
                  <a:schemeClr val="accent5"/>
                </a:solidFill>
              </a:rPr>
              <a:t>http://versor.mat.ucsb.edu/</a:t>
            </a:r>
          </a:p>
        </p:txBody>
      </p:sp>
    </p:spTree>
    <p:extLst>
      <p:ext uri="{BB962C8B-B14F-4D97-AF65-F5344CB8AC3E}">
        <p14:creationId xmlns:p14="http://schemas.microsoft.com/office/powerpoint/2010/main" val="1603573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Resources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L8 S</a:t>
            </a:r>
            <a:fld id="{40E39B3E-C87B-4733-AA7D-3387836CB72D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9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1044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[0,a_1,a_2,a_3,0,0,0,0]&#10;\end{align*}&#10;\end{document}"/>
  <p:tag name="IGUANATEXSIZE" val="26"/>
  <p:tag name="IGUANATEXCURSOR" val="2078"/>
  <p:tag name="TRANSPARENCY" val="True"/>
  <p:tag name="FILENAME" val=""/>
  <p:tag name="INPUTTYPE" val="0"/>
  <p:tag name="LATEXENGINEID" val="0"/>
  <p:tag name="TEMPFOLDER" val="C:\Users\chrdor01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2158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[0,0,0,0,0,E_1,E_2,E_3,B_1,B_2,B_3,0,0,0,0,0]&#10;\end{align*}&#10;\end{document}"/>
  <p:tag name="IGUANATEXSIZE" val="26"/>
  <p:tag name="IGUANATEXCURSOR" val="2171"/>
  <p:tag name="TRANSPARENCY" val="True"/>
  <p:tag name="FILENAME" val=""/>
  <p:tag name="INPUTTYPE" val="0"/>
  <p:tag name="LATEXENGINEID" val="0"/>
  <p:tag name="TEMPFOLDER" val="C:\Users\chrdor01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2.75"/>
  <p:tag name="ORIGINALWIDTH" val="548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[E_1,E_2,E_3]&#10;\end{align*}&#10;\end{document}"/>
  <p:tag name="IGUANATEXSIZE" val="26"/>
  <p:tag name="IGUANATEXCURSOR" val="2136"/>
  <p:tag name="TRANSPARENCY" val="True"/>
  <p:tag name="FILENAME" val=""/>
  <p:tag name="INPUTTYPE" val="0"/>
  <p:tag name="LATEXENGINEID" val="0"/>
  <p:tag name="TEMPFOLDER" val="C:\Users\chrdor01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2.75"/>
  <p:tag name="ORIGINALWIDTH" val="546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[B_1,B_2,B_3]&#10;\end{align*}&#10;\end{document}"/>
  <p:tag name="IGUANATEXSIZE" val="26"/>
  <p:tag name="IGUANATEXCURSOR" val="2138"/>
  <p:tag name="TRANSPARENCY" val="True"/>
  <p:tag name="FILENAME" val=""/>
  <p:tag name="INPUTTYPE" val="0"/>
  <p:tag name="LATEXENGINEID" val="0"/>
  <p:tag name="TEMPFOLDER" val="C:\Users\chrdor01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603.674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[(a_1,a_2,a_3)]&#10;\end{align*}&#10;\end{document}"/>
  <p:tag name="IGUANATEXSIZE" val="26"/>
  <p:tag name="IGUANATEXCURSOR" val="2135"/>
  <p:tag name="TRANSPARENCY" val="True"/>
  <p:tag name="FILENAME" val=""/>
  <p:tag name="INPUTTYPE" val="0"/>
  <p:tag name="LATEXENGINEID" val="0"/>
  <p:tag name="TEMPFOLDER" val="C:\Users\chrdor01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7.12"/>
  <p:tag name="ORIGINALWIDTH" val="647.919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%\color{myGrey}&#10;\color{white}&#10;&#10;&#10;\begin{document}&#10;\begin{align*}&#10;A_1 &amp;= (1,0) \\&#10;A_2 &amp;= (2,1) \\&#10;B_1 &amp;= (4,0) \\&#10;B_2 &amp;= (5,3) \\&#10;L_a &amp;= A_1 \wdg A_2 \\ &#10;L_b &amp;= B_1 \wdg B_2  &#10;\end{align*}&#10;\end{document}"/>
  <p:tag name="IGUANATEXSIZE" val="26"/>
  <p:tag name="IGUANATEXCURSOR" val="2139"/>
  <p:tag name="TRANSPARENCY" val="True"/>
  <p:tag name="FILENAME" val=""/>
  <p:tag name="INPUTTYPE" val="0"/>
  <p:tag name="LATEXENGINEID" val="0"/>
  <p:tag name="TEMPFOLDER" val="C:\Users\chrdor01\te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1.9872"/>
  <p:tag name="ORIGINALWIDTH" val="116.985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A_1&#10;\end{align*}&#10;\end{document}"/>
  <p:tag name="IGUANATEXSIZE" val="26"/>
  <p:tag name="IGUANATEXCURSOR" val="2101"/>
  <p:tag name="TRANSPARENCY" val="True"/>
  <p:tag name="FILENAME" val=""/>
  <p:tag name="INPUTTYPE" val="0"/>
  <p:tag name="LATEXENGINEID" val="0"/>
  <p:tag name="TEMPFOLDER" val="C:\Users\chrdor01\te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1.9872"/>
  <p:tag name="ORIGINALWIDTH" val="124.484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A_2&#10;\end{align*}&#10;\end{document}"/>
  <p:tag name="IGUANATEXSIZE" val="26"/>
  <p:tag name="IGUANATEXCURSOR" val="2101"/>
  <p:tag name="TRANSPARENCY" val="True"/>
  <p:tag name="FILENAME" val=""/>
  <p:tag name="INPUTTYPE" val="0"/>
  <p:tag name="LATEXENGINEID" val="0"/>
  <p:tag name="TEMPFOLDER" val="C:\Users\chrdor01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73756"/>
  <p:tag name="ORIGINALWIDTH" val="110.986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B_1&#10;\end{align*}&#10;\end{document}"/>
  <p:tag name="IGUANATEXSIZE" val="26"/>
  <p:tag name="IGUANATEXCURSOR" val="2101"/>
  <p:tag name="TRANSPARENCY" val="True"/>
  <p:tag name="FILENAME" val=""/>
  <p:tag name="INPUTTYPE" val="0"/>
  <p:tag name="LATEXENGINEID" val="0"/>
  <p:tag name="TEMPFOLDER" val="C:\Users\chrdor01\te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73756"/>
  <p:tag name="ORIGINALWIDTH" val="118.485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B_2&#10;\end{align*}&#10;\end{document}"/>
  <p:tag name="IGUANATEXSIZE" val="26"/>
  <p:tag name="IGUANATEXCURSOR" val="2101"/>
  <p:tag name="TRANSPARENCY" val="True"/>
  <p:tag name="FILENAME" val=""/>
  <p:tag name="INPUTTYPE" val="0"/>
  <p:tag name="LATEXENGINEID" val="0"/>
  <p:tag name="TEMPFOLDER" val="C:\Users\chrdor01\temp\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9865"/>
  <p:tag name="ORIGINALWIDTH" val="680.16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R = (5.5,4.5) &#10;\end{align*}&#10;\end{document}"/>
  <p:tag name="IGUANATEXSIZE" val="26"/>
  <p:tag name="IGUANATEXCURSOR" val="2112"/>
  <p:tag name="TRANSPARENCY" val="True"/>
  <p:tag name="FILENAME" val=""/>
  <p:tag name="INPUTTYPE" val="0"/>
  <p:tag name="LATEXENGINEID" val="0"/>
  <p:tag name="TEMPFOLDER" val="C:\Users\chrdor01\temp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368"/>
  <p:tag name="ORIGINALWIDTH" val="295.463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\langle AB \rangle_r &#10;\end{align*}&#10;\end{document}"/>
  <p:tag name="IGUANATEXSIZE" val="22"/>
  <p:tag name="IGUANATEXCURSOR" val="2119"/>
  <p:tag name="TRANSPARENCY" val="True"/>
  <p:tag name="FILENAME" val=""/>
  <p:tag name="INPUTTYPE" val="0"/>
  <p:tag name="LATEXENGINEID" val="0"/>
  <p:tag name="TEMPFOLDER" val="C:\Users\chrdor01\temp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1122.6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\newcommand{\Bhat}{\hat{B}}&#10;&#10;\definecolor{myGrey}{RGB}{62,62,64}&#10;\color{myGrey}&#10;%\color{white}&#10;&#10;&#10;\begin{document}&#10;\begin{align*}&#10;[(1,a_1),(4,a_2),(8,a_3)]&#10;\end{align*}&#10;\end{document}"/>
  <p:tag name="IGUANATEXSIZE" val="26"/>
  <p:tag name="IGUANATEXCURSOR" val="2149"/>
  <p:tag name="TRANSPARENCY" val="True"/>
  <p:tag name="FILENAME" val=""/>
  <p:tag name="INPUTTYPE" val="0"/>
  <p:tag name="LATEXENGINEID" val="0"/>
  <p:tag name="TEMPFOLDER" val="C:\Users\chrdor01\temp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3961"/>
  <p:tag name="ORIGINALWIDTH" val="160.479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r}{\bm{r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qrt}{{\textstyle \frac{1}{4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newcommand{\snh}[1]{\mathrm{sh}(#1)}&#10;\newcommand{\csh}[1]{\mathrm{ch}(#1)}&#10;\newcommand{\tnh}[1]{\mathrm{th}(#1)}&#10;\newcommand{\et}[1]{e^{#1}}&#10;\newcommand{\grad}{\nabla}&#10;\newcommand{\bgrad}{\mb{\grad}} &#10;\newcommand{\frm}[1]{#1}&#10;\newcommand{\deriv}[2]{\frac{\partial #1}{\partial #2}}&#10;\newcommand{\dgrad}{\dot{\grad}}&#10;\newcommand{\nbar}{\bar{n}}&#10;\newcommand{\ebar}{\bar{e}}&#10;\newcommand{\Trev}{\tilde{T}}&#10;&#10;\definecolor{myGrey}{RGB}{62,62,64}&#10;\color{myGrey}&#10;%\color{white}&#10;&#10;&#10;\begin{document}&#10;\begin{align*}&#10;AB&#10;\end{align*}&#10;\end{document}"/>
  <p:tag name="IGUANATEXSIZE" val="26"/>
  <p:tag name="IGUANATEXCURSOR" val="2100"/>
  <p:tag name="TRANSPARENCY" val="True"/>
  <p:tag name="FILENAME" val=""/>
  <p:tag name="INPUTTYPE" val="0"/>
  <p:tag name="LATEXENGINEID" val="0"/>
  <p:tag name="TEMPFOLDER" val="C:\Users\chrdor01\temp\"/>
</p:tagLst>
</file>

<file path=ppt/theme/theme1.xml><?xml version="1.0" encoding="utf-8"?>
<a:theme xmlns:a="http://schemas.openxmlformats.org/drawingml/2006/main" name="Office Theme">
  <a:themeElements>
    <a:clrScheme name="Geometric Algebra">
      <a:dk1>
        <a:srgbClr val="3E3E40"/>
      </a:dk1>
      <a:lt1>
        <a:sysClr val="window" lastClr="FFFFFF"/>
      </a:lt1>
      <a:dk2>
        <a:srgbClr val="8C8C8C"/>
      </a:dk2>
      <a:lt2>
        <a:srgbClr val="35AFA9"/>
      </a:lt2>
      <a:accent1>
        <a:srgbClr val="007997"/>
      </a:accent1>
      <a:accent2>
        <a:srgbClr val="85E8BA"/>
      </a:accent2>
      <a:accent3>
        <a:srgbClr val="004983"/>
      </a:accent3>
      <a:accent4>
        <a:srgbClr val="F4F4F4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0" rIns="0" bIns="0" rtlCol="0">
        <a:spAutoFit/>
      </a:bodyPr>
      <a:lstStyle>
        <a:defPPr>
          <a:spcAft>
            <a:spcPts val="600"/>
          </a:spcAft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7806</TotalTime>
  <Words>1607</Words>
  <Application>Microsoft Office PowerPoint</Application>
  <PresentationFormat>On-screen Show (16:9)</PresentationFormat>
  <Paragraphs>297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Geometric Algebra</vt:lpstr>
      <vt:lpstr>Implementation</vt:lpstr>
      <vt:lpstr>Large array</vt:lpstr>
      <vt:lpstr>Compact array</vt:lpstr>
      <vt:lpstr>Intrinsic Representation</vt:lpstr>
      <vt:lpstr>Symbolic algebra</vt:lpstr>
      <vt:lpstr>Examples</vt:lpstr>
      <vt:lpstr>Examples</vt:lpstr>
      <vt:lpstr>GA Code</vt:lpstr>
      <vt:lpstr>Why Haskell?</vt:lpstr>
      <vt:lpstr>Why Haskell?</vt:lpstr>
      <vt:lpstr>Why Haskell?</vt:lpstr>
      <vt:lpstr>Bit vector representation of blades</vt:lpstr>
      <vt:lpstr>Linked list</vt:lpstr>
      <vt:lpstr>Conversion functions</vt:lpstr>
      <vt:lpstr>Currying</vt:lpstr>
      <vt:lpstr>Blade product</vt:lpstr>
      <vt:lpstr>Blade Product</vt:lpstr>
      <vt:lpstr>Geometric product</vt:lpstr>
      <vt:lpstr>Abstract Data Type</vt:lpstr>
      <vt:lpstr>Class Membership</vt:lpstr>
      <vt:lpstr>Other resources (GA wikipedia page)</vt:lpstr>
      <vt:lpstr>Resources</vt:lpstr>
    </vt:vector>
  </TitlesOfParts>
  <Company>Arm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 Doran</dc:creator>
  <cp:lastModifiedBy>Chris Doran</cp:lastModifiedBy>
  <cp:revision>417</cp:revision>
  <dcterms:created xsi:type="dcterms:W3CDTF">2015-03-03T13:28:34Z</dcterms:created>
  <dcterms:modified xsi:type="dcterms:W3CDTF">2016-11-03T11:08:32Z</dcterms:modified>
</cp:coreProperties>
</file>